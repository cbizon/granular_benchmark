
<file path=[Content_Types].xml><?xml version="1.0" encoding="utf-8"?>
<Types xmlns="http://schemas.openxmlformats.org/package/2006/content-types">
  <Default Extension="xml" ContentType="application/vnd.openxmlformats-package.core-properties+xml"/>
  <Default Extension="png" ContentType="image/png"/>
  <Default Extension="gif" ContentType="image/gif"/>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a041b6767934c48" /><Relationship Type="http://schemas.openxmlformats.org/officeDocument/2006/relationships/extended-properties" Target="/docProps/app.xml" Id="Rf0bdec9c9c2f4665" /><Relationship Type="http://schemas.openxmlformats.org/officeDocument/2006/relationships/officeDocument" Target="/ppt/presentation.xml" Id="Raaea28dbc43842ef" /></Relationships>
</file>

<file path=ppt/presentation.xml><?xml version="1.0" encoding="utf-8"?>
<p:presentation xmlns:p="http://schemas.openxmlformats.org/presentationml/2006/main">
  <p:sldMasterIdLst>
    <p:sldMasterId xmlns:r="http://schemas.openxmlformats.org/officeDocument/2006/relationships" id="2147483648" r:id="R1fbd149dc0614522"/>
  </p:sldMasterIdLst>
  <p:notesMasterIdLst>
    <p:notesMasterId xmlns:r="http://schemas.openxmlformats.org/officeDocument/2006/relationships" r:id="R1969e2dbe95a4bbb"/>
  </p:notesMasterIdLst>
  <p:sldIdLst>
    <p:sldId xmlns:r="http://schemas.openxmlformats.org/officeDocument/2006/relationships" id="256" r:id="Ra34ba3d6bee24f69"/>
    <p:sldId xmlns:r="http://schemas.openxmlformats.org/officeDocument/2006/relationships" id="257" r:id="R0e4613655ed44026"/>
    <p:sldId xmlns:r="http://schemas.openxmlformats.org/officeDocument/2006/relationships" id="258" r:id="Rbb3b991588b44b65"/>
    <p:sldId xmlns:r="http://schemas.openxmlformats.org/officeDocument/2006/relationships" id="259" r:id="R148d194641724187"/>
    <p:sldId xmlns:r="http://schemas.openxmlformats.org/officeDocument/2006/relationships" id="260" r:id="Ra5b08e3e93b94e4f"/>
    <p:sldId xmlns:r="http://schemas.openxmlformats.org/officeDocument/2006/relationships" id="261" r:id="R17beaba3c12e4e98"/>
    <p:sldId xmlns:r="http://schemas.openxmlformats.org/officeDocument/2006/relationships" id="262" r:id="R8c1f11a52a9f48ea"/>
    <p:sldId xmlns:r="http://schemas.openxmlformats.org/officeDocument/2006/relationships" id="263" r:id="R6525eb5405584890"/>
    <p:sldId xmlns:r="http://schemas.openxmlformats.org/officeDocument/2006/relationships" id="264" r:id="R8d71a254a9aa42bf"/>
    <p:sldId xmlns:r="http://schemas.openxmlformats.org/officeDocument/2006/relationships" id="265" r:id="Rbe242ec5925347b2"/>
    <p:sldId xmlns:r="http://schemas.openxmlformats.org/officeDocument/2006/relationships" id="266" r:id="R1ef5b165116e4d99"/>
    <p:sldId xmlns:r="http://schemas.openxmlformats.org/officeDocument/2006/relationships" id="267" r:id="Rb14d93311ec04a20"/>
    <p:sldId xmlns:r="http://schemas.openxmlformats.org/officeDocument/2006/relationships" id="268" r:id="R15185c97a69944db"/>
    <p:sldId xmlns:r="http://schemas.openxmlformats.org/officeDocument/2006/relationships" id="269" r:id="R23d1c6705bf74d06"/>
    <p:sldId xmlns:r="http://schemas.openxmlformats.org/officeDocument/2006/relationships" id="270" r:id="Rf1207986fac04c7d"/>
    <p:sldId xmlns:r="http://schemas.openxmlformats.org/officeDocument/2006/relationships" id="271" r:id="R69ce000f06764152"/>
    <p:sldId xmlns:r="http://schemas.openxmlformats.org/officeDocument/2006/relationships" id="272" r:id="Rc2c6a353bd4547e9"/>
    <p:sldId xmlns:r="http://schemas.openxmlformats.org/officeDocument/2006/relationships" id="273" r:id="R648b59934e0844ae"/>
    <p:sldId xmlns:r="http://schemas.openxmlformats.org/officeDocument/2006/relationships" id="274" r:id="Rf3c5c0b39d1e430e"/>
    <p:sldId xmlns:r="http://schemas.openxmlformats.org/officeDocument/2006/relationships" id="275" r:id="R8c554242b3d0403e"/>
    <p:sldId xmlns:r="http://schemas.openxmlformats.org/officeDocument/2006/relationships" id="276" r:id="Rcaaf17c5a28442be"/>
    <p:sldId xmlns:r="http://schemas.openxmlformats.org/officeDocument/2006/relationships" id="277" r:id="Rcf387ab9000742f0"/>
    <p:sldId xmlns:r="http://schemas.openxmlformats.org/officeDocument/2006/relationships" id="278" r:id="R9bc712a91b43412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172098bd564c81" /><Relationship Type="http://schemas.openxmlformats.org/officeDocument/2006/relationships/slideMaster" Target="/ppt/slideMasters/slideMaster1.xml" Id="R1fbd149dc0614522" /><Relationship Type="http://schemas.openxmlformats.org/officeDocument/2006/relationships/notesMaster" Target="/ppt/notesMasters/notesMaster1.xml" Id="R1969e2dbe95a4bbb" /><Relationship Type="http://schemas.openxmlformats.org/officeDocument/2006/relationships/presProps" Target="/ppt/presProps.xml" Id="R349f289a05f941e8" /><Relationship Type="http://schemas.openxmlformats.org/officeDocument/2006/relationships/tableStyles" Target="/ppt/tableStyles.xml" Id="Re9e541336aa34836" /><Relationship Type="http://schemas.openxmlformats.org/officeDocument/2006/relationships/slide" Target="/ppt/slides/slide1.xml" Id="Ra34ba3d6bee24f69" /><Relationship Type="http://schemas.openxmlformats.org/officeDocument/2006/relationships/slide" Target="/ppt/slides/slide2.xml" Id="R0e4613655ed44026" /><Relationship Type="http://schemas.openxmlformats.org/officeDocument/2006/relationships/slide" Target="/ppt/slides/slide3.xml" Id="Rbb3b991588b44b65" /><Relationship Type="http://schemas.openxmlformats.org/officeDocument/2006/relationships/slide" Target="/ppt/slides/slide4.xml" Id="R148d194641724187" /><Relationship Type="http://schemas.openxmlformats.org/officeDocument/2006/relationships/slide" Target="/ppt/slides/slide5.xml" Id="Ra5b08e3e93b94e4f" /><Relationship Type="http://schemas.openxmlformats.org/officeDocument/2006/relationships/slide" Target="/ppt/slides/slide6.xml" Id="R17beaba3c12e4e98" /><Relationship Type="http://schemas.openxmlformats.org/officeDocument/2006/relationships/slide" Target="/ppt/slides/slide7.xml" Id="R8c1f11a52a9f48ea" /><Relationship Type="http://schemas.openxmlformats.org/officeDocument/2006/relationships/slide" Target="/ppt/slides/slide8.xml" Id="R6525eb5405584890" /><Relationship Type="http://schemas.openxmlformats.org/officeDocument/2006/relationships/slide" Target="/ppt/slides/slide9.xml" Id="R8d71a254a9aa42bf" /><Relationship Type="http://schemas.openxmlformats.org/officeDocument/2006/relationships/slide" Target="/ppt/slides/slide10.xml" Id="Rbe242ec5925347b2" /><Relationship Type="http://schemas.openxmlformats.org/officeDocument/2006/relationships/slide" Target="/ppt/slides/slide11.xml" Id="R1ef5b165116e4d99" /><Relationship Type="http://schemas.openxmlformats.org/officeDocument/2006/relationships/slide" Target="/ppt/slides/slide12.xml" Id="Rb14d93311ec04a20" /><Relationship Type="http://schemas.openxmlformats.org/officeDocument/2006/relationships/slide" Target="/ppt/slides/slide13.xml" Id="R15185c97a69944db" /><Relationship Type="http://schemas.openxmlformats.org/officeDocument/2006/relationships/slide" Target="/ppt/slides/slide14.xml" Id="R23d1c6705bf74d06" /><Relationship Type="http://schemas.openxmlformats.org/officeDocument/2006/relationships/slide" Target="/ppt/slides/slide15.xml" Id="Rf1207986fac04c7d" /><Relationship Type="http://schemas.openxmlformats.org/officeDocument/2006/relationships/slide" Target="/ppt/slides/slide16.xml" Id="R69ce000f06764152" /><Relationship Type="http://schemas.openxmlformats.org/officeDocument/2006/relationships/slide" Target="/ppt/slides/slide17.xml" Id="Rc2c6a353bd4547e9" /><Relationship Type="http://schemas.openxmlformats.org/officeDocument/2006/relationships/slide" Target="/ppt/slides/slide18.xml" Id="R648b59934e0844ae" /><Relationship Type="http://schemas.openxmlformats.org/officeDocument/2006/relationships/slide" Target="/ppt/slides/slide19.xml" Id="Rf3c5c0b39d1e430e" /><Relationship Type="http://schemas.openxmlformats.org/officeDocument/2006/relationships/slide" Target="/ppt/slides/slide20.xml" Id="R8c554242b3d0403e" /><Relationship Type="http://schemas.openxmlformats.org/officeDocument/2006/relationships/slide" Target="/ppt/slides/slide21.xml" Id="Rcaaf17c5a28442be" /><Relationship Type="http://schemas.openxmlformats.org/officeDocument/2006/relationships/slide" Target="/ppt/slides/slide22.xml" Id="Rcf387ab9000742f0" /><Relationship Type="http://schemas.openxmlformats.org/officeDocument/2006/relationships/slide" Target="/ppt/slides/slide23.xml" Id="R9bc712a91b43412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ef1f88231a8490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53271404db460d" /><Relationship Type="http://schemas.openxmlformats.org/officeDocument/2006/relationships/notesMaster" Target="/ppt/notesMasters/notesMaster1.xml" Id="R16e7fa90da484013"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dfc045df54429a" /><Relationship Type="http://schemas.openxmlformats.org/officeDocument/2006/relationships/notesMaster" Target="/ppt/notesMasters/notesMaster1.xml" Id="R7ec1ed7ebdf841b3" /></Relationships>
</file>

<file path=ppt/notesSlides/_rels/notesSlide3.xml.rels>&#65279;<?xml version="1.0" encoding="utf-8"?><Relationships xmlns="http://schemas.openxmlformats.org/package/2006/relationships"><Relationship Type="http://schemas.openxmlformats.org/officeDocument/2006/relationships/slide" Target="/ppt/slides/slide3.xml" Id="R08d664b0ba784975" /><Relationship Type="http://schemas.openxmlformats.org/officeDocument/2006/relationships/notesMaster" Target="/ppt/notesMasters/notesMaster1.xml" Id="R6adc2e2d48194d3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da6180021a41af" /><Relationship Type="http://schemas.openxmlformats.org/officeDocument/2006/relationships/notesMaster" Target="/ppt/notesMasters/notesMaster1.xml" Id="Redd29b027269472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7178af1c159492a" /><Relationship Type="http://schemas.openxmlformats.org/officeDocument/2006/relationships/notesMaster" Target="/ppt/notesMasters/notesMaster1.xml" Id="R940b6be508f2401e" /></Relationships>
</file>

<file path=ppt/notesSlides/_rels/notesSlide6.xml.rels>&#65279;<?xml version="1.0" encoding="utf-8"?><Relationships xmlns="http://schemas.openxmlformats.org/package/2006/relationships"><Relationship Type="http://schemas.openxmlformats.org/officeDocument/2006/relationships/slide" Target="/ppt/slides/slide6.xml" Id="Rc488bf53a4e348f9" /><Relationship Type="http://schemas.openxmlformats.org/officeDocument/2006/relationships/notesMaster" Target="/ppt/notesMasters/notesMaster1.xml" Id="R0e273ea865c74a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45e6f70929e84f24" /><Relationship Type="http://schemas.openxmlformats.org/officeDocument/2006/relationships/notesMaster" Target="/ppt/notesMasters/notesMaster1.xml" Id="Ra54d5b108ff04431" /></Relationships>
</file>

<file path=ppt/notesSlides/_rels/notesSlide8.xml.rels>&#65279;<?xml version="1.0" encoding="utf-8"?><Relationships xmlns="http://schemas.openxmlformats.org/package/2006/relationships"><Relationship Type="http://schemas.openxmlformats.org/officeDocument/2006/relationships/slide" Target="/ppt/slides/slide8.xml" Id="R66d125dd08a54814" /><Relationship Type="http://schemas.openxmlformats.org/officeDocument/2006/relationships/notesMaster" Target="/ppt/notesMasters/notesMaster1.xml" Id="R522bac8629ac4d3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529240d3fe45bd" /><Relationship Type="http://schemas.openxmlformats.org/officeDocument/2006/relationships/notesMaster" Target="/ppt/notesMasters/notesMaster1.xml" Id="R6533d60acbe8464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fc144cf64df4fe0" /><Relationship Type="http://schemas.openxmlformats.org/officeDocument/2006/relationships/notesMaster" Target="/ppt/notesMasters/notesMaster1.xml" Id="R34ecd6e88b16485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7bc442b1824dbc" /><Relationship Type="http://schemas.openxmlformats.org/officeDocument/2006/relationships/notesMaster" Target="/ppt/notesMasters/notesMaster1.xml" Id="R139e439eaa324d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63aaadd62ba40e7" /><Relationship Type="http://schemas.openxmlformats.org/officeDocument/2006/relationships/notesMaster" Target="/ppt/notesMasters/notesMaster1.xml" Id="Rdb90eebf383e4f7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8517616eb74b13" /><Relationship Type="http://schemas.openxmlformats.org/officeDocument/2006/relationships/notesMaster" Target="/ppt/notesMasters/notesMaster1.xml" Id="R9bc71190daab44e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c9d02e485b94aff" /><Relationship Type="http://schemas.openxmlformats.org/officeDocument/2006/relationships/notesMaster" Target="/ppt/notesMasters/notesMaster1.xml" Id="R9533ac8595f3479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13c099266964496" /><Relationship Type="http://schemas.openxmlformats.org/officeDocument/2006/relationships/notesMaster" Target="/ppt/notesMasters/notesMaster1.xml" Id="Ra98a3c248aa5493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6fc8838e93c4194" /><Relationship Type="http://schemas.openxmlformats.org/officeDocument/2006/relationships/notesMaster" Target="/ppt/notesMasters/notesMaster1.xml" Id="R3eedd418170b4b2a"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41a4b7d4bb8423b" /><Relationship Type="http://schemas.openxmlformats.org/officeDocument/2006/relationships/notesMaster" Target="/ppt/notesMasters/notesMaster1.xml" Id="Rc3e78bfb039044c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5bf7832c6314379" /><Relationship Type="http://schemas.openxmlformats.org/officeDocument/2006/relationships/notesMaster" Target="/ppt/notesMasters/notesMaster1.xml" Id="R2cfe6e997c1942ec"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542ad39a1d664256" /><Relationship Type="http://schemas.openxmlformats.org/officeDocument/2006/relationships/notesMaster" Target="/ppt/notesMasters/notesMaster1.xml" Id="Re41eb483fe0f480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f2a2afe47d4282" /><Relationship Type="http://schemas.openxmlformats.org/officeDocument/2006/relationships/notesMaster" Target="/ppt/notesMasters/notesMaster1.xml" Id="R21bcd4f3422445e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60d42f78d14b1b" /><Relationship Type="http://schemas.openxmlformats.org/officeDocument/2006/relationships/notesMaster" Target="/ppt/notesMasters/notesMaster1.xml" Id="R273f658115a04d33"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9602b66307244ef" /><Relationship Type="http://schemas.openxmlformats.org/officeDocument/2006/relationships/notesMaster" Target="/ppt/notesMasters/notesMaster1.xml" Id="Re233f43ed55b4a9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6b0c19f63a1439c" /><Relationship Type="http://schemas.openxmlformats.org/officeDocument/2006/relationships/notesMaster" Target="/ppt/notesMasters/notesMaster1.xml" Id="R89a4c9be60804c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central question. This is not primarily a benchmark of whether a model can make a plausible picture. It is a benchmark of whether an agent can independently reconstruct the physical simulation that produced those pictures.</a:t>
            </a:r>
          </a:p>
          <a:p xmlns:a="http://schemas.openxmlformats.org/drawingml/2006/main">
            <a:r>
              <a:t/>
            </a:r>
          </a:p>
          <a:p xmlns:a="http://schemas.openxmlformats.org/drawingml/2006/main">
            <a:r>
              <a:t>[Sources]</a:t>
            </a:r>
          </a:p>
          <a:p xmlns:a="http://schemas.openxmlformats.org/drawingml/2006/main">
            <a:r>
              <a:t>- Local benchmark reference rendering: artifacts/reference/generated and harness/scripts/render_reference_snapshots.py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personal starting point: the original goal was simply to see how Fable behaved on a scientific problem. When biology was off the table, the question became what other experiment would still expose real scientific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failure to start with biology was useful. It pushed the experiment toward a domain where a visually impressive answer could be separated from a physically and algorithmically correct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challenge is anchored to a compact paper with a memorable Figure 1 and a very specific computational method. The images are accessible, but reproducing them honestly requires understanding the collision model and event scheduler.</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setup is deliberately simple: hard spheres in a square container under gravity, with a vertically oscillating bottom and fixed sidewalls. Complexity emerges from repeated dissipative collisions.</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artifacts/reference/generated/manifest.json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coefficient of restitution e is the ratio of separation speed to approach speed along the collision normal. With e below one, every impact dissipates energy. That dissipation is what makes granular matter qualitatively different from an ideal gas of billiard balls.</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challenge/sources/walton-1993-chapter-25.pdf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gives a compact visual target: squares, stripes, alternating hexagons, and a flat state across f/2 and f/4 responses. The benchmark uses all seven simulation cases behind these eight image panels.</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output/presentations/granular-benchmark-story/assets/figure1-manifest.json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animation is generated directly from the benchmark's stored trajectories from the updated C code. Every panel is sampled at the same forcing phase. In presentation mode the GIF should animate; the included sidecar GIF can also be used independently.</a:t>
            </a:r>
          </a:p>
          <a:p xmlns:a="http://schemas.openxmlformats.org/drawingml/2006/main">
            <a:r>
              <a:t/>
            </a:r>
          </a:p>
          <a:p xmlns:a="http://schemas.openxmlformats.org/drawingml/2006/main">
            <a:r>
              <a:t>[Sources]</a:t>
            </a:r>
          </a:p>
          <a:p xmlns:a="http://schemas.openxmlformats.org/drawingml/2006/main">
            <a:r>
              <a:t>- artifacts/reference/generated/*/trajectory.npz</a:t>
            </a:r>
          </a:p>
          <a:p xmlns:a="http://schemas.openxmlformats.org/drawingml/2006/main">
            <a:r>
              <a:t>- harness/balls_bench/metrics.py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Hard-sphere impacts are modeled as instantaneous, while particles spend most of their time in analytically predictable free flight. An event-driven algorithm exploits that separation by jumping to the next collision rather than resolving empty time.</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challenge/sources/lubachevsky-1991-billiards.pdf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core loop is a priority queue of predicted events. A correct implementation must preserve event ordering, invalidate stale predictions, handle the moving plate, and update translational and rotational velocities according to the collision model.</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challenge/sources/rapaport-1980-event-scheduling.html</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Delayed states avoid globally advancing every particle after every event. Virtual cells avoid all-pairs collision searches. These are not optional implementation decorations; they are central tests of whether an event-driven solution is genuinely scalable.</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challenge/sources/lubachevsky-1991-billiards.pdf</a:t>
            </a:r>
          </a:p>
          <a:p xmlns:a="http://schemas.openxmlformats.org/drawingml/2006/main">
            <a:r>
              <a:t>- harness/qualitative/RUBRIC.md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inelastic collapse: a cluster undergoes an infinite sequence of ever-faster dissipative collisions before the simulation clock can advance beyond a finite time. A naive event queue can effectively freeze in this state.</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challenge/sources/marin-risso-cordero-1993.pdf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paper uses a velocity-dependent coefficient of restitution that approaches one as the normal collision speed approaches zero. The exact low-speed approach is less important than eliminating the geometric dissipation that produces collapse.</a:t>
            </a:r>
          </a:p>
          <a:p xmlns:a="http://schemas.openxmlformats.org/drawingml/2006/main">
            <a:r>
              <a:t/>
            </a:r>
          </a:p>
          <a:p xmlns:a="http://schemas.openxmlformats.org/drawingml/2006/main">
            <a:r>
              <a:t>[Sources]</a:t>
            </a:r>
          </a:p>
          <a:p xmlns:a="http://schemas.openxmlformats.org/drawingml/2006/main">
            <a:r>
              <a:t>- challenge/sources/bizon1998a.pdf</a:t>
            </a:r>
          </a:p>
          <a:p xmlns:a="http://schemas.openxmlformats.org/drawingml/2006/main">
            <a:r>
              <a:t>- challenge/sources/marin-risso-cordero-1993.pdf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impulse was to try Fable. But without other models and effort levels under the same conditions, there would be no basis for calling the result good, bad, or improved.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campaign also tests a live concern in agent evaluation: the highest effort setting may improve careful implementation, but it may also encourage a model to overthink, improvise, or persist with a sophisticated wrong abstraction.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campaign spans multiple model families and effort levels. The point is not that this is a definitive ranking, but that each result is generated under one explicit and reviewable contract.</a:t>
            </a:r>
          </a:p>
          <a:p xmlns:a="http://schemas.openxmlformats.org/drawingml/2006/main">
            <a:r>
              <a:t/>
            </a:r>
          </a:p>
          <a:p xmlns:a="http://schemas.openxmlformats.org/drawingml/2006/main">
            <a:r>
              <a:t>[Sources]</a:t>
            </a:r>
          </a:p>
          <a:p xmlns:a="http://schemas.openxmlformats.org/drawingml/2006/main">
            <a:r>
              <a:t>- campaigns/model-sweep.json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run must be independent. The agent container receives only the challenge inputs. It does not receive earlier submissions, model transcripts, local user configuration, or benchmark memory that could contaminate comparisons.</a:t>
            </a:r>
          </a:p>
          <a:p xmlns:a="http://schemas.openxmlformats.org/drawingml/2006/main">
            <a:r>
              <a:t/>
            </a:r>
          </a:p>
          <a:p xmlns:a="http://schemas.openxmlformats.org/drawingml/2006/main">
            <a:r>
              <a:t>[Sources]</a:t>
            </a:r>
          </a:p>
          <a:p xmlns:a="http://schemas.openxmlformats.org/drawingml/2006/main">
            <a:r>
              <a:t>- challenge/prompt.md</a:t>
            </a:r>
          </a:p>
          <a:p xmlns:a="http://schemas.openxmlformats.org/drawingml/2006/main">
            <a:r>
              <a:t>- harness/kubernetes/sterling/README.md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constraint comes from an actual failure mode. In a prior interactive attempt, the agent found an old implementation and used it without foregrounding that choice. That may reproduce the figure, but it does not test reconstruction from the paper.</a:t>
            </a:r>
          </a:p>
          <a:p xmlns:a="http://schemas.openxmlformats.org/drawingml/2006/main">
            <a:r>
              <a:t/>
            </a:r>
          </a:p>
          <a:p xmlns:a="http://schemas.openxmlformats.org/drawingml/2006/main">
            <a:r>
              <a:t>[Sources]</a:t>
            </a:r>
          </a:p>
          <a:p xmlns:a="http://schemas.openxmlformats.org/drawingml/2006/main">
            <a:r>
              <a:t>- challenge/prompt.md</a:t>
            </a:r>
          </a:p>
          <a:p xmlns:a="http://schemas.openxmlformats.org/drawingml/2006/main">
            <a:r>
              <a:t>- User-reported observation from an earlier interactive run</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orchestration layer launches durable Kubernetes Jobs with a persistent volume. The agent runs first in an isolated init container. Only after it exits does the trusted evaluator mount the reference artifacts and produce comparisons.</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harness/kubernetes/sterling/README.md</a:t>
            </a:r>
          </a:p>
          <a:p xmlns:a="http://schemas.openxmlformats.org/drawingml/2006/main">
            <a:r>
              <a:t>- harness/balls_bench/kubernetes.py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executing agent's job is to produce code and simulation outputs. The harness, not the agent, decides how those outputs compare with the reference. The resulting report preserves deterministic evidence and a separate qualitative review.</a:t>
            </a:r>
          </a:p>
          <a:p xmlns:a="http://schemas.openxmlformats.org/drawingml/2006/main">
            <a:r>
              <a:t/>
            </a:r>
          </a:p>
          <a:p xmlns:a="http://schemas.openxmlformats.org/drawingml/2006/main">
            <a:r>
              <a:t>[Sources]</a:t>
            </a:r>
          </a:p>
          <a:p xmlns:a="http://schemas.openxmlformats.org/drawingml/2006/main">
            <a:r>
              <a:t>- README.md</a:t>
            </a:r>
          </a:p>
          <a:p xmlns:a="http://schemas.openxmlformats.org/drawingml/2006/main">
            <a:r>
              <a:t>- challenge/prompt.md</a:t>
            </a:r>
          </a:p>
          <a:p xmlns:a="http://schemas.openxmlformats.org/drawingml/2006/main">
            <a:r>
              <a:t>- harness/balls_bench/evaluator.py</a:t>
            </a:r>
          </a:p>
          <a:p xmlns:a="http://schemas.openxmlformats.org/drawingml/2006/main">
            <a:r>
              <a:t>- harness/balls_bench/viewer.py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quantitative layer compares patterns, phase behavior, bulk dynamics, velocities and spins, collision rates, and physically meaningful overlaps. It also renders the images and time-series comparisons that make unexpected behavior inspectable.</a:t>
            </a:r>
          </a:p>
          <a:p xmlns:a="http://schemas.openxmlformats.org/drawingml/2006/main">
            <a:r>
              <a:t/>
            </a:r>
          </a:p>
          <a:p xmlns:a="http://schemas.openxmlformats.org/drawingml/2006/main">
            <a:r>
              <a:t>[Sources]</a:t>
            </a:r>
          </a:p>
          <a:p xmlns:a="http://schemas.openxmlformats.org/drawingml/2006/main">
            <a:r>
              <a:t>- harness/METRICS.md</a:t>
            </a:r>
          </a:p>
          <a:p xmlns:a="http://schemas.openxmlformats.org/drawingml/2006/main">
            <a:r>
              <a:t>- harness/balls_bench/metrics.py</a:t>
            </a:r>
          </a:p>
          <a:p xmlns:a="http://schemas.openxmlformats.org/drawingml/2006/main">
            <a:r>
              <a:t>- harness/balls_bench/evaluator.py</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Classification comes first because later questions depend on the model type. An image-fitting wave model should not receive credit for event queue correctness, and an event-driven implementation must be examined for delayed states, virtual cells, collision sequencing, and collapse regularization.</a:t>
            </a:r>
          </a:p>
          <a:p xmlns:a="http://schemas.openxmlformats.org/drawingml/2006/main">
            <a:r>
              <a:t/>
            </a:r>
          </a:p>
          <a:p xmlns:a="http://schemas.openxmlformats.org/drawingml/2006/main">
            <a:r>
              <a:t>[Sources]</a:t>
            </a:r>
          </a:p>
          <a:p xmlns:a="http://schemas.openxmlformats.org/drawingml/2006/main">
            <a:r>
              <a:t>- harness/qualitative/RUBRIC.md</a:t>
            </a:r>
          </a:p>
          <a:p xmlns:a="http://schemas.openxmlformats.org/drawingml/2006/main">
            <a:r>
              <a:t>- harness/qualitative/README.md</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benchmark's core distinction. A model may make plausible patterns with the wrong algorithm, or implement the correct algorithm but fail to reach the target state. Both are scientifically meaningful outcomes, and the harness is designed to preserve the evidence needed to tell them apart.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5f592ea38e94f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e6b1c2dd54c45ea" /><Relationship Type="http://schemas.openxmlformats.org/officeDocument/2006/relationships/slideLayout" Target="/ppt/slideLayouts/slideLayout1.xml" Id="R687f7b77adcb44d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7f7b77adcb44d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e1d386a20fa45eb" /><Relationship Type="http://schemas.openxmlformats.org/officeDocument/2006/relationships/image" Target="/ppt/media/image.png" Id="R913b0bb4f10c49c8" /><Relationship Type="http://schemas.openxmlformats.org/officeDocument/2006/relationships/notesSlide" Target="/ppt/notesSlides/notesSlide1.xml" Id="Rbfd5654114cb4b7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15af10145d4ccf" /><Relationship Type="http://schemas.openxmlformats.org/officeDocument/2006/relationships/notesSlide" Target="/ppt/notesSlides/notesSlide2.xml" Id="Rd1807adcce544e6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3a0f7f64f4c4258" /><Relationship Type="http://schemas.openxmlformats.org/officeDocument/2006/relationships/notesSlide" Target="/ppt/notesSlides/notesSlide3.xml" Id="R013eedd303434d7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d9f58ddfe714f0c" /><Relationship Type="http://schemas.openxmlformats.org/officeDocument/2006/relationships/image" Target="/ppt/media/image2.png" Id="R2473a2db86f541b6" /><Relationship Type="http://schemas.openxmlformats.org/officeDocument/2006/relationships/notesSlide" Target="/ppt/notesSlides/notesSlide4.xml" Id="Rc9ae310eca044c2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2debd64602941f2" /><Relationship Type="http://schemas.openxmlformats.org/officeDocument/2006/relationships/notesSlide" Target="/ppt/notesSlides/notesSlide5.xml" Id="R418cf1404ca44ce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a2d30e5f8144afd" /><Relationship Type="http://schemas.openxmlformats.org/officeDocument/2006/relationships/notesSlide" Target="/ppt/notesSlides/notesSlide6.xml" Id="R7a7364c8ffc345b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3336f3e15184105" /><Relationship Type="http://schemas.openxmlformats.org/officeDocument/2006/relationships/image" Target="/ppt/media/image3.png" Id="R1d8edf531a7b4d93" /><Relationship Type="http://schemas.openxmlformats.org/officeDocument/2006/relationships/image" Target="/ppt/media/image4.png" Id="Rc72d1c7c41964c76" /><Relationship Type="http://schemas.openxmlformats.org/officeDocument/2006/relationships/image" Target="/ppt/media/image5.png" Id="Rd5f3f1036fe84062" /><Relationship Type="http://schemas.openxmlformats.org/officeDocument/2006/relationships/image" Target="/ppt/media/image6.png" Id="R7f20ba7bc64d44a8" /><Relationship Type="http://schemas.openxmlformats.org/officeDocument/2006/relationships/image" Target="/ppt/media/image7.png" Id="Ra2fc1f30aa8342ca" /><Relationship Type="http://schemas.openxmlformats.org/officeDocument/2006/relationships/image" Target="/ppt/media/image8.png" Id="R62cec1d1fb944a16" /><Relationship Type="http://schemas.openxmlformats.org/officeDocument/2006/relationships/image" Target="/ppt/media/image9.png" Id="R3ad23516d8cc4c79" /><Relationship Type="http://schemas.openxmlformats.org/officeDocument/2006/relationships/image" Target="/ppt/media/image10.png" Id="R72dd285586b842d7" /><Relationship Type="http://schemas.openxmlformats.org/officeDocument/2006/relationships/notesSlide" Target="/ppt/notesSlides/notesSlide7.xml" Id="R7a999cf8b85d4e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4cfe72bd0d6437c" /><Relationship Type="http://schemas.openxmlformats.org/officeDocument/2006/relationships/image" Target="/ppt/media/image.gif" Id="R958f3d89d34c4eb0" /><Relationship Type="http://schemas.openxmlformats.org/officeDocument/2006/relationships/notesSlide" Target="/ppt/notesSlides/notesSlide8.xml" Id="R6834935fe1f440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4e0c56feb545d2" /><Relationship Type="http://schemas.openxmlformats.org/officeDocument/2006/relationships/notesSlide" Target="/ppt/notesSlides/notesSlide9.xml" Id="R1595428c17284f8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568d99e788749a2" /><Relationship Type="http://schemas.openxmlformats.org/officeDocument/2006/relationships/notesSlide" Target="/ppt/notesSlides/notesSlide10.xml" Id="R547da964acc5400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8608d7c016d45dc" /><Relationship Type="http://schemas.openxmlformats.org/officeDocument/2006/relationships/notesSlide" Target="/ppt/notesSlides/notesSlide11.xml" Id="R4837d7ef3f25466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3cd68148399472c" /><Relationship Type="http://schemas.openxmlformats.org/officeDocument/2006/relationships/notesSlide" Target="/ppt/notesSlides/notesSlide12.xml" Id="R0681f0a0113042f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da607cf11c49fd" /><Relationship Type="http://schemas.openxmlformats.org/officeDocument/2006/relationships/notesSlide" Target="/ppt/notesSlides/notesSlide13.xml" Id="R2cad40652ec34b7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56b39dc68af4ac2" /><Relationship Type="http://schemas.openxmlformats.org/officeDocument/2006/relationships/notesSlide" Target="/ppt/notesSlides/notesSlide14.xml" Id="R81ae79b32fb2410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a92248024ec45f9" /><Relationship Type="http://schemas.openxmlformats.org/officeDocument/2006/relationships/notesSlide" Target="/ppt/notesSlides/notesSlide15.xml" Id="R4e7cc1233494401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648c8d4f3f4d72" /><Relationship Type="http://schemas.openxmlformats.org/officeDocument/2006/relationships/notesSlide" Target="/ppt/notesSlides/notesSlide16.xml" Id="R78cf1370dba8406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3319da438c840a8" /><Relationship Type="http://schemas.openxmlformats.org/officeDocument/2006/relationships/notesSlide" Target="/ppt/notesSlides/notesSlide17.xml" Id="Rd57e716ea1514be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14aeab09a6945df" /><Relationship Type="http://schemas.openxmlformats.org/officeDocument/2006/relationships/notesSlide" Target="/ppt/notesSlides/notesSlide18.xml" Id="R865f813527f2458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c9ab068d1d4c81" /><Relationship Type="http://schemas.openxmlformats.org/officeDocument/2006/relationships/notesSlide" Target="/ppt/notesSlides/notesSlide19.xml" Id="R52520bb1658f40c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8809978fa7af48e3" /><Relationship Type="http://schemas.openxmlformats.org/officeDocument/2006/relationships/notesSlide" Target="/ppt/notesSlides/notesSlide20.xml" Id="R805583b48c0244b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837b974af32f4204" /><Relationship Type="http://schemas.openxmlformats.org/officeDocument/2006/relationships/notesSlide" Target="/ppt/notesSlides/notesSlide21.xml" Id="R313c0ddfd1514f3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cea9d9745e43464a" /><Relationship Type="http://schemas.openxmlformats.org/officeDocument/2006/relationships/notesSlide" Target="/ppt/notesSlides/notesSlide22.xml" Id="Rc9cafe53d5d9433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b213b5760574d91" /><Relationship Type="http://schemas.openxmlformats.org/officeDocument/2006/relationships/notesSlide" Target="/ppt/notesSlides/notesSlide23.xml" Id="Ra5e568e9a6af4b77" /></Relationships>
</file>

<file path=ppt/slides/slide1.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77102A6-7265-42A0-8818-2F1042764E01}"/>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8AB4C6C-32AD-4B6D-8462-59D51C85625A}"/>
              </a:ext>
            </a:extLst>
          </p:cNvPr>
          <p:cNvSpPr>
            <a:spLocks xmlns:a="http://schemas.openxmlformats.org/drawingml/2006/main" noGrp="1"/>
          </p:cNvSpPr>
          <p:nvPr/>
        </p:nvSpPr>
        <p:spPr>
          <a:xfrm xmlns:a="http://schemas.openxmlformats.org/drawingml/2006/main">
            <a:off x="495300" y="438150"/>
            <a:ext cx="1162050" cy="323850"/>
          </a:xfrm>
          <a:prstGeom xmlns:a="http://schemas.openxmlformats.org/drawingml/2006/main" prst="roundRect">
            <a:avLst>
              <a:gd name="adj" fmla="val 23529"/>
            </a:avLst>
          </a:prstGeom>
          <a:solidFill xmlns:a="http://schemas.openxmlformats.org/drawingml/2006/main">
            <a:srgbClr val="12364A"/>
          </a:solidFill>
          <a:ln xmlns:a="http://schemas.openxmlformats.org/drawingml/2006/main" w="9525">
            <a:solidFill>
              <a:srgbClr val="12364A"/>
            </a:solidFill>
            <a:prstDash val="solid"/>
          </a:ln>
        </p:spPr>
      </p:sp>
      <p:sp>
        <p:nvSpPr>
          <p:cNvPr id="3" name="">
            <a:extLst xmlns:a="http://schemas.openxmlformats.org/drawingml/2006/main">
              <a:ext uri="{FF2B5EF4-FFF2-40B4-BE49-F238E27FC236}">
                <a16:creationId xmlns:a16="http://schemas.microsoft.com/office/drawing/2014/main" id="{525B3B52-F2B8-4A34-AFA3-84115450877D}"/>
              </a:ext>
            </a:extLst>
          </p:cNvPr>
          <p:cNvSpPr>
            <a:spLocks xmlns:a="http://schemas.openxmlformats.org/drawingml/2006/main" noGrp="1"/>
          </p:cNvSpPr>
          <p:nvPr/>
        </p:nvSpPr>
        <p:spPr>
          <a:xfrm xmlns:a="http://schemas.openxmlformats.org/drawingml/2006/main">
            <a:off x="609600" y="504825"/>
            <a:ext cx="9334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AI × PHYSICS</a:t>
            </a:r>
          </a:p>
        </p:txBody>
      </p:sp>
      <p:sp>
        <p:nvSpPr>
          <p:cNvPr id="4" name="">
            <a:extLst xmlns:a="http://schemas.openxmlformats.org/drawingml/2006/main">
              <a:ext uri="{FF2B5EF4-FFF2-40B4-BE49-F238E27FC236}">
                <a16:creationId xmlns:a16="http://schemas.microsoft.com/office/drawing/2014/main" id="{F6C1233A-70D4-48E6-92B9-A2E9DF90DF58}"/>
              </a:ext>
            </a:extLst>
          </p:cNvPr>
          <p:cNvSpPr>
            <a:spLocks xmlns:a="http://schemas.openxmlformats.org/drawingml/2006/main" noGrp="1"/>
          </p:cNvSpPr>
          <p:nvPr/>
        </p:nvSpPr>
        <p:spPr>
          <a:xfrm xmlns:a="http://schemas.openxmlformats.org/drawingml/2006/main">
            <a:off x="495300" y="1257300"/>
            <a:ext cx="51435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457"/>
          </a:bodyPr>
          <a:lstStyle xmlns:a="http://schemas.openxmlformats.org/drawingml/2006/main"/>
          <a:p xmlns:a="http://schemas.openxmlformats.org/drawingml/2006/main">
            <a:pPr algn="l">
              <a:lnSpc>
                <a:spcPct val="92000"/>
              </a:lnSpc>
              <a:buNone/>
              <a:defRPr sz="4800" b="1" i="0">
                <a:solidFill>
                  <a:srgbClr val="111111"/>
                </a:solidFill>
                <a:latin typeface="Helvetica Neue"/>
                <a:ea typeface="Helvetica Neue"/>
                <a:cs typeface="Helvetica Neue"/>
              </a:defRPr>
            </a:pPr>
            <a:r>
              <a:rPr sz="4800" b="1" i="0">
                <a:solidFill>
                  <a:srgbClr val="111111"/>
                </a:solidFill>
                <a:latin typeface="Helvetica Neue"/>
                <a:ea typeface="Helvetica Neue"/>
                <a:cs typeface="Helvetica Neue"/>
              </a:rPr>
              <a:t>Can an AI agent</a:t>
            </a:r>
          </a:p>
          <a:p xmlns:a="http://schemas.openxmlformats.org/drawingml/2006/main">
            <a:pPr algn="l">
              <a:lnSpc>
                <a:spcPct val="92000"/>
              </a:lnSpc>
              <a:buNone/>
              <a:defRPr sz="4800" b="1" i="0">
                <a:solidFill>
                  <a:srgbClr val="111111"/>
                </a:solidFill>
                <a:latin typeface="Helvetica Neue"/>
                <a:ea typeface="Helvetica Neue"/>
                <a:cs typeface="Helvetica Neue"/>
              </a:defRPr>
            </a:pPr>
            <a:r>
              <a:rPr sz="4800" b="1" i="0">
                <a:solidFill>
                  <a:srgbClr val="111111"/>
                </a:solidFill>
                <a:latin typeface="Helvetica Neue"/>
                <a:ea typeface="Helvetica Neue"/>
                <a:cs typeface="Helvetica Neue"/>
              </a:rPr>
              <a:t>rediscover a granular</a:t>
            </a:r>
          </a:p>
          <a:p xmlns:a="http://schemas.openxmlformats.org/drawingml/2006/main">
            <a:pPr algn="l">
              <a:lnSpc>
                <a:spcPct val="92000"/>
              </a:lnSpc>
              <a:buNone/>
              <a:defRPr sz="4800" b="1" i="0">
                <a:solidFill>
                  <a:srgbClr val="111111"/>
                </a:solidFill>
                <a:latin typeface="Helvetica Neue"/>
                <a:ea typeface="Helvetica Neue"/>
                <a:cs typeface="Helvetica Neue"/>
              </a:defRPr>
            </a:pPr>
            <a:r>
              <a:rPr sz="4800" b="1" i="0">
                <a:solidFill>
                  <a:srgbClr val="111111"/>
                </a:solidFill>
                <a:latin typeface="Helvetica Neue"/>
                <a:ea typeface="Helvetica Neue"/>
                <a:cs typeface="Helvetica Neue"/>
              </a:rPr>
              <a:t>simulation?</a:t>
            </a:r>
          </a:p>
        </p:txBody>
      </p:sp>
      <p:sp>
        <p:nvSpPr>
          <p:cNvPr id="5" name="">
            <a:extLst xmlns:a="http://schemas.openxmlformats.org/drawingml/2006/main">
              <a:ext uri="{FF2B5EF4-FFF2-40B4-BE49-F238E27FC236}">
                <a16:creationId xmlns:a16="http://schemas.microsoft.com/office/drawing/2014/main" id="{963E88DC-3BD9-46CD-9E0F-CD062676DA1E}"/>
              </a:ext>
            </a:extLst>
          </p:cNvPr>
          <p:cNvSpPr>
            <a:spLocks xmlns:a="http://schemas.openxmlformats.org/drawingml/2006/main" noGrp="1"/>
          </p:cNvSpPr>
          <p:nvPr/>
        </p:nvSpPr>
        <p:spPr>
          <a:xfrm xmlns:a="http://schemas.openxmlformats.org/drawingml/2006/main">
            <a:off x="523875" y="4000500"/>
            <a:ext cx="46672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950" b="0" i="0">
                <a:solidFill>
                  <a:srgbClr val="52616B"/>
                </a:solidFill>
                <a:latin typeface="Helvetica Neue"/>
                <a:ea typeface="Helvetica Neue"/>
                <a:cs typeface="Helvetica Neue"/>
              </a:defRPr>
            </a:pPr>
            <a:r>
              <a:rPr sz="1950" b="0" i="0">
                <a:solidFill>
                  <a:srgbClr val="52616B"/>
                </a:solidFill>
                <a:latin typeface="Helvetica Neue"/>
                <a:ea typeface="Helvetica Neue"/>
                <a:cs typeface="Helvetica Neue"/>
              </a:rPr>
              <a:t>A controlled benchmark for algorithmic reconstruction, not image imitation.</a:t>
            </a:r>
          </a:p>
        </p:txBody>
      </p:sp>
      <p:sp>
        <p:nvSpPr>
          <p:cNvPr id="6" name="">
            <a:extLst xmlns:a="http://schemas.openxmlformats.org/drawingml/2006/main">
              <a:ext uri="{FF2B5EF4-FFF2-40B4-BE49-F238E27FC236}">
                <a16:creationId xmlns:a16="http://schemas.microsoft.com/office/drawing/2014/main" id="{66AE185A-92D6-4271-984E-1CA46A8E0FBE}"/>
              </a:ext>
            </a:extLst>
          </p:cNvPr>
          <p:cNvSpPr>
            <a:spLocks xmlns:a="http://schemas.openxmlformats.org/drawingml/2006/main" noGrp="1"/>
          </p:cNvSpPr>
          <p:nvPr/>
        </p:nvSpPr>
        <p:spPr>
          <a:xfrm xmlns:a="http://schemas.openxmlformats.org/drawingml/2006/main">
            <a:off x="5981700" y="400050"/>
            <a:ext cx="5810250" cy="5810250"/>
          </a:xfrm>
          <a:prstGeom xmlns:a="http://schemas.openxmlformats.org/drawingml/2006/main" prst="roundRect">
            <a:avLst>
              <a:gd name="adj" fmla="val 1311"/>
            </a:avLst>
          </a:prstGeom>
          <a:solidFill xmlns:a="http://schemas.openxmlformats.org/drawingml/2006/main">
            <a:srgbClr val="EAF5FB"/>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13b0bb4f10c49c8"/>
          <a:stretch xmlns:a="http://schemas.openxmlformats.org/drawingml/2006/main"/>
        </p:blipFill>
        <p:spPr>
          <a:xfrm xmlns:a="http://schemas.openxmlformats.org/drawingml/2006/main">
            <a:off x="6153150" y="1778873"/>
            <a:ext cx="5467350" cy="3052604"/>
          </a:xfrm>
          <a:prstGeom xmlns:a="http://schemas.openxmlformats.org/drawingml/2006/main" prst="roundRect">
            <a:avLst/>
          </a:prstGeom>
        </p:spPr>
      </p:pic>
      <p:sp>
        <p:nvSpPr>
          <p:cNvPr id="8" name="">
            <a:extLst xmlns:a="http://schemas.openxmlformats.org/drawingml/2006/main">
              <a:ext uri="{FF2B5EF4-FFF2-40B4-BE49-F238E27FC236}">
                <a16:creationId xmlns:a16="http://schemas.microsoft.com/office/drawing/2014/main" id="{CEB55D19-F9D6-4919-964E-8F241F4CB595}"/>
              </a:ext>
            </a:extLst>
          </p:cNvPr>
          <p:cNvSpPr>
            <a:spLocks xmlns:a="http://schemas.openxmlformats.org/drawingml/2006/main" noGrp="1"/>
          </p:cNvSpPr>
          <p:nvPr/>
        </p:nvSpPr>
        <p:spPr>
          <a:xfrm xmlns:a="http://schemas.openxmlformats.org/drawingml/2006/main">
            <a:off x="523875" y="6115050"/>
            <a:ext cx="4191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00" b="0" i="0">
                <a:solidFill>
                  <a:srgbClr val="52616B"/>
                </a:solidFill>
                <a:latin typeface="Helvetica Neue"/>
                <a:ea typeface="Helvetica Neue"/>
                <a:cs typeface="Helvetica Neue"/>
              </a:defRPr>
            </a:pPr>
            <a:r>
              <a:rPr sz="1200" b="0" i="0">
                <a:solidFill>
                  <a:srgbClr val="52616B"/>
                </a:solidFill>
                <a:latin typeface="Helvetica Neue"/>
                <a:ea typeface="Helvetica Neue"/>
                <a:cs typeface="Helvetica Neue"/>
              </a:rPr>
              <a:t>Chris Bizon · first draft</a:t>
            </a:r>
          </a:p>
        </p:txBody>
      </p:sp>
    </p:spTree>
    <p:extLst>
      <p:ext uri="{BB962C8B-B14F-4D97-AF65-F5344CB8AC3E}">
        <p14:creationId xmlns:p14="http://schemas.microsoft.com/office/powerpoint/2010/main" val="1580076118"/>
      </p:ext>
    </p:extLst>
  </p:cSld>
</p:sld>
</file>

<file path=ppt/slides/slide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5A68AA5-1F0A-4682-8FDD-E6571DBDD4A0}"/>
              </a:ext>
            </a:extLst>
          </p:cNvPr>
          <p:cNvSpPr>
            <a:spLocks xmlns:a="http://schemas.openxmlformats.org/drawingml/2006/main" noGrp="1"/>
          </p:cNvSpPr>
          <p:nvPr/>
        </p:nvSpPr>
        <p:spPr>
          <a:xfrm xmlns:a="http://schemas.openxmlformats.org/drawingml/2006/main">
            <a:off x="685800" y="914400"/>
            <a:ext cx="7239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4000"/>
              </a:lnSpc>
              <a:buNone/>
              <a:defRPr sz="5100" b="1" i="0">
                <a:solidFill>
                  <a:srgbClr val="FFFFFF"/>
                </a:solidFill>
                <a:latin typeface="Helvetica Neue"/>
                <a:ea typeface="Helvetica Neue"/>
                <a:cs typeface="Helvetica Neue"/>
              </a:defRPr>
            </a:pPr>
            <a:r>
              <a:rPr sz="5100" b="1" i="0">
                <a:solidFill>
                  <a:srgbClr val="FFFFFF"/>
                </a:solidFill>
                <a:latin typeface="Helvetica Neue"/>
                <a:ea typeface="Helvetica Neue"/>
                <a:cs typeface="Helvetica Neue"/>
              </a:rPr>
              <a:t>I wanted to try Fable</a:t>
            </a:r>
          </a:p>
          <a:p xmlns:a="http://schemas.openxmlformats.org/drawingml/2006/main">
            <a:pPr algn="l">
              <a:lnSpc>
                <a:spcPct val="94000"/>
              </a:lnSpc>
              <a:buNone/>
              <a:defRPr sz="5100" b="1" i="0">
                <a:solidFill>
                  <a:srgbClr val="FFFFFF"/>
                </a:solidFill>
                <a:latin typeface="Helvetica Neue"/>
                <a:ea typeface="Helvetica Neue"/>
                <a:cs typeface="Helvetica Neue"/>
              </a:defRPr>
            </a:pPr>
            <a:r>
              <a:rPr sz="5100" b="1" i="0">
                <a:solidFill>
                  <a:srgbClr val="FFFFFF"/>
                </a:solidFill>
                <a:latin typeface="Helvetica Neue"/>
                <a:ea typeface="Helvetica Neue"/>
                <a:cs typeface="Helvetica Neue"/>
              </a:rPr>
              <a:t>on a biology problem.</a:t>
            </a:r>
          </a:p>
        </p:txBody>
      </p:sp>
      <p:sp>
        <p:nvSpPr>
          <p:cNvPr id="2" name="">
            <a:extLst xmlns:a="http://schemas.openxmlformats.org/drawingml/2006/main">
              <a:ext uri="{FF2B5EF4-FFF2-40B4-BE49-F238E27FC236}">
                <a16:creationId xmlns:a16="http://schemas.microsoft.com/office/drawing/2014/main" id="{0C25627A-A486-4125-B3A2-1E537E7EB81D}"/>
              </a:ext>
            </a:extLst>
          </p:cNvPr>
          <p:cNvSpPr>
            <a:spLocks xmlns:a="http://schemas.openxmlformats.org/drawingml/2006/main" noGrp="1"/>
          </p:cNvSpPr>
          <p:nvPr/>
        </p:nvSpPr>
        <p:spPr>
          <a:xfrm xmlns:a="http://schemas.openxmlformats.org/drawingml/2006/main">
            <a:off x="723900" y="3095625"/>
            <a:ext cx="495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0" i="0">
                <a:solidFill>
                  <a:srgbClr val="B9C8D1"/>
                </a:solidFill>
                <a:latin typeface="Helvetica Neue"/>
                <a:ea typeface="Helvetica Neue"/>
                <a:cs typeface="Helvetica Neue"/>
              </a:defRPr>
            </a:pPr>
            <a:r>
              <a:rPr sz="2100" b="0" i="0">
                <a:solidFill>
                  <a:srgbClr val="B9C8D1"/>
                </a:solidFill>
                <a:latin typeface="Helvetica Neue"/>
                <a:ea typeface="Helvetica Neue"/>
                <a:cs typeface="Helvetica Neue"/>
              </a:rPr>
              <a:t>That was the obvious experiment.</a:t>
            </a:r>
          </a:p>
        </p:txBody>
      </p:sp>
      <p:cxnSp>
        <p:nvCxnSpPr>
          <p:cNvPr id="8" name=""/>
          <p:cNvCxnSpPr/>
          <p:nvPr/>
        </p:nvCxnSpPr>
        <p:spPr>
          <a:xfrm xmlns:a="http://schemas.openxmlformats.org/drawingml/2006/main">
            <a:off x="723900" y="4095750"/>
            <a:ext cx="4953000" cy="0"/>
          </a:xfrm>
          <a:prstGeom xmlns:a="http://schemas.openxmlformats.org/drawingml/2006/main" prst="straightConnector1">
            <a:avLst/>
          </a:prstGeom>
          <a:ln xmlns:a="http://schemas.openxmlformats.org/drawingml/2006/main" w="19050">
            <a:solidFill>
              <a:srgbClr val="466579"/>
            </a:solidFill>
            <a:prstDash val="solid"/>
          </a:ln>
        </p:spPr>
      </p:cxnSp>
      <p:sp>
        <p:nvSpPr>
          <p:cNvPr id="4" name="">
            <a:extLst xmlns:a="http://schemas.openxmlformats.org/drawingml/2006/main">
              <a:ext uri="{FF2B5EF4-FFF2-40B4-BE49-F238E27FC236}">
                <a16:creationId xmlns:a16="http://schemas.microsoft.com/office/drawing/2014/main" id="{589BC696-966B-4875-9656-FF40BAC22D75}"/>
              </a:ext>
            </a:extLst>
          </p:cNvPr>
          <p:cNvSpPr>
            <a:spLocks xmlns:a="http://schemas.openxmlformats.org/drawingml/2006/main" noGrp="1"/>
          </p:cNvSpPr>
          <p:nvPr/>
        </p:nvSpPr>
        <p:spPr>
          <a:xfrm xmlns:a="http://schemas.openxmlformats.org/drawingml/2006/main">
            <a:off x="723900" y="4419600"/>
            <a:ext cx="6477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6DCBF4"/>
                </a:solidFill>
                <a:latin typeface="Helvetica Neue"/>
                <a:ea typeface="Helvetica Neue"/>
                <a:cs typeface="Helvetica Neue"/>
              </a:defRPr>
            </a:pPr>
            <a:r>
              <a:rPr sz="3300" b="1" i="0">
                <a:solidFill>
                  <a:srgbClr val="6DCBF4"/>
                </a:solidFill>
                <a:latin typeface="Helvetica Neue"/>
                <a:ea typeface="Helvetica Neue"/>
                <a:cs typeface="Helvetica Neue"/>
              </a:rPr>
              <a:t>It would not do the biology.</a:t>
            </a:r>
          </a:p>
        </p:txBody>
      </p:sp>
      <p:sp>
        <p:nvSpPr>
          <p:cNvPr id="5" name="">
            <a:extLst xmlns:a="http://schemas.openxmlformats.org/drawingml/2006/main">
              <a:ext uri="{FF2B5EF4-FFF2-40B4-BE49-F238E27FC236}">
                <a16:creationId xmlns:a16="http://schemas.microsoft.com/office/drawing/2014/main" id="{551E51A5-FD54-43B7-9502-5283D1FD21BC}"/>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B9C8D1"/>
                </a:solidFill>
                <a:latin typeface="Helvetica Neue"/>
                <a:ea typeface="Helvetica Neue"/>
                <a:cs typeface="Helvetica Neue"/>
              </a:defRPr>
            </a:pPr>
            <a:r>
              <a:rPr sz="1125" b="0" i="0">
                <a:solidFill>
                  <a:srgbClr val="B9C8D1"/>
                </a:solidFill>
                <a:latin typeface="Helvetica Neue"/>
                <a:ea typeface="Helvetica Neue"/>
                <a:cs typeface="Helvetica Neue"/>
              </a:rPr>
              <a:t>02</a:t>
            </a:r>
          </a:p>
        </p:txBody>
      </p:sp>
    </p:spTree>
    <p:extLst>
      <p:ext uri="{BB962C8B-B14F-4D97-AF65-F5344CB8AC3E}">
        <p14:creationId xmlns:p14="http://schemas.microsoft.com/office/powerpoint/2010/main" val="2100885225"/>
      </p:ext>
    </p:extLst>
  </p:cSld>
</p:sld>
</file>

<file path=ppt/slides/slide3.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E58E6B3-8212-45CB-9B6A-2F32C5F95FA8}"/>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PIVOT</a:t>
            </a:r>
          </a:p>
        </p:txBody>
      </p:sp>
      <p:sp>
        <p:nvSpPr>
          <p:cNvPr id="2" name="">
            <a:extLst xmlns:a="http://schemas.openxmlformats.org/drawingml/2006/main">
              <a:ext uri="{FF2B5EF4-FFF2-40B4-BE49-F238E27FC236}">
                <a16:creationId xmlns:a16="http://schemas.microsoft.com/office/drawing/2014/main" id="{9D8C0417-A9FE-41C7-B8E8-2ED408BBA0C8}"/>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That forced a better experiment.</a:t>
            </a:r>
          </a:p>
        </p:txBody>
      </p:sp>
      <p:sp>
        <p:nvSpPr>
          <p:cNvPr id="3" name="">
            <a:extLst xmlns:a="http://schemas.openxmlformats.org/drawingml/2006/main">
              <a:ext uri="{FF2B5EF4-FFF2-40B4-BE49-F238E27FC236}">
                <a16:creationId xmlns:a16="http://schemas.microsoft.com/office/drawing/2014/main" id="{72071657-9804-41E0-978A-7E4E2285FCDF}"/>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146AC8F9-C1D5-4459-A0C2-F9A11DF472C1}"/>
              </a:ext>
            </a:extLst>
          </p:cNvPr>
          <p:cNvSpPr>
            <a:spLocks xmlns:a="http://schemas.openxmlformats.org/drawingml/2006/main" noGrp="1"/>
          </p:cNvSpPr>
          <p:nvPr/>
        </p:nvSpPr>
        <p:spPr>
          <a:xfrm xmlns:a="http://schemas.openxmlformats.org/drawingml/2006/main">
            <a:off x="419100" y="1381125"/>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845"/>
          </a:bodyPr>
          <a:lstStyle xmlns:a="http://schemas.openxmlformats.org/drawingml/2006/main"/>
          <a:p xmlns:a="http://schemas.openxmlformats.org/drawingml/2006/main">
            <a:pPr algn="l">
              <a:lnSpc>
                <a:spcPct val="102000"/>
              </a:lnSpc>
              <a:buNone/>
              <a:defRPr sz="2250" b="0" i="0">
                <a:solidFill>
                  <a:srgbClr val="52616B"/>
                </a:solidFill>
                <a:latin typeface="Helvetica Neue"/>
                <a:ea typeface="Helvetica Neue"/>
                <a:cs typeface="Helvetica Neue"/>
              </a:defRPr>
            </a:pPr>
            <a:r>
              <a:rPr sz="2250" b="0" i="0">
                <a:solidFill>
                  <a:srgbClr val="52616B"/>
                </a:solidFill>
                <a:latin typeface="Helvetica Neue"/>
                <a:ea typeface="Helvetica Neue"/>
                <a:cs typeface="Helvetica Neue"/>
              </a:rPr>
              <a:t>Choose a problem where both the result and the method are inspectable.</a:t>
            </a:r>
          </a:p>
        </p:txBody>
      </p:sp>
      <p:sp>
        <p:nvSpPr>
          <p:cNvPr id="5" name="">
            <a:extLst xmlns:a="http://schemas.openxmlformats.org/drawingml/2006/main">
              <a:ext uri="{FF2B5EF4-FFF2-40B4-BE49-F238E27FC236}">
                <a16:creationId xmlns:a16="http://schemas.microsoft.com/office/drawing/2014/main" id="{31B27295-4233-4FF9-95D6-6F634EFA9C5F}"/>
              </a:ext>
            </a:extLst>
          </p:cNvPr>
          <p:cNvSpPr>
            <a:spLocks xmlns:a="http://schemas.openxmlformats.org/drawingml/2006/main" noGrp="1"/>
          </p:cNvSpPr>
          <p:nvPr/>
        </p:nvSpPr>
        <p:spPr>
          <a:xfrm xmlns:a="http://schemas.openxmlformats.org/drawingml/2006/main">
            <a:off x="400050" y="2266950"/>
            <a:ext cx="3562350" cy="3219450"/>
          </a:xfrm>
          <a:prstGeom xmlns:a="http://schemas.openxmlformats.org/drawingml/2006/main" prst="roundRect">
            <a:avLst>
              <a:gd name="adj" fmla="val 2367"/>
            </a:avLst>
          </a:prstGeom>
          <a:solidFill xmlns:a="http://schemas.openxmlformats.org/drawingml/2006/main">
            <a:srgbClr val="EDEDED"/>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5BB34E37-1A84-4BF9-A3E4-E716E53A4D87}"/>
              </a:ext>
            </a:extLst>
          </p:cNvPr>
          <p:cNvSpPr>
            <a:spLocks xmlns:a="http://schemas.openxmlformats.org/drawingml/2006/main" noGrp="1"/>
          </p:cNvSpPr>
          <p:nvPr/>
        </p:nvSpPr>
        <p:spPr>
          <a:xfrm xmlns:a="http://schemas.openxmlformats.org/drawingml/2006/main">
            <a:off x="666750" y="25527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9CCBFF59-DBCD-4B07-9E55-243F855FC5F2}"/>
              </a:ext>
            </a:extLst>
          </p:cNvPr>
          <p:cNvSpPr>
            <a:spLocks xmlns:a="http://schemas.openxmlformats.org/drawingml/2006/main" noGrp="1"/>
          </p:cNvSpPr>
          <p:nvPr/>
        </p:nvSpPr>
        <p:spPr>
          <a:xfrm xmlns:a="http://schemas.openxmlformats.org/drawingml/2006/main">
            <a:off x="666750" y="32956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Known science</a:t>
            </a:r>
          </a:p>
        </p:txBody>
      </p:sp>
      <p:sp>
        <p:nvSpPr>
          <p:cNvPr id="8" name="">
            <a:extLst xmlns:a="http://schemas.openxmlformats.org/drawingml/2006/main">
              <a:ext uri="{FF2B5EF4-FFF2-40B4-BE49-F238E27FC236}">
                <a16:creationId xmlns:a16="http://schemas.microsoft.com/office/drawing/2014/main" id="{8B4EC491-A53D-43F7-9DFE-357D35F22564}"/>
              </a:ext>
            </a:extLst>
          </p:cNvPr>
          <p:cNvSpPr>
            <a:spLocks xmlns:a="http://schemas.openxmlformats.org/drawingml/2006/main" noGrp="1"/>
          </p:cNvSpPr>
          <p:nvPr/>
        </p:nvSpPr>
        <p:spPr>
          <a:xfrm xmlns:a="http://schemas.openxmlformats.org/drawingml/2006/main">
            <a:off x="666750" y="3905250"/>
            <a:ext cx="2952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A problem I understand well enough to recognize shortcuts and mistakes.</a:t>
            </a:r>
          </a:p>
        </p:txBody>
      </p:sp>
      <p:sp>
        <p:nvSpPr>
          <p:cNvPr id="9" name="">
            <a:extLst xmlns:a="http://schemas.openxmlformats.org/drawingml/2006/main">
              <a:ext uri="{FF2B5EF4-FFF2-40B4-BE49-F238E27FC236}">
                <a16:creationId xmlns:a16="http://schemas.microsoft.com/office/drawing/2014/main" id="{3CAB9539-409D-4772-8101-A99A18DCF28C}"/>
              </a:ext>
            </a:extLst>
          </p:cNvPr>
          <p:cNvSpPr>
            <a:spLocks xmlns:a="http://schemas.openxmlformats.org/drawingml/2006/main" noGrp="1"/>
          </p:cNvSpPr>
          <p:nvPr/>
        </p:nvSpPr>
        <p:spPr>
          <a:xfrm xmlns:a="http://schemas.openxmlformats.org/drawingml/2006/main">
            <a:off x="4276725" y="2266950"/>
            <a:ext cx="3562350" cy="3219450"/>
          </a:xfrm>
          <a:prstGeom xmlns:a="http://schemas.openxmlformats.org/drawingml/2006/main" prst="roundRect">
            <a:avLst>
              <a:gd name="adj" fmla="val 2367"/>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85E89FF-B6C5-44BD-BAEB-C9EC11CB1148}"/>
              </a:ext>
            </a:extLst>
          </p:cNvPr>
          <p:cNvSpPr>
            <a:spLocks xmlns:a="http://schemas.openxmlformats.org/drawingml/2006/main" noGrp="1"/>
          </p:cNvSpPr>
          <p:nvPr/>
        </p:nvSpPr>
        <p:spPr>
          <a:xfrm xmlns:a="http://schemas.openxmlformats.org/drawingml/2006/main">
            <a:off x="4543425" y="25527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844E7FCF-CDF3-446D-84C3-68BB14A47116}"/>
              </a:ext>
            </a:extLst>
          </p:cNvPr>
          <p:cNvSpPr>
            <a:spLocks xmlns:a="http://schemas.openxmlformats.org/drawingml/2006/main" noGrp="1"/>
          </p:cNvSpPr>
          <p:nvPr/>
        </p:nvSpPr>
        <p:spPr>
          <a:xfrm xmlns:a="http://schemas.openxmlformats.org/drawingml/2006/main">
            <a:off x="4543425" y="32956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Visible target</a:t>
            </a:r>
          </a:p>
        </p:txBody>
      </p:sp>
      <p:sp>
        <p:nvSpPr>
          <p:cNvPr id="12" name="">
            <a:extLst xmlns:a="http://schemas.openxmlformats.org/drawingml/2006/main">
              <a:ext uri="{FF2B5EF4-FFF2-40B4-BE49-F238E27FC236}">
                <a16:creationId xmlns:a16="http://schemas.microsoft.com/office/drawing/2014/main" id="{474E3EDA-9BFA-4F8C-8633-A77C81ADC674}"/>
              </a:ext>
            </a:extLst>
          </p:cNvPr>
          <p:cNvSpPr>
            <a:spLocks xmlns:a="http://schemas.openxmlformats.org/drawingml/2006/main" noGrp="1"/>
          </p:cNvSpPr>
          <p:nvPr/>
        </p:nvSpPr>
        <p:spPr>
          <a:xfrm xmlns:a="http://schemas.openxmlformats.org/drawingml/2006/main">
            <a:off x="4543425" y="3905250"/>
            <a:ext cx="2952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A paper with unmistakable patterns that make qualitative failure obvious.</a:t>
            </a:r>
          </a:p>
        </p:txBody>
      </p:sp>
      <p:sp>
        <p:nvSpPr>
          <p:cNvPr id="13" name="">
            <a:extLst xmlns:a="http://schemas.openxmlformats.org/drawingml/2006/main">
              <a:ext uri="{FF2B5EF4-FFF2-40B4-BE49-F238E27FC236}">
                <a16:creationId xmlns:a16="http://schemas.microsoft.com/office/drawing/2014/main" id="{AE11AD26-2977-4A1B-8A96-FD2C22B0FE79}"/>
              </a:ext>
            </a:extLst>
          </p:cNvPr>
          <p:cNvSpPr>
            <a:spLocks xmlns:a="http://schemas.openxmlformats.org/drawingml/2006/main" noGrp="1"/>
          </p:cNvSpPr>
          <p:nvPr/>
        </p:nvSpPr>
        <p:spPr>
          <a:xfrm xmlns:a="http://schemas.openxmlformats.org/drawingml/2006/main">
            <a:off x="8153400" y="2266950"/>
            <a:ext cx="3562350" cy="3219450"/>
          </a:xfrm>
          <a:prstGeom xmlns:a="http://schemas.openxmlformats.org/drawingml/2006/main" prst="roundRect">
            <a:avLst>
              <a:gd name="adj" fmla="val 2367"/>
            </a:avLst>
          </a:prstGeom>
          <a:solidFill xmlns:a="http://schemas.openxmlformats.org/drawingml/2006/main">
            <a:srgbClr val="EDEDED"/>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3D2CA8A-CC52-4F92-91FE-3775A5F4AC7F}"/>
              </a:ext>
            </a:extLst>
          </p:cNvPr>
          <p:cNvSpPr>
            <a:spLocks xmlns:a="http://schemas.openxmlformats.org/drawingml/2006/main" noGrp="1"/>
          </p:cNvSpPr>
          <p:nvPr/>
        </p:nvSpPr>
        <p:spPr>
          <a:xfrm xmlns:a="http://schemas.openxmlformats.org/drawingml/2006/main">
            <a:off x="8420100" y="2552700"/>
            <a:ext cx="66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150" b="1" i="0">
                <a:solidFill>
                  <a:srgbClr val="3D8DFF"/>
                </a:solidFill>
                <a:latin typeface="Helvetica Neue"/>
                <a:ea typeface="Helvetica Neue"/>
                <a:cs typeface="Helvetica Neue"/>
              </a:defRPr>
            </a:pPr>
            <a:r>
              <a:rPr sz="3150" b="1" i="0">
                <a:solidFill>
                  <a:srgbClr val="3D8DFF"/>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8CB75C3C-1B17-4233-A13E-DA9B7CDD6CDC}"/>
              </a:ext>
            </a:extLst>
          </p:cNvPr>
          <p:cNvSpPr>
            <a:spLocks xmlns:a="http://schemas.openxmlformats.org/drawingml/2006/main" noGrp="1"/>
          </p:cNvSpPr>
          <p:nvPr/>
        </p:nvSpPr>
        <p:spPr>
          <a:xfrm xmlns:a="http://schemas.openxmlformats.org/drawingml/2006/main">
            <a:off x="8420100" y="3295650"/>
            <a:ext cx="295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525"/>
          </a:bodyPr>
          <a:lstStyle xmlns:a="http://schemas.openxmlformats.org/drawingml/2006/main"/>
          <a:p xmlns:a="http://schemas.openxmlformats.org/drawingml/2006/main">
            <a:pPr algn="l">
              <a:lnSpc>
                <a:spcPct val="102000"/>
              </a:lnSpc>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Inspectable algorithm</a:t>
            </a:r>
          </a:p>
        </p:txBody>
      </p:sp>
      <p:sp>
        <p:nvSpPr>
          <p:cNvPr id="16" name="">
            <a:extLst xmlns:a="http://schemas.openxmlformats.org/drawingml/2006/main">
              <a:ext uri="{FF2B5EF4-FFF2-40B4-BE49-F238E27FC236}">
                <a16:creationId xmlns:a16="http://schemas.microsoft.com/office/drawing/2014/main" id="{D91CE4C6-D154-4FCE-9DA6-86A3F7A98CFE}"/>
              </a:ext>
            </a:extLst>
          </p:cNvPr>
          <p:cNvSpPr>
            <a:spLocks xmlns:a="http://schemas.openxmlformats.org/drawingml/2006/main" noGrp="1"/>
          </p:cNvSpPr>
          <p:nvPr/>
        </p:nvSpPr>
        <p:spPr>
          <a:xfrm xmlns:a="http://schemas.openxmlformats.org/drawingml/2006/main">
            <a:off x="8420100" y="3905250"/>
            <a:ext cx="2952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A correct implementation whose scheduling, collision law, and numerical pathologies can be audited.</a:t>
            </a:r>
          </a:p>
        </p:txBody>
      </p:sp>
    </p:spTree>
    <p:extLst>
      <p:ext uri="{BB962C8B-B14F-4D97-AF65-F5344CB8AC3E}">
        <p14:creationId xmlns:p14="http://schemas.microsoft.com/office/powerpoint/2010/main" val="2130564538"/>
      </p:ext>
    </p:extLst>
  </p:cSld>
</p:sld>
</file>

<file path=ppt/slides/slide4.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5B32C5D-7A85-4AE1-AE92-7B7F52F5FDEA}"/>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PAPER</a:t>
            </a:r>
          </a:p>
        </p:txBody>
      </p:sp>
      <p:sp>
        <p:nvSpPr>
          <p:cNvPr id="2" name="">
            <a:extLst xmlns:a="http://schemas.openxmlformats.org/drawingml/2006/main">
              <a:ext uri="{FF2B5EF4-FFF2-40B4-BE49-F238E27FC236}">
                <a16:creationId xmlns:a16="http://schemas.microsoft.com/office/drawing/2014/main" id="{E78D07D6-C161-4B3A-802A-4BC26FBCB2BD}"/>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target was a 1998 granular-physics result.</a:t>
            </a:r>
          </a:p>
        </p:txBody>
      </p:sp>
      <p:sp>
        <p:nvSpPr>
          <p:cNvPr id="3" name="">
            <a:extLst xmlns:a="http://schemas.openxmlformats.org/drawingml/2006/main">
              <a:ext uri="{FF2B5EF4-FFF2-40B4-BE49-F238E27FC236}">
                <a16:creationId xmlns:a16="http://schemas.microsoft.com/office/drawing/2014/main" id="{B1A5FB6F-5252-4119-AC9A-49ED249A5E66}"/>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CE0DE1E8-EC4A-49E5-906A-E6F37F3E7F59}"/>
              </a:ext>
            </a:extLst>
          </p:cNvPr>
          <p:cNvSpPr>
            <a:spLocks xmlns:a="http://schemas.openxmlformats.org/drawingml/2006/main" noGrp="1"/>
          </p:cNvSpPr>
          <p:nvPr/>
        </p:nvSpPr>
        <p:spPr>
          <a:xfrm xmlns:a="http://schemas.openxmlformats.org/drawingml/2006/main">
            <a:off x="514350" y="1333500"/>
            <a:ext cx="4476750" cy="5000625"/>
          </a:xfrm>
          <a:prstGeom xmlns:a="http://schemas.openxmlformats.org/drawingml/2006/main" prst="roundRect">
            <a:avLst>
              <a:gd name="adj" fmla="val 1702"/>
            </a:avLst>
          </a:prstGeom>
          <a:solidFill xmlns:a="http://schemas.openxmlformats.org/drawingml/2006/main">
            <a:srgbClr val="FFFFFF"/>
          </a:solidFill>
          <a:ln xmlns:a="http://schemas.openxmlformats.org/drawingml/2006/main" w="9525">
            <a:solidFill>
              <a:srgbClr val="B8BCC4"/>
            </a:solidFill>
            <a:prstDash val="solid"/>
          </a:ln>
        </p:spPr>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2473a2db86f541b6"/>
          <a:stretch xmlns:a="http://schemas.openxmlformats.org/drawingml/2006/main"/>
        </p:blipFill>
        <p:spPr>
          <a:xfrm xmlns:a="http://schemas.openxmlformats.org/drawingml/2006/main">
            <a:off x="931069" y="1476375"/>
            <a:ext cx="3643313" cy="4714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99B8CED-9892-45E9-B924-E4B7FED67BB8}"/>
              </a:ext>
            </a:extLst>
          </p:cNvPr>
          <p:cNvSpPr>
            <a:spLocks xmlns:a="http://schemas.openxmlformats.org/drawingml/2006/main" noGrp="1"/>
          </p:cNvSpPr>
          <p:nvPr/>
        </p:nvSpPr>
        <p:spPr>
          <a:xfrm xmlns:a="http://schemas.openxmlformats.org/drawingml/2006/main">
            <a:off x="5524500" y="1619250"/>
            <a:ext cx="57150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8000"/>
              </a:lnSpc>
              <a:buNone/>
              <a:defRPr sz="3225" b="1" i="0">
                <a:solidFill>
                  <a:srgbClr val="111111"/>
                </a:solidFill>
                <a:latin typeface="Helvetica Neue"/>
                <a:ea typeface="Helvetica Neue"/>
                <a:cs typeface="Helvetica Neue"/>
              </a:defRPr>
            </a:pPr>
            <a:r>
              <a:rPr sz="3225" b="1" i="0">
                <a:solidFill>
                  <a:srgbClr val="111111"/>
                </a:solidFill>
                <a:latin typeface="Helvetica Neue"/>
                <a:ea typeface="Helvetica Neue"/>
                <a:cs typeface="Helvetica Neue"/>
              </a:rPr>
              <a:t>Patterns in 3D Vertically Oscillated Granular Layers</a:t>
            </a:r>
          </a:p>
        </p:txBody>
      </p:sp>
      <p:sp>
        <p:nvSpPr>
          <p:cNvPr id="7" name="">
            <a:extLst xmlns:a="http://schemas.openxmlformats.org/drawingml/2006/main">
              <a:ext uri="{FF2B5EF4-FFF2-40B4-BE49-F238E27FC236}">
                <a16:creationId xmlns:a16="http://schemas.microsoft.com/office/drawing/2014/main" id="{FEFA645E-F5DC-4285-B72C-A3F0D65702A9}"/>
              </a:ext>
            </a:extLst>
          </p:cNvPr>
          <p:cNvSpPr>
            <a:spLocks xmlns:a="http://schemas.openxmlformats.org/drawingml/2006/main" noGrp="1"/>
          </p:cNvSpPr>
          <p:nvPr/>
        </p:nvSpPr>
        <p:spPr>
          <a:xfrm xmlns:a="http://schemas.openxmlformats.org/drawingml/2006/main">
            <a:off x="5562600" y="3000375"/>
            <a:ext cx="4953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3D8DFF"/>
                </a:solidFill>
                <a:latin typeface="Helvetica Neue"/>
                <a:ea typeface="Helvetica Neue"/>
                <a:cs typeface="Helvetica Neue"/>
              </a:defRPr>
            </a:pPr>
            <a:r>
              <a:rPr sz="2175" b="1" i="0">
                <a:solidFill>
                  <a:srgbClr val="3D8DFF"/>
                </a:solidFill>
                <a:latin typeface="Helvetica Neue"/>
                <a:ea typeface="Helvetica Neue"/>
                <a:cs typeface="Helvetica Neue"/>
              </a:rPr>
              <a:t>Simulation and experiment</a:t>
            </a:r>
          </a:p>
        </p:txBody>
      </p:sp>
      <p:sp>
        <p:nvSpPr>
          <p:cNvPr id="8" name="">
            <a:extLst xmlns:a="http://schemas.openxmlformats.org/drawingml/2006/main">
              <a:ext uri="{FF2B5EF4-FFF2-40B4-BE49-F238E27FC236}">
                <a16:creationId xmlns:a16="http://schemas.microsoft.com/office/drawing/2014/main" id="{131A9494-190F-494D-8760-D8BA90ACC489}"/>
              </a:ext>
            </a:extLst>
          </p:cNvPr>
          <p:cNvSpPr>
            <a:spLocks xmlns:a="http://schemas.openxmlformats.org/drawingml/2006/main" noGrp="1"/>
          </p:cNvSpPr>
          <p:nvPr/>
        </p:nvSpPr>
        <p:spPr>
          <a:xfrm xmlns:a="http://schemas.openxmlformats.org/drawingml/2006/main">
            <a:off x="5562600" y="3638550"/>
            <a:ext cx="533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Bizon et al. · Physical Review Letters · 1998</a:t>
            </a:r>
          </a:p>
        </p:txBody>
      </p:sp>
      <p:cxnSp>
        <p:nvCxnSpPr>
          <p:cNvPr id="19" name=""/>
          <p:cNvCxnSpPr/>
          <p:nvPr/>
        </p:nvCxnSpPr>
        <p:spPr>
          <a:xfrm xmlns:a="http://schemas.openxmlformats.org/drawingml/2006/main">
            <a:off x="5562600" y="4324350"/>
            <a:ext cx="5524500" cy="0"/>
          </a:xfrm>
          <a:prstGeom xmlns:a="http://schemas.openxmlformats.org/drawingml/2006/main" prst="straightConnector1">
            <a:avLst/>
          </a:prstGeom>
          <a:ln xmlns:a="http://schemas.openxmlformats.org/drawingml/2006/main" w="19050">
            <a:solidFill>
              <a:srgbClr val="B8BCC4"/>
            </a:solidFill>
            <a:prstDash val="solid"/>
          </a:ln>
        </p:spPr>
      </p:cxnSp>
      <p:sp>
        <p:nvSpPr>
          <p:cNvPr id="10" name="">
            <a:extLst xmlns:a="http://schemas.openxmlformats.org/drawingml/2006/main">
              <a:ext uri="{FF2B5EF4-FFF2-40B4-BE49-F238E27FC236}">
                <a16:creationId xmlns:a16="http://schemas.microsoft.com/office/drawing/2014/main" id="{0900704D-AC9C-4D1F-9CBE-B7F0393C1C93}"/>
              </a:ext>
            </a:extLst>
          </p:cNvPr>
          <p:cNvSpPr>
            <a:spLocks xmlns:a="http://schemas.openxmlformats.org/drawingml/2006/main" noGrp="1"/>
          </p:cNvSpPr>
          <p:nvPr/>
        </p:nvSpPr>
        <p:spPr>
          <a:xfrm xmlns:a="http://schemas.openxmlformats.org/drawingml/2006/main">
            <a:off x="5562600" y="4591050"/>
            <a:ext cx="54483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00" b="0" i="0">
                <a:solidFill>
                  <a:srgbClr val="111111"/>
                </a:solidFill>
                <a:latin typeface="Helvetica Neue"/>
                <a:ea typeface="Helvetica Neue"/>
                <a:cs typeface="Helvetica Neue"/>
              </a:defRPr>
            </a:pPr>
            <a:r>
              <a:rPr sz="2100" b="0" i="0">
                <a:solidFill>
                  <a:srgbClr val="111111"/>
                </a:solidFill>
                <a:latin typeface="Helvetica Neue"/>
                <a:ea typeface="Helvetica Neue"/>
                <a:cs typeface="Helvetica Neue"/>
              </a:rPr>
              <a:t>A thin granular layer, shaken vertically, spontaneously forms squares, stripes, and hexagons.</a:t>
            </a:r>
          </a:p>
        </p:txBody>
      </p:sp>
    </p:spTree>
    <p:extLst>
      <p:ext uri="{BB962C8B-B14F-4D97-AF65-F5344CB8AC3E}">
        <p14:creationId xmlns:p14="http://schemas.microsoft.com/office/powerpoint/2010/main" val="798064728"/>
      </p:ext>
    </p:extLst>
  </p:cSld>
</p:sld>
</file>

<file path=ppt/slides/slide5.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110" name="">
            <a:extLst xmlns:a="http://schemas.openxmlformats.org/drawingml/2006/main">
              <a:ext uri="{FF2B5EF4-FFF2-40B4-BE49-F238E27FC236}">
                <a16:creationId xmlns:a16="http://schemas.microsoft.com/office/drawing/2014/main" id="{253FC2F6-7C1D-4348-84FA-F01D32E5ECCB}"/>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PHYSICS</a:t>
            </a:r>
          </a:p>
        </p:txBody>
      </p:sp>
      <p:sp>
        <p:nvSpPr>
          <p:cNvPr id="2" name="">
            <a:extLst xmlns:a="http://schemas.openxmlformats.org/drawingml/2006/main">
              <a:ext uri="{FF2B5EF4-FFF2-40B4-BE49-F238E27FC236}">
                <a16:creationId xmlns:a16="http://schemas.microsoft.com/office/drawing/2014/main" id="{D6EB4A27-A057-47FA-997B-FEA36DD2B9FF}"/>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A thin layer of hard spheres sits in a vibrating box.</a:t>
            </a:r>
          </a:p>
        </p:txBody>
      </p:sp>
      <p:sp>
        <p:nvSpPr>
          <p:cNvPr id="3" name="">
            <a:extLst xmlns:a="http://schemas.openxmlformats.org/drawingml/2006/main">
              <a:ext uri="{FF2B5EF4-FFF2-40B4-BE49-F238E27FC236}">
                <a16:creationId xmlns:a16="http://schemas.microsoft.com/office/drawing/2014/main" id="{D282423E-64FF-40B4-80C1-A4C4AD7240DE}"/>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5D7901F-A376-4244-866C-E5053EACC241}"/>
              </a:ext>
            </a:extLst>
          </p:cNvPr>
          <p:cNvSpPr>
            <a:spLocks xmlns:a="http://schemas.openxmlformats.org/drawingml/2006/main" noGrp="1"/>
          </p:cNvSpPr>
          <p:nvPr/>
        </p:nvSpPr>
        <p:spPr>
          <a:xfrm xmlns:a="http://schemas.openxmlformats.org/drawingml/2006/main">
            <a:off x="571500" y="1381125"/>
            <a:ext cx="6953250" cy="4572000"/>
          </a:xfrm>
          <a:prstGeom xmlns:a="http://schemas.openxmlformats.org/drawingml/2006/main" prst="roundRect">
            <a:avLst>
              <a:gd name="adj" fmla="val 1667"/>
            </a:avLst>
          </a:prstGeom>
          <a:solidFill xmlns:a="http://schemas.openxmlformats.org/drawingml/2006/main">
            <a:srgbClr val="EAF5FB"/>
          </a:solidFill>
          <a:ln xmlns:a="http://schemas.openxmlformats.org/drawingml/2006/main" w="14288">
            <a:solidFill>
              <a:srgbClr val="B8BCC4"/>
            </a:solidFill>
            <a:prstDash val="solid"/>
          </a:ln>
        </p:spPr>
      </p:sp>
      <p:cxnSp>
        <p:nvCxnSpPr>
          <p:cNvPr id="114" name=""/>
          <p:cNvCxnSpPr/>
          <p:nvPr/>
        </p:nvCxnSpPr>
        <p:spPr>
          <a:xfrm xmlns:a="http://schemas.openxmlformats.org/drawingml/2006/main">
            <a:off x="1285875" y="1952625"/>
            <a:ext cx="0" cy="3238500"/>
          </a:xfrm>
          <a:prstGeom xmlns:a="http://schemas.openxmlformats.org/drawingml/2006/main" prst="straightConnector1">
            <a:avLst/>
          </a:prstGeom>
          <a:ln xmlns:a="http://schemas.openxmlformats.org/drawingml/2006/main" w="57150">
            <a:solidFill>
              <a:srgbClr val="111111"/>
            </a:solidFill>
            <a:prstDash val="solid"/>
          </a:ln>
        </p:spPr>
      </p:cxnSp>
      <p:cxnSp>
        <p:nvCxnSpPr>
          <p:cNvPr id="115" name=""/>
          <p:cNvCxnSpPr/>
          <p:nvPr/>
        </p:nvCxnSpPr>
        <p:spPr>
          <a:xfrm xmlns:a="http://schemas.openxmlformats.org/drawingml/2006/main">
            <a:off x="6810375" y="1952625"/>
            <a:ext cx="0" cy="3238500"/>
          </a:xfrm>
          <a:prstGeom xmlns:a="http://schemas.openxmlformats.org/drawingml/2006/main" prst="straightConnector1">
            <a:avLst/>
          </a:prstGeom>
          <a:ln xmlns:a="http://schemas.openxmlformats.org/drawingml/2006/main" w="57150">
            <a:solidFill>
              <a:srgbClr val="111111"/>
            </a:solidFill>
            <a:prstDash val="solid"/>
          </a:ln>
        </p:spPr>
      </p:cxnSp>
      <p:cxnSp>
        <p:nvCxnSpPr>
          <p:cNvPr id="116" name=""/>
          <p:cNvCxnSpPr/>
          <p:nvPr/>
        </p:nvCxnSpPr>
        <p:spPr>
          <a:xfrm xmlns:a="http://schemas.openxmlformats.org/drawingml/2006/main">
            <a:off x="1285875" y="5191125"/>
            <a:ext cx="5524500" cy="0"/>
          </a:xfrm>
          <a:prstGeom xmlns:a="http://schemas.openxmlformats.org/drawingml/2006/main" prst="straightConnector1">
            <a:avLst/>
          </a:prstGeom>
          <a:ln xmlns:a="http://schemas.openxmlformats.org/drawingml/2006/main" w="76200">
            <a:solidFill>
              <a:srgbClr val="111111"/>
            </a:solidFill>
            <a:prstDash val="solid"/>
          </a:ln>
        </p:spPr>
      </p:cxnSp>
      <p:sp>
        <p:nvSpPr>
          <p:cNvPr id="8" name="">
            <a:extLst xmlns:a="http://schemas.openxmlformats.org/drawingml/2006/main">
              <a:ext uri="{FF2B5EF4-FFF2-40B4-BE49-F238E27FC236}">
                <a16:creationId xmlns:a16="http://schemas.microsoft.com/office/drawing/2014/main" id="{E31D1EA9-4CCE-4DFF-8F4B-682507EEC2A4}"/>
              </a:ext>
            </a:extLst>
          </p:cNvPr>
          <p:cNvSpPr>
            <a:spLocks xmlns:a="http://schemas.openxmlformats.org/drawingml/2006/main" noGrp="1"/>
          </p:cNvSpPr>
          <p:nvPr/>
        </p:nvSpPr>
        <p:spPr>
          <a:xfrm xmlns:a="http://schemas.openxmlformats.org/drawingml/2006/main">
            <a:off x="1390650" y="47148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9" name="">
            <a:extLst xmlns:a="http://schemas.openxmlformats.org/drawingml/2006/main">
              <a:ext uri="{FF2B5EF4-FFF2-40B4-BE49-F238E27FC236}">
                <a16:creationId xmlns:a16="http://schemas.microsoft.com/office/drawing/2014/main" id="{DBBC71A5-321A-41D7-80CA-DCD4023ECAEA}"/>
              </a:ext>
            </a:extLst>
          </p:cNvPr>
          <p:cNvSpPr>
            <a:spLocks xmlns:a="http://schemas.openxmlformats.org/drawingml/2006/main" noGrp="1"/>
          </p:cNvSpPr>
          <p:nvPr/>
        </p:nvSpPr>
        <p:spPr>
          <a:xfrm xmlns:a="http://schemas.openxmlformats.org/drawingml/2006/main">
            <a:off x="1876425" y="46863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0" name="">
            <a:extLst xmlns:a="http://schemas.openxmlformats.org/drawingml/2006/main">
              <a:ext uri="{FF2B5EF4-FFF2-40B4-BE49-F238E27FC236}">
                <a16:creationId xmlns:a16="http://schemas.microsoft.com/office/drawing/2014/main" id="{7A0C535F-9B82-4917-958F-7190A4F8CF19}"/>
              </a:ext>
            </a:extLst>
          </p:cNvPr>
          <p:cNvSpPr>
            <a:spLocks xmlns:a="http://schemas.openxmlformats.org/drawingml/2006/main" noGrp="1"/>
          </p:cNvSpPr>
          <p:nvPr/>
        </p:nvSpPr>
        <p:spPr>
          <a:xfrm xmlns:a="http://schemas.openxmlformats.org/drawingml/2006/main">
            <a:off x="2276475" y="46577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1" name="">
            <a:extLst xmlns:a="http://schemas.openxmlformats.org/drawingml/2006/main">
              <a:ext uri="{FF2B5EF4-FFF2-40B4-BE49-F238E27FC236}">
                <a16:creationId xmlns:a16="http://schemas.microsoft.com/office/drawing/2014/main" id="{22E18AC4-B600-478E-B776-5AFC0EC179C6}"/>
              </a:ext>
            </a:extLst>
          </p:cNvPr>
          <p:cNvSpPr>
            <a:spLocks xmlns:a="http://schemas.openxmlformats.org/drawingml/2006/main" noGrp="1"/>
          </p:cNvSpPr>
          <p:nvPr/>
        </p:nvSpPr>
        <p:spPr>
          <a:xfrm xmlns:a="http://schemas.openxmlformats.org/drawingml/2006/main">
            <a:off x="2676525" y="47053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2" name="">
            <a:extLst xmlns:a="http://schemas.openxmlformats.org/drawingml/2006/main">
              <a:ext uri="{FF2B5EF4-FFF2-40B4-BE49-F238E27FC236}">
                <a16:creationId xmlns:a16="http://schemas.microsoft.com/office/drawing/2014/main" id="{98BDA633-3B6A-4729-8D1D-F20A3867F5EC}"/>
              </a:ext>
            </a:extLst>
          </p:cNvPr>
          <p:cNvSpPr>
            <a:spLocks xmlns:a="http://schemas.openxmlformats.org/drawingml/2006/main" noGrp="1"/>
          </p:cNvSpPr>
          <p:nvPr/>
        </p:nvSpPr>
        <p:spPr>
          <a:xfrm xmlns:a="http://schemas.openxmlformats.org/drawingml/2006/main">
            <a:off x="3076575" y="46767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3" name="">
            <a:extLst xmlns:a="http://schemas.openxmlformats.org/drawingml/2006/main">
              <a:ext uri="{FF2B5EF4-FFF2-40B4-BE49-F238E27FC236}">
                <a16:creationId xmlns:a16="http://schemas.microsoft.com/office/drawing/2014/main" id="{F288801F-1C20-405F-9799-4C1D91BE256D}"/>
              </a:ext>
            </a:extLst>
          </p:cNvPr>
          <p:cNvSpPr>
            <a:spLocks xmlns:a="http://schemas.openxmlformats.org/drawingml/2006/main" noGrp="1"/>
          </p:cNvSpPr>
          <p:nvPr/>
        </p:nvSpPr>
        <p:spPr>
          <a:xfrm xmlns:a="http://schemas.openxmlformats.org/drawingml/2006/main">
            <a:off x="3562350" y="46482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4" name="">
            <a:extLst xmlns:a="http://schemas.openxmlformats.org/drawingml/2006/main">
              <a:ext uri="{FF2B5EF4-FFF2-40B4-BE49-F238E27FC236}">
                <a16:creationId xmlns:a16="http://schemas.microsoft.com/office/drawing/2014/main" id="{43658CA5-797B-428F-B227-1CD50369B03A}"/>
              </a:ext>
            </a:extLst>
          </p:cNvPr>
          <p:cNvSpPr>
            <a:spLocks xmlns:a="http://schemas.openxmlformats.org/drawingml/2006/main" noGrp="1"/>
          </p:cNvSpPr>
          <p:nvPr/>
        </p:nvSpPr>
        <p:spPr>
          <a:xfrm xmlns:a="http://schemas.openxmlformats.org/drawingml/2006/main">
            <a:off x="3962400" y="46958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5" name="">
            <a:extLst xmlns:a="http://schemas.openxmlformats.org/drawingml/2006/main">
              <a:ext uri="{FF2B5EF4-FFF2-40B4-BE49-F238E27FC236}">
                <a16:creationId xmlns:a16="http://schemas.microsoft.com/office/drawing/2014/main" id="{39441025-2347-4752-B208-B98B1DF7DD32}"/>
              </a:ext>
            </a:extLst>
          </p:cNvPr>
          <p:cNvSpPr>
            <a:spLocks xmlns:a="http://schemas.openxmlformats.org/drawingml/2006/main" noGrp="1"/>
          </p:cNvSpPr>
          <p:nvPr/>
        </p:nvSpPr>
        <p:spPr>
          <a:xfrm xmlns:a="http://schemas.openxmlformats.org/drawingml/2006/main">
            <a:off x="4362450" y="46672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6" name="">
            <a:extLst xmlns:a="http://schemas.openxmlformats.org/drawingml/2006/main">
              <a:ext uri="{FF2B5EF4-FFF2-40B4-BE49-F238E27FC236}">
                <a16:creationId xmlns:a16="http://schemas.microsoft.com/office/drawing/2014/main" id="{9D46A0EB-928A-4B0E-910D-BDBFA7A2A3A5}"/>
              </a:ext>
            </a:extLst>
          </p:cNvPr>
          <p:cNvSpPr>
            <a:spLocks xmlns:a="http://schemas.openxmlformats.org/drawingml/2006/main" noGrp="1"/>
          </p:cNvSpPr>
          <p:nvPr/>
        </p:nvSpPr>
        <p:spPr>
          <a:xfrm xmlns:a="http://schemas.openxmlformats.org/drawingml/2006/main">
            <a:off x="4762500" y="47148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7" name="">
            <a:extLst xmlns:a="http://schemas.openxmlformats.org/drawingml/2006/main">
              <a:ext uri="{FF2B5EF4-FFF2-40B4-BE49-F238E27FC236}">
                <a16:creationId xmlns:a16="http://schemas.microsoft.com/office/drawing/2014/main" id="{D83C1690-F0D8-42F6-A3F0-A959F5D2CA4B}"/>
              </a:ext>
            </a:extLst>
          </p:cNvPr>
          <p:cNvSpPr>
            <a:spLocks xmlns:a="http://schemas.openxmlformats.org/drawingml/2006/main" noGrp="1"/>
          </p:cNvSpPr>
          <p:nvPr/>
        </p:nvSpPr>
        <p:spPr>
          <a:xfrm xmlns:a="http://schemas.openxmlformats.org/drawingml/2006/main">
            <a:off x="5162550" y="46863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8" name="">
            <a:extLst xmlns:a="http://schemas.openxmlformats.org/drawingml/2006/main">
              <a:ext uri="{FF2B5EF4-FFF2-40B4-BE49-F238E27FC236}">
                <a16:creationId xmlns:a16="http://schemas.microsoft.com/office/drawing/2014/main" id="{A5358876-D578-471A-B821-517312ED33D0}"/>
              </a:ext>
            </a:extLst>
          </p:cNvPr>
          <p:cNvSpPr>
            <a:spLocks xmlns:a="http://schemas.openxmlformats.org/drawingml/2006/main" noGrp="1"/>
          </p:cNvSpPr>
          <p:nvPr/>
        </p:nvSpPr>
        <p:spPr>
          <a:xfrm xmlns:a="http://schemas.openxmlformats.org/drawingml/2006/main">
            <a:off x="5648325" y="46577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19" name="">
            <a:extLst xmlns:a="http://schemas.openxmlformats.org/drawingml/2006/main">
              <a:ext uri="{FF2B5EF4-FFF2-40B4-BE49-F238E27FC236}">
                <a16:creationId xmlns:a16="http://schemas.microsoft.com/office/drawing/2014/main" id="{87C5151B-5F83-4331-9411-D407F8CC8C18}"/>
              </a:ext>
            </a:extLst>
          </p:cNvPr>
          <p:cNvSpPr>
            <a:spLocks xmlns:a="http://schemas.openxmlformats.org/drawingml/2006/main" noGrp="1"/>
          </p:cNvSpPr>
          <p:nvPr/>
        </p:nvSpPr>
        <p:spPr>
          <a:xfrm xmlns:a="http://schemas.openxmlformats.org/drawingml/2006/main">
            <a:off x="6048375" y="47053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0" name="">
            <a:extLst xmlns:a="http://schemas.openxmlformats.org/drawingml/2006/main">
              <a:ext uri="{FF2B5EF4-FFF2-40B4-BE49-F238E27FC236}">
                <a16:creationId xmlns:a16="http://schemas.microsoft.com/office/drawing/2014/main" id="{69E02894-1929-4CA9-AFEF-FEF505909C49}"/>
              </a:ext>
            </a:extLst>
          </p:cNvPr>
          <p:cNvSpPr>
            <a:spLocks xmlns:a="http://schemas.openxmlformats.org/drawingml/2006/main" noGrp="1"/>
          </p:cNvSpPr>
          <p:nvPr/>
        </p:nvSpPr>
        <p:spPr>
          <a:xfrm xmlns:a="http://schemas.openxmlformats.org/drawingml/2006/main">
            <a:off x="1600200" y="43434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1" name="">
            <a:extLst xmlns:a="http://schemas.openxmlformats.org/drawingml/2006/main">
              <a:ext uri="{FF2B5EF4-FFF2-40B4-BE49-F238E27FC236}">
                <a16:creationId xmlns:a16="http://schemas.microsoft.com/office/drawing/2014/main" id="{E02A6D35-3375-4C2D-805F-DA71DEEAB448}"/>
              </a:ext>
            </a:extLst>
          </p:cNvPr>
          <p:cNvSpPr>
            <a:spLocks xmlns:a="http://schemas.openxmlformats.org/drawingml/2006/main" noGrp="1"/>
          </p:cNvSpPr>
          <p:nvPr/>
        </p:nvSpPr>
        <p:spPr>
          <a:xfrm xmlns:a="http://schemas.openxmlformats.org/drawingml/2006/main">
            <a:off x="2000250" y="43910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2" name="">
            <a:extLst xmlns:a="http://schemas.openxmlformats.org/drawingml/2006/main">
              <a:ext uri="{FF2B5EF4-FFF2-40B4-BE49-F238E27FC236}">
                <a16:creationId xmlns:a16="http://schemas.microsoft.com/office/drawing/2014/main" id="{8A7B0413-68BE-4E77-8C0C-F382606F6EC2}"/>
              </a:ext>
            </a:extLst>
          </p:cNvPr>
          <p:cNvSpPr>
            <a:spLocks xmlns:a="http://schemas.openxmlformats.org/drawingml/2006/main" noGrp="1"/>
          </p:cNvSpPr>
          <p:nvPr/>
        </p:nvSpPr>
        <p:spPr>
          <a:xfrm xmlns:a="http://schemas.openxmlformats.org/drawingml/2006/main">
            <a:off x="2400300" y="43624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3" name="">
            <a:extLst xmlns:a="http://schemas.openxmlformats.org/drawingml/2006/main">
              <a:ext uri="{FF2B5EF4-FFF2-40B4-BE49-F238E27FC236}">
                <a16:creationId xmlns:a16="http://schemas.microsoft.com/office/drawing/2014/main" id="{A8173C1D-9D43-4C70-8FBA-F96B83723141}"/>
              </a:ext>
            </a:extLst>
          </p:cNvPr>
          <p:cNvSpPr>
            <a:spLocks xmlns:a="http://schemas.openxmlformats.org/drawingml/2006/main" noGrp="1"/>
          </p:cNvSpPr>
          <p:nvPr/>
        </p:nvSpPr>
        <p:spPr>
          <a:xfrm xmlns:a="http://schemas.openxmlformats.org/drawingml/2006/main">
            <a:off x="2886075" y="43338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4" name="">
            <a:extLst xmlns:a="http://schemas.openxmlformats.org/drawingml/2006/main">
              <a:ext uri="{FF2B5EF4-FFF2-40B4-BE49-F238E27FC236}">
                <a16:creationId xmlns:a16="http://schemas.microsoft.com/office/drawing/2014/main" id="{9CD82CFE-69E0-4C34-83C1-A9C900B7FFCC}"/>
              </a:ext>
            </a:extLst>
          </p:cNvPr>
          <p:cNvSpPr>
            <a:spLocks xmlns:a="http://schemas.openxmlformats.org/drawingml/2006/main" noGrp="1"/>
          </p:cNvSpPr>
          <p:nvPr/>
        </p:nvSpPr>
        <p:spPr>
          <a:xfrm xmlns:a="http://schemas.openxmlformats.org/drawingml/2006/main">
            <a:off x="3286125" y="43815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5" name="">
            <a:extLst xmlns:a="http://schemas.openxmlformats.org/drawingml/2006/main">
              <a:ext uri="{FF2B5EF4-FFF2-40B4-BE49-F238E27FC236}">
                <a16:creationId xmlns:a16="http://schemas.microsoft.com/office/drawing/2014/main" id="{573A2E79-3D24-4D4D-9309-F76530746D25}"/>
              </a:ext>
            </a:extLst>
          </p:cNvPr>
          <p:cNvSpPr>
            <a:spLocks xmlns:a="http://schemas.openxmlformats.org/drawingml/2006/main" noGrp="1"/>
          </p:cNvSpPr>
          <p:nvPr/>
        </p:nvSpPr>
        <p:spPr>
          <a:xfrm xmlns:a="http://schemas.openxmlformats.org/drawingml/2006/main">
            <a:off x="3686175" y="43529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6" name="">
            <a:extLst xmlns:a="http://schemas.openxmlformats.org/drawingml/2006/main">
              <a:ext uri="{FF2B5EF4-FFF2-40B4-BE49-F238E27FC236}">
                <a16:creationId xmlns:a16="http://schemas.microsoft.com/office/drawing/2014/main" id="{954E7A95-C2EC-4C34-B49C-235B699E32EF}"/>
              </a:ext>
            </a:extLst>
          </p:cNvPr>
          <p:cNvSpPr>
            <a:spLocks xmlns:a="http://schemas.openxmlformats.org/drawingml/2006/main" noGrp="1"/>
          </p:cNvSpPr>
          <p:nvPr/>
        </p:nvSpPr>
        <p:spPr>
          <a:xfrm xmlns:a="http://schemas.openxmlformats.org/drawingml/2006/main">
            <a:off x="4086225" y="43243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7" name="">
            <a:extLst xmlns:a="http://schemas.openxmlformats.org/drawingml/2006/main">
              <a:ext uri="{FF2B5EF4-FFF2-40B4-BE49-F238E27FC236}">
                <a16:creationId xmlns:a16="http://schemas.microsoft.com/office/drawing/2014/main" id="{8F556A75-F187-4EDC-AEBB-667417EAD9FD}"/>
              </a:ext>
            </a:extLst>
          </p:cNvPr>
          <p:cNvSpPr>
            <a:spLocks xmlns:a="http://schemas.openxmlformats.org/drawingml/2006/main" noGrp="1"/>
          </p:cNvSpPr>
          <p:nvPr/>
        </p:nvSpPr>
        <p:spPr>
          <a:xfrm xmlns:a="http://schemas.openxmlformats.org/drawingml/2006/main">
            <a:off x="4572000" y="43719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8" name="">
            <a:extLst xmlns:a="http://schemas.openxmlformats.org/drawingml/2006/main">
              <a:ext uri="{FF2B5EF4-FFF2-40B4-BE49-F238E27FC236}">
                <a16:creationId xmlns:a16="http://schemas.microsoft.com/office/drawing/2014/main" id="{C1C2FEE2-789D-4951-BA5B-CBAB4DD812BF}"/>
              </a:ext>
            </a:extLst>
          </p:cNvPr>
          <p:cNvSpPr>
            <a:spLocks xmlns:a="http://schemas.openxmlformats.org/drawingml/2006/main" noGrp="1"/>
          </p:cNvSpPr>
          <p:nvPr/>
        </p:nvSpPr>
        <p:spPr>
          <a:xfrm xmlns:a="http://schemas.openxmlformats.org/drawingml/2006/main">
            <a:off x="4972050" y="43434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29" name="">
            <a:extLst xmlns:a="http://schemas.openxmlformats.org/drawingml/2006/main">
              <a:ext uri="{FF2B5EF4-FFF2-40B4-BE49-F238E27FC236}">
                <a16:creationId xmlns:a16="http://schemas.microsoft.com/office/drawing/2014/main" id="{84909DB6-7D12-40E8-AFA8-5CD65FC42258}"/>
              </a:ext>
            </a:extLst>
          </p:cNvPr>
          <p:cNvSpPr>
            <a:spLocks xmlns:a="http://schemas.openxmlformats.org/drawingml/2006/main" noGrp="1"/>
          </p:cNvSpPr>
          <p:nvPr/>
        </p:nvSpPr>
        <p:spPr>
          <a:xfrm xmlns:a="http://schemas.openxmlformats.org/drawingml/2006/main">
            <a:off x="5372100" y="43910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0" name="">
            <a:extLst xmlns:a="http://schemas.openxmlformats.org/drawingml/2006/main">
              <a:ext uri="{FF2B5EF4-FFF2-40B4-BE49-F238E27FC236}">
                <a16:creationId xmlns:a16="http://schemas.microsoft.com/office/drawing/2014/main" id="{A64E30F1-5352-4DDF-8190-FAA3D303BFF1}"/>
              </a:ext>
            </a:extLst>
          </p:cNvPr>
          <p:cNvSpPr>
            <a:spLocks xmlns:a="http://schemas.openxmlformats.org/drawingml/2006/main" noGrp="1"/>
          </p:cNvSpPr>
          <p:nvPr/>
        </p:nvSpPr>
        <p:spPr>
          <a:xfrm xmlns:a="http://schemas.openxmlformats.org/drawingml/2006/main">
            <a:off x="5772150" y="43624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1" name="">
            <a:extLst xmlns:a="http://schemas.openxmlformats.org/drawingml/2006/main">
              <a:ext uri="{FF2B5EF4-FFF2-40B4-BE49-F238E27FC236}">
                <a16:creationId xmlns:a16="http://schemas.microsoft.com/office/drawing/2014/main" id="{AAA08B38-50CE-4663-A028-CD64FDFF1763}"/>
              </a:ext>
            </a:extLst>
          </p:cNvPr>
          <p:cNvSpPr>
            <a:spLocks xmlns:a="http://schemas.openxmlformats.org/drawingml/2006/main" noGrp="1"/>
          </p:cNvSpPr>
          <p:nvPr/>
        </p:nvSpPr>
        <p:spPr>
          <a:xfrm xmlns:a="http://schemas.openxmlformats.org/drawingml/2006/main">
            <a:off x="6172200" y="43338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2" name="">
            <a:extLst xmlns:a="http://schemas.openxmlformats.org/drawingml/2006/main">
              <a:ext uri="{FF2B5EF4-FFF2-40B4-BE49-F238E27FC236}">
                <a16:creationId xmlns:a16="http://schemas.microsoft.com/office/drawing/2014/main" id="{930BBCC4-0E18-4F46-9A72-8B57CF9B35B5}"/>
              </a:ext>
            </a:extLst>
          </p:cNvPr>
          <p:cNvSpPr>
            <a:spLocks xmlns:a="http://schemas.openxmlformats.org/drawingml/2006/main" noGrp="1"/>
          </p:cNvSpPr>
          <p:nvPr/>
        </p:nvSpPr>
        <p:spPr>
          <a:xfrm xmlns:a="http://schemas.openxmlformats.org/drawingml/2006/main">
            <a:off x="1466850" y="40481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3" name="">
            <a:extLst xmlns:a="http://schemas.openxmlformats.org/drawingml/2006/main">
              <a:ext uri="{FF2B5EF4-FFF2-40B4-BE49-F238E27FC236}">
                <a16:creationId xmlns:a16="http://schemas.microsoft.com/office/drawing/2014/main" id="{79292CC6-402B-4E4C-88E0-C1E681687353}"/>
              </a:ext>
            </a:extLst>
          </p:cNvPr>
          <p:cNvSpPr>
            <a:spLocks xmlns:a="http://schemas.openxmlformats.org/drawingml/2006/main" noGrp="1"/>
          </p:cNvSpPr>
          <p:nvPr/>
        </p:nvSpPr>
        <p:spPr>
          <a:xfrm xmlns:a="http://schemas.openxmlformats.org/drawingml/2006/main">
            <a:off x="1866900" y="40195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4" name="">
            <a:extLst xmlns:a="http://schemas.openxmlformats.org/drawingml/2006/main">
              <a:ext uri="{FF2B5EF4-FFF2-40B4-BE49-F238E27FC236}">
                <a16:creationId xmlns:a16="http://schemas.microsoft.com/office/drawing/2014/main" id="{9F26BEEA-EC73-4DB9-8D5D-441485FE2755}"/>
              </a:ext>
            </a:extLst>
          </p:cNvPr>
          <p:cNvSpPr>
            <a:spLocks xmlns:a="http://schemas.openxmlformats.org/drawingml/2006/main" noGrp="1"/>
          </p:cNvSpPr>
          <p:nvPr/>
        </p:nvSpPr>
        <p:spPr>
          <a:xfrm xmlns:a="http://schemas.openxmlformats.org/drawingml/2006/main">
            <a:off x="2266950" y="40671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5" name="">
            <a:extLst xmlns:a="http://schemas.openxmlformats.org/drawingml/2006/main">
              <a:ext uri="{FF2B5EF4-FFF2-40B4-BE49-F238E27FC236}">
                <a16:creationId xmlns:a16="http://schemas.microsoft.com/office/drawing/2014/main" id="{27F6A6F5-D826-400F-8E83-178BE65BCE9F}"/>
              </a:ext>
            </a:extLst>
          </p:cNvPr>
          <p:cNvSpPr>
            <a:spLocks xmlns:a="http://schemas.openxmlformats.org/drawingml/2006/main" noGrp="1"/>
          </p:cNvSpPr>
          <p:nvPr/>
        </p:nvSpPr>
        <p:spPr>
          <a:xfrm xmlns:a="http://schemas.openxmlformats.org/drawingml/2006/main">
            <a:off x="2667000" y="40386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6" name="">
            <a:extLst xmlns:a="http://schemas.openxmlformats.org/drawingml/2006/main">
              <a:ext uri="{FF2B5EF4-FFF2-40B4-BE49-F238E27FC236}">
                <a16:creationId xmlns:a16="http://schemas.microsoft.com/office/drawing/2014/main" id="{2ED4F8DC-6DA2-4FA6-85AA-C5229519E837}"/>
              </a:ext>
            </a:extLst>
          </p:cNvPr>
          <p:cNvSpPr>
            <a:spLocks xmlns:a="http://schemas.openxmlformats.org/drawingml/2006/main" noGrp="1"/>
          </p:cNvSpPr>
          <p:nvPr/>
        </p:nvSpPr>
        <p:spPr>
          <a:xfrm xmlns:a="http://schemas.openxmlformats.org/drawingml/2006/main">
            <a:off x="3067050" y="40100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7" name="">
            <a:extLst xmlns:a="http://schemas.openxmlformats.org/drawingml/2006/main">
              <a:ext uri="{FF2B5EF4-FFF2-40B4-BE49-F238E27FC236}">
                <a16:creationId xmlns:a16="http://schemas.microsoft.com/office/drawing/2014/main" id="{90071745-E6F6-4047-8114-AB663F0BFAB5}"/>
              </a:ext>
            </a:extLst>
          </p:cNvPr>
          <p:cNvSpPr>
            <a:spLocks xmlns:a="http://schemas.openxmlformats.org/drawingml/2006/main" noGrp="1"/>
          </p:cNvSpPr>
          <p:nvPr/>
        </p:nvSpPr>
        <p:spPr>
          <a:xfrm xmlns:a="http://schemas.openxmlformats.org/drawingml/2006/main">
            <a:off x="3552825" y="40576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8" name="">
            <a:extLst xmlns:a="http://schemas.openxmlformats.org/drawingml/2006/main">
              <a:ext uri="{FF2B5EF4-FFF2-40B4-BE49-F238E27FC236}">
                <a16:creationId xmlns:a16="http://schemas.microsoft.com/office/drawing/2014/main" id="{D2778B83-F8FD-40BA-9109-A28904E3D56F}"/>
              </a:ext>
            </a:extLst>
          </p:cNvPr>
          <p:cNvSpPr>
            <a:spLocks xmlns:a="http://schemas.openxmlformats.org/drawingml/2006/main" noGrp="1"/>
          </p:cNvSpPr>
          <p:nvPr/>
        </p:nvSpPr>
        <p:spPr>
          <a:xfrm xmlns:a="http://schemas.openxmlformats.org/drawingml/2006/main">
            <a:off x="3952875" y="40290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9" name="">
            <a:extLst xmlns:a="http://schemas.openxmlformats.org/drawingml/2006/main">
              <a:ext uri="{FF2B5EF4-FFF2-40B4-BE49-F238E27FC236}">
                <a16:creationId xmlns:a16="http://schemas.microsoft.com/office/drawing/2014/main" id="{39CA0897-43F8-463A-8AF2-3AD160A2AB0E}"/>
              </a:ext>
            </a:extLst>
          </p:cNvPr>
          <p:cNvSpPr>
            <a:spLocks xmlns:a="http://schemas.openxmlformats.org/drawingml/2006/main" noGrp="1"/>
          </p:cNvSpPr>
          <p:nvPr/>
        </p:nvSpPr>
        <p:spPr>
          <a:xfrm xmlns:a="http://schemas.openxmlformats.org/drawingml/2006/main">
            <a:off x="4352925" y="40005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0" name="">
            <a:extLst xmlns:a="http://schemas.openxmlformats.org/drawingml/2006/main">
              <a:ext uri="{FF2B5EF4-FFF2-40B4-BE49-F238E27FC236}">
                <a16:creationId xmlns:a16="http://schemas.microsoft.com/office/drawing/2014/main" id="{DB459ABB-6660-4AB1-81CC-361A7A9403E9}"/>
              </a:ext>
            </a:extLst>
          </p:cNvPr>
          <p:cNvSpPr>
            <a:spLocks xmlns:a="http://schemas.openxmlformats.org/drawingml/2006/main" noGrp="1"/>
          </p:cNvSpPr>
          <p:nvPr/>
        </p:nvSpPr>
        <p:spPr>
          <a:xfrm xmlns:a="http://schemas.openxmlformats.org/drawingml/2006/main">
            <a:off x="4752975" y="40481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1" name="">
            <a:extLst xmlns:a="http://schemas.openxmlformats.org/drawingml/2006/main">
              <a:ext uri="{FF2B5EF4-FFF2-40B4-BE49-F238E27FC236}">
                <a16:creationId xmlns:a16="http://schemas.microsoft.com/office/drawing/2014/main" id="{2F207C26-F9A0-403B-99DD-8C37C4944C96}"/>
              </a:ext>
            </a:extLst>
          </p:cNvPr>
          <p:cNvSpPr>
            <a:spLocks xmlns:a="http://schemas.openxmlformats.org/drawingml/2006/main" noGrp="1"/>
          </p:cNvSpPr>
          <p:nvPr/>
        </p:nvSpPr>
        <p:spPr>
          <a:xfrm xmlns:a="http://schemas.openxmlformats.org/drawingml/2006/main">
            <a:off x="5238750" y="40195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2" name="">
            <a:extLst xmlns:a="http://schemas.openxmlformats.org/drawingml/2006/main">
              <a:ext uri="{FF2B5EF4-FFF2-40B4-BE49-F238E27FC236}">
                <a16:creationId xmlns:a16="http://schemas.microsoft.com/office/drawing/2014/main" id="{9BB91BF8-0270-448C-8994-267000CBA9B3}"/>
              </a:ext>
            </a:extLst>
          </p:cNvPr>
          <p:cNvSpPr>
            <a:spLocks xmlns:a="http://schemas.openxmlformats.org/drawingml/2006/main" noGrp="1"/>
          </p:cNvSpPr>
          <p:nvPr/>
        </p:nvSpPr>
        <p:spPr>
          <a:xfrm xmlns:a="http://schemas.openxmlformats.org/drawingml/2006/main">
            <a:off x="5638800" y="40671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3" name="">
            <a:extLst xmlns:a="http://schemas.openxmlformats.org/drawingml/2006/main">
              <a:ext uri="{FF2B5EF4-FFF2-40B4-BE49-F238E27FC236}">
                <a16:creationId xmlns:a16="http://schemas.microsoft.com/office/drawing/2014/main" id="{610E0FC2-6C25-46CE-A52C-CEF6D1A790C5}"/>
              </a:ext>
            </a:extLst>
          </p:cNvPr>
          <p:cNvSpPr>
            <a:spLocks xmlns:a="http://schemas.openxmlformats.org/drawingml/2006/main" noGrp="1"/>
          </p:cNvSpPr>
          <p:nvPr/>
        </p:nvSpPr>
        <p:spPr>
          <a:xfrm xmlns:a="http://schemas.openxmlformats.org/drawingml/2006/main">
            <a:off x="6038850" y="40386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4" name="">
            <a:extLst xmlns:a="http://schemas.openxmlformats.org/drawingml/2006/main">
              <a:ext uri="{FF2B5EF4-FFF2-40B4-BE49-F238E27FC236}">
                <a16:creationId xmlns:a16="http://schemas.microsoft.com/office/drawing/2014/main" id="{49C0D86B-8B19-4F3F-942E-E567C11663AF}"/>
              </a:ext>
            </a:extLst>
          </p:cNvPr>
          <p:cNvSpPr>
            <a:spLocks xmlns:a="http://schemas.openxmlformats.org/drawingml/2006/main" noGrp="1"/>
          </p:cNvSpPr>
          <p:nvPr/>
        </p:nvSpPr>
        <p:spPr>
          <a:xfrm xmlns:a="http://schemas.openxmlformats.org/drawingml/2006/main">
            <a:off x="1590675" y="36766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5" name="">
            <a:extLst xmlns:a="http://schemas.openxmlformats.org/drawingml/2006/main">
              <a:ext uri="{FF2B5EF4-FFF2-40B4-BE49-F238E27FC236}">
                <a16:creationId xmlns:a16="http://schemas.microsoft.com/office/drawing/2014/main" id="{380E30D1-0550-4431-88EC-11053F5673DE}"/>
              </a:ext>
            </a:extLst>
          </p:cNvPr>
          <p:cNvSpPr>
            <a:spLocks xmlns:a="http://schemas.openxmlformats.org/drawingml/2006/main" noGrp="1"/>
          </p:cNvSpPr>
          <p:nvPr/>
        </p:nvSpPr>
        <p:spPr>
          <a:xfrm xmlns:a="http://schemas.openxmlformats.org/drawingml/2006/main">
            <a:off x="1990725" y="37242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6" name="">
            <a:extLst xmlns:a="http://schemas.openxmlformats.org/drawingml/2006/main">
              <a:ext uri="{FF2B5EF4-FFF2-40B4-BE49-F238E27FC236}">
                <a16:creationId xmlns:a16="http://schemas.microsoft.com/office/drawing/2014/main" id="{FDDA2DEB-E7C5-446F-8B75-C8E1CE7F9138}"/>
              </a:ext>
            </a:extLst>
          </p:cNvPr>
          <p:cNvSpPr>
            <a:spLocks xmlns:a="http://schemas.openxmlformats.org/drawingml/2006/main" noGrp="1"/>
          </p:cNvSpPr>
          <p:nvPr/>
        </p:nvSpPr>
        <p:spPr>
          <a:xfrm xmlns:a="http://schemas.openxmlformats.org/drawingml/2006/main">
            <a:off x="2476500" y="36957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7" name="">
            <a:extLst xmlns:a="http://schemas.openxmlformats.org/drawingml/2006/main">
              <a:ext uri="{FF2B5EF4-FFF2-40B4-BE49-F238E27FC236}">
                <a16:creationId xmlns:a16="http://schemas.microsoft.com/office/drawing/2014/main" id="{47E82B36-63BC-4ACA-A4C9-4D2DE41D72F0}"/>
              </a:ext>
            </a:extLst>
          </p:cNvPr>
          <p:cNvSpPr>
            <a:spLocks xmlns:a="http://schemas.openxmlformats.org/drawingml/2006/main" noGrp="1"/>
          </p:cNvSpPr>
          <p:nvPr/>
        </p:nvSpPr>
        <p:spPr>
          <a:xfrm xmlns:a="http://schemas.openxmlformats.org/drawingml/2006/main">
            <a:off x="2876550" y="37433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8" name="">
            <a:extLst xmlns:a="http://schemas.openxmlformats.org/drawingml/2006/main">
              <a:ext uri="{FF2B5EF4-FFF2-40B4-BE49-F238E27FC236}">
                <a16:creationId xmlns:a16="http://schemas.microsoft.com/office/drawing/2014/main" id="{3A94FAE6-2C13-4B91-B023-FBADDEA9320E}"/>
              </a:ext>
            </a:extLst>
          </p:cNvPr>
          <p:cNvSpPr>
            <a:spLocks xmlns:a="http://schemas.openxmlformats.org/drawingml/2006/main" noGrp="1"/>
          </p:cNvSpPr>
          <p:nvPr/>
        </p:nvSpPr>
        <p:spPr>
          <a:xfrm xmlns:a="http://schemas.openxmlformats.org/drawingml/2006/main">
            <a:off x="3276600" y="37147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49" name="">
            <a:extLst xmlns:a="http://schemas.openxmlformats.org/drawingml/2006/main">
              <a:ext uri="{FF2B5EF4-FFF2-40B4-BE49-F238E27FC236}">
                <a16:creationId xmlns:a16="http://schemas.microsoft.com/office/drawing/2014/main" id="{F502DBE2-7193-4A22-B4E9-23D010CAD739}"/>
              </a:ext>
            </a:extLst>
          </p:cNvPr>
          <p:cNvSpPr>
            <a:spLocks xmlns:a="http://schemas.openxmlformats.org/drawingml/2006/main" noGrp="1"/>
          </p:cNvSpPr>
          <p:nvPr/>
        </p:nvSpPr>
        <p:spPr>
          <a:xfrm xmlns:a="http://schemas.openxmlformats.org/drawingml/2006/main">
            <a:off x="3676650" y="36861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0" name="">
            <a:extLst xmlns:a="http://schemas.openxmlformats.org/drawingml/2006/main">
              <a:ext uri="{FF2B5EF4-FFF2-40B4-BE49-F238E27FC236}">
                <a16:creationId xmlns:a16="http://schemas.microsoft.com/office/drawing/2014/main" id="{3370CC77-323F-4A2A-88A4-EB8A1C4069EB}"/>
              </a:ext>
            </a:extLst>
          </p:cNvPr>
          <p:cNvSpPr>
            <a:spLocks xmlns:a="http://schemas.openxmlformats.org/drawingml/2006/main" noGrp="1"/>
          </p:cNvSpPr>
          <p:nvPr/>
        </p:nvSpPr>
        <p:spPr>
          <a:xfrm xmlns:a="http://schemas.openxmlformats.org/drawingml/2006/main">
            <a:off x="4076700" y="37338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1" name="">
            <a:extLst xmlns:a="http://schemas.openxmlformats.org/drawingml/2006/main">
              <a:ext uri="{FF2B5EF4-FFF2-40B4-BE49-F238E27FC236}">
                <a16:creationId xmlns:a16="http://schemas.microsoft.com/office/drawing/2014/main" id="{70ECEBE9-F401-4053-A4D3-55480BEA7941}"/>
              </a:ext>
            </a:extLst>
          </p:cNvPr>
          <p:cNvSpPr>
            <a:spLocks xmlns:a="http://schemas.openxmlformats.org/drawingml/2006/main" noGrp="1"/>
          </p:cNvSpPr>
          <p:nvPr/>
        </p:nvSpPr>
        <p:spPr>
          <a:xfrm xmlns:a="http://schemas.openxmlformats.org/drawingml/2006/main">
            <a:off x="4562475" y="37052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2" name="">
            <a:extLst xmlns:a="http://schemas.openxmlformats.org/drawingml/2006/main">
              <a:ext uri="{FF2B5EF4-FFF2-40B4-BE49-F238E27FC236}">
                <a16:creationId xmlns:a16="http://schemas.microsoft.com/office/drawing/2014/main" id="{F2E8AA58-FF0B-4643-86F1-3D0629513DF1}"/>
              </a:ext>
            </a:extLst>
          </p:cNvPr>
          <p:cNvSpPr>
            <a:spLocks xmlns:a="http://schemas.openxmlformats.org/drawingml/2006/main" noGrp="1"/>
          </p:cNvSpPr>
          <p:nvPr/>
        </p:nvSpPr>
        <p:spPr>
          <a:xfrm xmlns:a="http://schemas.openxmlformats.org/drawingml/2006/main">
            <a:off x="4962525" y="36766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3" name="">
            <a:extLst xmlns:a="http://schemas.openxmlformats.org/drawingml/2006/main">
              <a:ext uri="{FF2B5EF4-FFF2-40B4-BE49-F238E27FC236}">
                <a16:creationId xmlns:a16="http://schemas.microsoft.com/office/drawing/2014/main" id="{FED25BED-6D76-4BC8-87A2-2CE7DBAF4048}"/>
              </a:ext>
            </a:extLst>
          </p:cNvPr>
          <p:cNvSpPr>
            <a:spLocks xmlns:a="http://schemas.openxmlformats.org/drawingml/2006/main" noGrp="1"/>
          </p:cNvSpPr>
          <p:nvPr/>
        </p:nvSpPr>
        <p:spPr>
          <a:xfrm xmlns:a="http://schemas.openxmlformats.org/drawingml/2006/main">
            <a:off x="5362575" y="37242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4" name="">
            <a:extLst xmlns:a="http://schemas.openxmlformats.org/drawingml/2006/main">
              <a:ext uri="{FF2B5EF4-FFF2-40B4-BE49-F238E27FC236}">
                <a16:creationId xmlns:a16="http://schemas.microsoft.com/office/drawing/2014/main" id="{F13E177C-876B-4B2B-9A87-22C211B2CB9C}"/>
              </a:ext>
            </a:extLst>
          </p:cNvPr>
          <p:cNvSpPr>
            <a:spLocks xmlns:a="http://schemas.openxmlformats.org/drawingml/2006/main" noGrp="1"/>
          </p:cNvSpPr>
          <p:nvPr/>
        </p:nvSpPr>
        <p:spPr>
          <a:xfrm xmlns:a="http://schemas.openxmlformats.org/drawingml/2006/main">
            <a:off x="5762625" y="36957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5" name="">
            <a:extLst xmlns:a="http://schemas.openxmlformats.org/drawingml/2006/main">
              <a:ext uri="{FF2B5EF4-FFF2-40B4-BE49-F238E27FC236}">
                <a16:creationId xmlns:a16="http://schemas.microsoft.com/office/drawing/2014/main" id="{36AF2686-27D1-4451-A9FC-6146328B76B8}"/>
              </a:ext>
            </a:extLst>
          </p:cNvPr>
          <p:cNvSpPr>
            <a:spLocks xmlns:a="http://schemas.openxmlformats.org/drawingml/2006/main" noGrp="1"/>
          </p:cNvSpPr>
          <p:nvPr/>
        </p:nvSpPr>
        <p:spPr>
          <a:xfrm xmlns:a="http://schemas.openxmlformats.org/drawingml/2006/main">
            <a:off x="6248400" y="37433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6" name="">
            <a:extLst xmlns:a="http://schemas.openxmlformats.org/drawingml/2006/main">
              <a:ext uri="{FF2B5EF4-FFF2-40B4-BE49-F238E27FC236}">
                <a16:creationId xmlns:a16="http://schemas.microsoft.com/office/drawing/2014/main" id="{8683E9EF-0079-46B3-AD99-710D9BC179A1}"/>
              </a:ext>
            </a:extLst>
          </p:cNvPr>
          <p:cNvSpPr>
            <a:spLocks xmlns:a="http://schemas.openxmlformats.org/drawingml/2006/main" noGrp="1"/>
          </p:cNvSpPr>
          <p:nvPr/>
        </p:nvSpPr>
        <p:spPr>
          <a:xfrm xmlns:a="http://schemas.openxmlformats.org/drawingml/2006/main">
            <a:off x="1457325" y="33813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7" name="">
            <a:extLst xmlns:a="http://schemas.openxmlformats.org/drawingml/2006/main">
              <a:ext uri="{FF2B5EF4-FFF2-40B4-BE49-F238E27FC236}">
                <a16:creationId xmlns:a16="http://schemas.microsoft.com/office/drawing/2014/main" id="{C2E90B10-5807-4570-9AEA-7876CFD818D5}"/>
              </a:ext>
            </a:extLst>
          </p:cNvPr>
          <p:cNvSpPr>
            <a:spLocks xmlns:a="http://schemas.openxmlformats.org/drawingml/2006/main" noGrp="1"/>
          </p:cNvSpPr>
          <p:nvPr/>
        </p:nvSpPr>
        <p:spPr>
          <a:xfrm xmlns:a="http://schemas.openxmlformats.org/drawingml/2006/main">
            <a:off x="1857375" y="33528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8" name="">
            <a:extLst xmlns:a="http://schemas.openxmlformats.org/drawingml/2006/main">
              <a:ext uri="{FF2B5EF4-FFF2-40B4-BE49-F238E27FC236}">
                <a16:creationId xmlns:a16="http://schemas.microsoft.com/office/drawing/2014/main" id="{D4CC78F3-0EDF-4161-8C2D-3A4A0F18147B}"/>
              </a:ext>
            </a:extLst>
          </p:cNvPr>
          <p:cNvSpPr>
            <a:spLocks xmlns:a="http://schemas.openxmlformats.org/drawingml/2006/main" noGrp="1"/>
          </p:cNvSpPr>
          <p:nvPr/>
        </p:nvSpPr>
        <p:spPr>
          <a:xfrm xmlns:a="http://schemas.openxmlformats.org/drawingml/2006/main">
            <a:off x="2257425" y="34004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59" name="">
            <a:extLst xmlns:a="http://schemas.openxmlformats.org/drawingml/2006/main">
              <a:ext uri="{FF2B5EF4-FFF2-40B4-BE49-F238E27FC236}">
                <a16:creationId xmlns:a16="http://schemas.microsoft.com/office/drawing/2014/main" id="{07355EE0-CC05-4936-8AE1-1662076315E0}"/>
              </a:ext>
            </a:extLst>
          </p:cNvPr>
          <p:cNvSpPr>
            <a:spLocks xmlns:a="http://schemas.openxmlformats.org/drawingml/2006/main" noGrp="1"/>
          </p:cNvSpPr>
          <p:nvPr/>
        </p:nvSpPr>
        <p:spPr>
          <a:xfrm xmlns:a="http://schemas.openxmlformats.org/drawingml/2006/main">
            <a:off x="2657475" y="33718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0" name="">
            <a:extLst xmlns:a="http://schemas.openxmlformats.org/drawingml/2006/main">
              <a:ext uri="{FF2B5EF4-FFF2-40B4-BE49-F238E27FC236}">
                <a16:creationId xmlns:a16="http://schemas.microsoft.com/office/drawing/2014/main" id="{43EE2935-E76C-481C-B5FE-4F3BBB2FA3E3}"/>
              </a:ext>
            </a:extLst>
          </p:cNvPr>
          <p:cNvSpPr>
            <a:spLocks xmlns:a="http://schemas.openxmlformats.org/drawingml/2006/main" noGrp="1"/>
          </p:cNvSpPr>
          <p:nvPr/>
        </p:nvSpPr>
        <p:spPr>
          <a:xfrm xmlns:a="http://schemas.openxmlformats.org/drawingml/2006/main">
            <a:off x="3143250" y="34194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1" name="">
            <a:extLst xmlns:a="http://schemas.openxmlformats.org/drawingml/2006/main">
              <a:ext uri="{FF2B5EF4-FFF2-40B4-BE49-F238E27FC236}">
                <a16:creationId xmlns:a16="http://schemas.microsoft.com/office/drawing/2014/main" id="{3025A607-C4C9-493D-A755-374522D3215E}"/>
              </a:ext>
            </a:extLst>
          </p:cNvPr>
          <p:cNvSpPr>
            <a:spLocks xmlns:a="http://schemas.openxmlformats.org/drawingml/2006/main" noGrp="1"/>
          </p:cNvSpPr>
          <p:nvPr/>
        </p:nvSpPr>
        <p:spPr>
          <a:xfrm xmlns:a="http://schemas.openxmlformats.org/drawingml/2006/main">
            <a:off x="3543300" y="33909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2" name="">
            <a:extLst xmlns:a="http://schemas.openxmlformats.org/drawingml/2006/main">
              <a:ext uri="{FF2B5EF4-FFF2-40B4-BE49-F238E27FC236}">
                <a16:creationId xmlns:a16="http://schemas.microsoft.com/office/drawing/2014/main" id="{DE4F38FF-7FF5-4F08-A477-C380443CAAC3}"/>
              </a:ext>
            </a:extLst>
          </p:cNvPr>
          <p:cNvSpPr>
            <a:spLocks xmlns:a="http://schemas.openxmlformats.org/drawingml/2006/main" noGrp="1"/>
          </p:cNvSpPr>
          <p:nvPr/>
        </p:nvSpPr>
        <p:spPr>
          <a:xfrm xmlns:a="http://schemas.openxmlformats.org/drawingml/2006/main">
            <a:off x="3943350" y="33623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3" name="">
            <a:extLst xmlns:a="http://schemas.openxmlformats.org/drawingml/2006/main">
              <a:ext uri="{FF2B5EF4-FFF2-40B4-BE49-F238E27FC236}">
                <a16:creationId xmlns:a16="http://schemas.microsoft.com/office/drawing/2014/main" id="{AAC9987E-788B-4FC5-A89A-D5ED9CA640F2}"/>
              </a:ext>
            </a:extLst>
          </p:cNvPr>
          <p:cNvSpPr>
            <a:spLocks xmlns:a="http://schemas.openxmlformats.org/drawingml/2006/main" noGrp="1"/>
          </p:cNvSpPr>
          <p:nvPr/>
        </p:nvSpPr>
        <p:spPr>
          <a:xfrm xmlns:a="http://schemas.openxmlformats.org/drawingml/2006/main">
            <a:off x="4343400" y="34099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4" name="">
            <a:extLst xmlns:a="http://schemas.openxmlformats.org/drawingml/2006/main">
              <a:ext uri="{FF2B5EF4-FFF2-40B4-BE49-F238E27FC236}">
                <a16:creationId xmlns:a16="http://schemas.microsoft.com/office/drawing/2014/main" id="{D127B094-D387-475D-A0EF-4284059FC868}"/>
              </a:ext>
            </a:extLst>
          </p:cNvPr>
          <p:cNvSpPr>
            <a:spLocks xmlns:a="http://schemas.openxmlformats.org/drawingml/2006/main" noGrp="1"/>
          </p:cNvSpPr>
          <p:nvPr/>
        </p:nvSpPr>
        <p:spPr>
          <a:xfrm xmlns:a="http://schemas.openxmlformats.org/drawingml/2006/main">
            <a:off x="4743450" y="338137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5" name="">
            <a:extLst xmlns:a="http://schemas.openxmlformats.org/drawingml/2006/main">
              <a:ext uri="{FF2B5EF4-FFF2-40B4-BE49-F238E27FC236}">
                <a16:creationId xmlns:a16="http://schemas.microsoft.com/office/drawing/2014/main" id="{2B9AB043-1F04-46AF-88E8-07FB1608DB7C}"/>
              </a:ext>
            </a:extLst>
          </p:cNvPr>
          <p:cNvSpPr>
            <a:spLocks xmlns:a="http://schemas.openxmlformats.org/drawingml/2006/main" noGrp="1"/>
          </p:cNvSpPr>
          <p:nvPr/>
        </p:nvSpPr>
        <p:spPr>
          <a:xfrm xmlns:a="http://schemas.openxmlformats.org/drawingml/2006/main">
            <a:off x="5229225" y="335280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6" name="">
            <a:extLst xmlns:a="http://schemas.openxmlformats.org/drawingml/2006/main">
              <a:ext uri="{FF2B5EF4-FFF2-40B4-BE49-F238E27FC236}">
                <a16:creationId xmlns:a16="http://schemas.microsoft.com/office/drawing/2014/main" id="{4F347E27-E7CB-48E9-9760-1E5020C0A8CA}"/>
              </a:ext>
            </a:extLst>
          </p:cNvPr>
          <p:cNvSpPr>
            <a:spLocks xmlns:a="http://schemas.openxmlformats.org/drawingml/2006/main" noGrp="1"/>
          </p:cNvSpPr>
          <p:nvPr/>
        </p:nvSpPr>
        <p:spPr>
          <a:xfrm xmlns:a="http://schemas.openxmlformats.org/drawingml/2006/main">
            <a:off x="5629275" y="3400425"/>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7" name="">
            <a:extLst xmlns:a="http://schemas.openxmlformats.org/drawingml/2006/main">
              <a:ext uri="{FF2B5EF4-FFF2-40B4-BE49-F238E27FC236}">
                <a16:creationId xmlns:a16="http://schemas.microsoft.com/office/drawing/2014/main" id="{2404C1FE-F15C-49A8-B490-DF4260446E87}"/>
              </a:ext>
            </a:extLst>
          </p:cNvPr>
          <p:cNvSpPr>
            <a:spLocks xmlns:a="http://schemas.openxmlformats.org/drawingml/2006/main" noGrp="1"/>
          </p:cNvSpPr>
          <p:nvPr/>
        </p:nvSpPr>
        <p:spPr>
          <a:xfrm xmlns:a="http://schemas.openxmlformats.org/drawingml/2006/main">
            <a:off x="6029325" y="3371850"/>
            <a:ext cx="285750" cy="2857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68" name="">
            <a:extLst xmlns:a="http://schemas.openxmlformats.org/drawingml/2006/main">
              <a:ext uri="{FF2B5EF4-FFF2-40B4-BE49-F238E27FC236}">
                <a16:creationId xmlns:a16="http://schemas.microsoft.com/office/drawing/2014/main" id="{23EC5D58-B6AF-445A-872F-BC23AEF07263}"/>
              </a:ext>
            </a:extLst>
          </p:cNvPr>
          <p:cNvSpPr>
            <a:spLocks xmlns:a="http://schemas.openxmlformats.org/drawingml/2006/main" noGrp="1"/>
          </p:cNvSpPr>
          <p:nvPr/>
        </p:nvSpPr>
        <p:spPr>
          <a:xfrm xmlns:a="http://schemas.openxmlformats.org/drawingml/2006/main">
            <a:off x="1581150" y="308610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69" name="">
            <a:extLst xmlns:a="http://schemas.openxmlformats.org/drawingml/2006/main">
              <a:ext uri="{FF2B5EF4-FFF2-40B4-BE49-F238E27FC236}">
                <a16:creationId xmlns:a16="http://schemas.microsoft.com/office/drawing/2014/main" id="{454A1165-E4C0-4E7E-9774-E521232E9D67}"/>
              </a:ext>
            </a:extLst>
          </p:cNvPr>
          <p:cNvSpPr>
            <a:spLocks xmlns:a="http://schemas.openxmlformats.org/drawingml/2006/main" noGrp="1"/>
          </p:cNvSpPr>
          <p:nvPr/>
        </p:nvSpPr>
        <p:spPr>
          <a:xfrm xmlns:a="http://schemas.openxmlformats.org/drawingml/2006/main">
            <a:off x="1981200" y="305752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0" name="">
            <a:extLst xmlns:a="http://schemas.openxmlformats.org/drawingml/2006/main">
              <a:ext uri="{FF2B5EF4-FFF2-40B4-BE49-F238E27FC236}">
                <a16:creationId xmlns:a16="http://schemas.microsoft.com/office/drawing/2014/main" id="{D396676D-7BBE-4240-B4DD-DA042B5CAACA}"/>
              </a:ext>
            </a:extLst>
          </p:cNvPr>
          <p:cNvSpPr>
            <a:spLocks xmlns:a="http://schemas.openxmlformats.org/drawingml/2006/main" noGrp="1"/>
          </p:cNvSpPr>
          <p:nvPr/>
        </p:nvSpPr>
        <p:spPr>
          <a:xfrm xmlns:a="http://schemas.openxmlformats.org/drawingml/2006/main">
            <a:off x="2466975" y="302895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1" name="">
            <a:extLst xmlns:a="http://schemas.openxmlformats.org/drawingml/2006/main">
              <a:ext uri="{FF2B5EF4-FFF2-40B4-BE49-F238E27FC236}">
                <a16:creationId xmlns:a16="http://schemas.microsoft.com/office/drawing/2014/main" id="{DED38D6F-612C-4917-8345-8393A1C0D258}"/>
              </a:ext>
            </a:extLst>
          </p:cNvPr>
          <p:cNvSpPr>
            <a:spLocks xmlns:a="http://schemas.openxmlformats.org/drawingml/2006/main" noGrp="1"/>
          </p:cNvSpPr>
          <p:nvPr/>
        </p:nvSpPr>
        <p:spPr>
          <a:xfrm xmlns:a="http://schemas.openxmlformats.org/drawingml/2006/main">
            <a:off x="2867025" y="307657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2" name="">
            <a:extLst xmlns:a="http://schemas.openxmlformats.org/drawingml/2006/main">
              <a:ext uri="{FF2B5EF4-FFF2-40B4-BE49-F238E27FC236}">
                <a16:creationId xmlns:a16="http://schemas.microsoft.com/office/drawing/2014/main" id="{4D0027EE-E3A1-4E72-BE3A-B159FD81039E}"/>
              </a:ext>
            </a:extLst>
          </p:cNvPr>
          <p:cNvSpPr>
            <a:spLocks xmlns:a="http://schemas.openxmlformats.org/drawingml/2006/main" noGrp="1"/>
          </p:cNvSpPr>
          <p:nvPr/>
        </p:nvSpPr>
        <p:spPr>
          <a:xfrm xmlns:a="http://schemas.openxmlformats.org/drawingml/2006/main">
            <a:off x="3267075" y="304800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3" name="">
            <a:extLst xmlns:a="http://schemas.openxmlformats.org/drawingml/2006/main">
              <a:ext uri="{FF2B5EF4-FFF2-40B4-BE49-F238E27FC236}">
                <a16:creationId xmlns:a16="http://schemas.microsoft.com/office/drawing/2014/main" id="{595A01AE-BBD8-4C4E-BB65-724802BE880D}"/>
              </a:ext>
            </a:extLst>
          </p:cNvPr>
          <p:cNvSpPr>
            <a:spLocks xmlns:a="http://schemas.openxmlformats.org/drawingml/2006/main" noGrp="1"/>
          </p:cNvSpPr>
          <p:nvPr/>
        </p:nvSpPr>
        <p:spPr>
          <a:xfrm xmlns:a="http://schemas.openxmlformats.org/drawingml/2006/main">
            <a:off x="3667125" y="309562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4" name="">
            <a:extLst xmlns:a="http://schemas.openxmlformats.org/drawingml/2006/main">
              <a:ext uri="{FF2B5EF4-FFF2-40B4-BE49-F238E27FC236}">
                <a16:creationId xmlns:a16="http://schemas.microsoft.com/office/drawing/2014/main" id="{AE838D8F-C2E2-4D00-BC8E-22014628A352}"/>
              </a:ext>
            </a:extLst>
          </p:cNvPr>
          <p:cNvSpPr>
            <a:spLocks xmlns:a="http://schemas.openxmlformats.org/drawingml/2006/main" noGrp="1"/>
          </p:cNvSpPr>
          <p:nvPr/>
        </p:nvSpPr>
        <p:spPr>
          <a:xfrm xmlns:a="http://schemas.openxmlformats.org/drawingml/2006/main">
            <a:off x="4152900" y="306705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5" name="">
            <a:extLst xmlns:a="http://schemas.openxmlformats.org/drawingml/2006/main">
              <a:ext uri="{FF2B5EF4-FFF2-40B4-BE49-F238E27FC236}">
                <a16:creationId xmlns:a16="http://schemas.microsoft.com/office/drawing/2014/main" id="{83FE4A16-ABCC-4296-81A3-BB6B84FAF84D}"/>
              </a:ext>
            </a:extLst>
          </p:cNvPr>
          <p:cNvSpPr>
            <a:spLocks xmlns:a="http://schemas.openxmlformats.org/drawingml/2006/main" noGrp="1"/>
          </p:cNvSpPr>
          <p:nvPr/>
        </p:nvSpPr>
        <p:spPr>
          <a:xfrm xmlns:a="http://schemas.openxmlformats.org/drawingml/2006/main">
            <a:off x="4552950" y="303847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6" name="">
            <a:extLst xmlns:a="http://schemas.openxmlformats.org/drawingml/2006/main">
              <a:ext uri="{FF2B5EF4-FFF2-40B4-BE49-F238E27FC236}">
                <a16:creationId xmlns:a16="http://schemas.microsoft.com/office/drawing/2014/main" id="{922EE277-5DF2-4D44-B811-B311E98E65BD}"/>
              </a:ext>
            </a:extLst>
          </p:cNvPr>
          <p:cNvSpPr>
            <a:spLocks xmlns:a="http://schemas.openxmlformats.org/drawingml/2006/main" noGrp="1"/>
          </p:cNvSpPr>
          <p:nvPr/>
        </p:nvSpPr>
        <p:spPr>
          <a:xfrm xmlns:a="http://schemas.openxmlformats.org/drawingml/2006/main">
            <a:off x="4953000" y="308610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7" name="">
            <a:extLst xmlns:a="http://schemas.openxmlformats.org/drawingml/2006/main">
              <a:ext uri="{FF2B5EF4-FFF2-40B4-BE49-F238E27FC236}">
                <a16:creationId xmlns:a16="http://schemas.microsoft.com/office/drawing/2014/main" id="{07C89E3C-64EF-4582-B684-EB41A02DBB09}"/>
              </a:ext>
            </a:extLst>
          </p:cNvPr>
          <p:cNvSpPr>
            <a:spLocks xmlns:a="http://schemas.openxmlformats.org/drawingml/2006/main" noGrp="1"/>
          </p:cNvSpPr>
          <p:nvPr/>
        </p:nvSpPr>
        <p:spPr>
          <a:xfrm xmlns:a="http://schemas.openxmlformats.org/drawingml/2006/main">
            <a:off x="5353050" y="305752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8" name="">
            <a:extLst xmlns:a="http://schemas.openxmlformats.org/drawingml/2006/main">
              <a:ext uri="{FF2B5EF4-FFF2-40B4-BE49-F238E27FC236}">
                <a16:creationId xmlns:a16="http://schemas.microsoft.com/office/drawing/2014/main" id="{04B6275B-F5B2-458B-A556-3208617B0B2B}"/>
              </a:ext>
            </a:extLst>
          </p:cNvPr>
          <p:cNvSpPr>
            <a:spLocks xmlns:a="http://schemas.openxmlformats.org/drawingml/2006/main" noGrp="1"/>
          </p:cNvSpPr>
          <p:nvPr/>
        </p:nvSpPr>
        <p:spPr>
          <a:xfrm xmlns:a="http://schemas.openxmlformats.org/drawingml/2006/main">
            <a:off x="5753100" y="302895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79" name="">
            <a:extLst xmlns:a="http://schemas.openxmlformats.org/drawingml/2006/main">
              <a:ext uri="{FF2B5EF4-FFF2-40B4-BE49-F238E27FC236}">
                <a16:creationId xmlns:a16="http://schemas.microsoft.com/office/drawing/2014/main" id="{03625AD0-EC8A-4409-8FE9-22542114429A}"/>
              </a:ext>
            </a:extLst>
          </p:cNvPr>
          <p:cNvSpPr>
            <a:spLocks xmlns:a="http://schemas.openxmlformats.org/drawingml/2006/main" noGrp="1"/>
          </p:cNvSpPr>
          <p:nvPr/>
        </p:nvSpPr>
        <p:spPr>
          <a:xfrm xmlns:a="http://schemas.openxmlformats.org/drawingml/2006/main">
            <a:off x="6238875" y="307657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0" name="">
            <a:extLst xmlns:a="http://schemas.openxmlformats.org/drawingml/2006/main">
              <a:ext uri="{FF2B5EF4-FFF2-40B4-BE49-F238E27FC236}">
                <a16:creationId xmlns:a16="http://schemas.microsoft.com/office/drawing/2014/main" id="{C4A072AF-D97F-40C1-848A-2C9D0E8F61A6}"/>
              </a:ext>
            </a:extLst>
          </p:cNvPr>
          <p:cNvSpPr>
            <a:spLocks xmlns:a="http://schemas.openxmlformats.org/drawingml/2006/main" noGrp="1"/>
          </p:cNvSpPr>
          <p:nvPr/>
        </p:nvSpPr>
        <p:spPr>
          <a:xfrm xmlns:a="http://schemas.openxmlformats.org/drawingml/2006/main">
            <a:off x="1447800" y="271462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1" name="">
            <a:extLst xmlns:a="http://schemas.openxmlformats.org/drawingml/2006/main">
              <a:ext uri="{FF2B5EF4-FFF2-40B4-BE49-F238E27FC236}">
                <a16:creationId xmlns:a16="http://schemas.microsoft.com/office/drawing/2014/main" id="{E606970D-AF61-4985-8C37-55EA6C5C0ADB}"/>
              </a:ext>
            </a:extLst>
          </p:cNvPr>
          <p:cNvSpPr>
            <a:spLocks xmlns:a="http://schemas.openxmlformats.org/drawingml/2006/main" noGrp="1"/>
          </p:cNvSpPr>
          <p:nvPr/>
        </p:nvSpPr>
        <p:spPr>
          <a:xfrm xmlns:a="http://schemas.openxmlformats.org/drawingml/2006/main">
            <a:off x="1847850" y="276225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2" name="">
            <a:extLst xmlns:a="http://schemas.openxmlformats.org/drawingml/2006/main">
              <a:ext uri="{FF2B5EF4-FFF2-40B4-BE49-F238E27FC236}">
                <a16:creationId xmlns:a16="http://schemas.microsoft.com/office/drawing/2014/main" id="{C3CAF6E1-FBF4-4606-9C13-DF92D11CB3DF}"/>
              </a:ext>
            </a:extLst>
          </p:cNvPr>
          <p:cNvSpPr>
            <a:spLocks xmlns:a="http://schemas.openxmlformats.org/drawingml/2006/main" noGrp="1"/>
          </p:cNvSpPr>
          <p:nvPr/>
        </p:nvSpPr>
        <p:spPr>
          <a:xfrm xmlns:a="http://schemas.openxmlformats.org/drawingml/2006/main">
            <a:off x="2247900" y="273367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3" name="">
            <a:extLst xmlns:a="http://schemas.openxmlformats.org/drawingml/2006/main">
              <a:ext uri="{FF2B5EF4-FFF2-40B4-BE49-F238E27FC236}">
                <a16:creationId xmlns:a16="http://schemas.microsoft.com/office/drawing/2014/main" id="{915363B3-5FD2-4D94-ACBB-F5394C08427D}"/>
              </a:ext>
            </a:extLst>
          </p:cNvPr>
          <p:cNvSpPr>
            <a:spLocks xmlns:a="http://schemas.openxmlformats.org/drawingml/2006/main" noGrp="1"/>
          </p:cNvSpPr>
          <p:nvPr/>
        </p:nvSpPr>
        <p:spPr>
          <a:xfrm xmlns:a="http://schemas.openxmlformats.org/drawingml/2006/main">
            <a:off x="2647950" y="270510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4" name="">
            <a:extLst xmlns:a="http://schemas.openxmlformats.org/drawingml/2006/main">
              <a:ext uri="{FF2B5EF4-FFF2-40B4-BE49-F238E27FC236}">
                <a16:creationId xmlns:a16="http://schemas.microsoft.com/office/drawing/2014/main" id="{E166571B-A10F-4180-BEE8-57A83C45C1DC}"/>
              </a:ext>
            </a:extLst>
          </p:cNvPr>
          <p:cNvSpPr>
            <a:spLocks xmlns:a="http://schemas.openxmlformats.org/drawingml/2006/main" noGrp="1"/>
          </p:cNvSpPr>
          <p:nvPr/>
        </p:nvSpPr>
        <p:spPr>
          <a:xfrm xmlns:a="http://schemas.openxmlformats.org/drawingml/2006/main">
            <a:off x="3133725" y="275272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5" name="">
            <a:extLst xmlns:a="http://schemas.openxmlformats.org/drawingml/2006/main">
              <a:ext uri="{FF2B5EF4-FFF2-40B4-BE49-F238E27FC236}">
                <a16:creationId xmlns:a16="http://schemas.microsoft.com/office/drawing/2014/main" id="{036586F8-57DD-4024-87FB-96AA742A7F09}"/>
              </a:ext>
            </a:extLst>
          </p:cNvPr>
          <p:cNvSpPr>
            <a:spLocks xmlns:a="http://schemas.openxmlformats.org/drawingml/2006/main" noGrp="1"/>
          </p:cNvSpPr>
          <p:nvPr/>
        </p:nvSpPr>
        <p:spPr>
          <a:xfrm xmlns:a="http://schemas.openxmlformats.org/drawingml/2006/main">
            <a:off x="3533775" y="272415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6" name="">
            <a:extLst xmlns:a="http://schemas.openxmlformats.org/drawingml/2006/main">
              <a:ext uri="{FF2B5EF4-FFF2-40B4-BE49-F238E27FC236}">
                <a16:creationId xmlns:a16="http://schemas.microsoft.com/office/drawing/2014/main" id="{F0A449A0-6DFF-4E36-9C03-3BA07352D1D9}"/>
              </a:ext>
            </a:extLst>
          </p:cNvPr>
          <p:cNvSpPr>
            <a:spLocks xmlns:a="http://schemas.openxmlformats.org/drawingml/2006/main" noGrp="1"/>
          </p:cNvSpPr>
          <p:nvPr/>
        </p:nvSpPr>
        <p:spPr>
          <a:xfrm xmlns:a="http://schemas.openxmlformats.org/drawingml/2006/main">
            <a:off x="3933825" y="277177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7" name="">
            <a:extLst xmlns:a="http://schemas.openxmlformats.org/drawingml/2006/main">
              <a:ext uri="{FF2B5EF4-FFF2-40B4-BE49-F238E27FC236}">
                <a16:creationId xmlns:a16="http://schemas.microsoft.com/office/drawing/2014/main" id="{C96466D9-B63C-43B4-89E0-C4E313F8701F}"/>
              </a:ext>
            </a:extLst>
          </p:cNvPr>
          <p:cNvSpPr>
            <a:spLocks xmlns:a="http://schemas.openxmlformats.org/drawingml/2006/main" noGrp="1"/>
          </p:cNvSpPr>
          <p:nvPr/>
        </p:nvSpPr>
        <p:spPr>
          <a:xfrm xmlns:a="http://schemas.openxmlformats.org/drawingml/2006/main">
            <a:off x="4333875" y="274320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8" name="">
            <a:extLst xmlns:a="http://schemas.openxmlformats.org/drawingml/2006/main">
              <a:ext uri="{FF2B5EF4-FFF2-40B4-BE49-F238E27FC236}">
                <a16:creationId xmlns:a16="http://schemas.microsoft.com/office/drawing/2014/main" id="{761507F7-54A4-4A94-9974-D70BFD2C4664}"/>
              </a:ext>
            </a:extLst>
          </p:cNvPr>
          <p:cNvSpPr>
            <a:spLocks xmlns:a="http://schemas.openxmlformats.org/drawingml/2006/main" noGrp="1"/>
          </p:cNvSpPr>
          <p:nvPr/>
        </p:nvSpPr>
        <p:spPr>
          <a:xfrm xmlns:a="http://schemas.openxmlformats.org/drawingml/2006/main">
            <a:off x="4819650" y="271462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89" name="">
            <a:extLst xmlns:a="http://schemas.openxmlformats.org/drawingml/2006/main">
              <a:ext uri="{FF2B5EF4-FFF2-40B4-BE49-F238E27FC236}">
                <a16:creationId xmlns:a16="http://schemas.microsoft.com/office/drawing/2014/main" id="{161A95C3-9D58-4B1D-9DB8-F8C9D66105D7}"/>
              </a:ext>
            </a:extLst>
          </p:cNvPr>
          <p:cNvSpPr>
            <a:spLocks xmlns:a="http://schemas.openxmlformats.org/drawingml/2006/main" noGrp="1"/>
          </p:cNvSpPr>
          <p:nvPr/>
        </p:nvSpPr>
        <p:spPr>
          <a:xfrm xmlns:a="http://schemas.openxmlformats.org/drawingml/2006/main">
            <a:off x="5219700" y="276225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90" name="">
            <a:extLst xmlns:a="http://schemas.openxmlformats.org/drawingml/2006/main">
              <a:ext uri="{FF2B5EF4-FFF2-40B4-BE49-F238E27FC236}">
                <a16:creationId xmlns:a16="http://schemas.microsoft.com/office/drawing/2014/main" id="{4F2DEF4E-55BD-499C-8C7F-B30651E34A34}"/>
              </a:ext>
            </a:extLst>
          </p:cNvPr>
          <p:cNvSpPr>
            <a:spLocks xmlns:a="http://schemas.openxmlformats.org/drawingml/2006/main" noGrp="1"/>
          </p:cNvSpPr>
          <p:nvPr/>
        </p:nvSpPr>
        <p:spPr>
          <a:xfrm xmlns:a="http://schemas.openxmlformats.org/drawingml/2006/main">
            <a:off x="5619750" y="2733675"/>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91" name="">
            <a:extLst xmlns:a="http://schemas.openxmlformats.org/drawingml/2006/main">
              <a:ext uri="{FF2B5EF4-FFF2-40B4-BE49-F238E27FC236}">
                <a16:creationId xmlns:a16="http://schemas.microsoft.com/office/drawing/2014/main" id="{634081E5-63AD-474B-A41E-2C548F18C033}"/>
              </a:ext>
            </a:extLst>
          </p:cNvPr>
          <p:cNvSpPr>
            <a:spLocks xmlns:a="http://schemas.openxmlformats.org/drawingml/2006/main" noGrp="1"/>
          </p:cNvSpPr>
          <p:nvPr/>
        </p:nvSpPr>
        <p:spPr>
          <a:xfrm xmlns:a="http://schemas.openxmlformats.org/drawingml/2006/main">
            <a:off x="6019800" y="2705100"/>
            <a:ext cx="285750" cy="285750"/>
          </a:xfrm>
          <a:prstGeom xmlns:a="http://schemas.openxmlformats.org/drawingml/2006/main" prst="ellipse">
            <a:avLst/>
          </a:prstGeom>
          <a:solidFill xmlns:a="http://schemas.openxmlformats.org/drawingml/2006/main">
            <a:srgbClr val="F8B28E"/>
          </a:solidFill>
          <a:ln xmlns:a="http://schemas.openxmlformats.org/drawingml/2006/main" w="14288">
            <a:solidFill>
              <a:srgbClr val="8E4B31"/>
            </a:solidFill>
            <a:prstDash val="solid"/>
          </a:ln>
        </p:spPr>
      </p:sp>
      <p:sp>
        <p:nvSpPr>
          <p:cNvPr id="92" name="">
            <a:extLst xmlns:a="http://schemas.openxmlformats.org/drawingml/2006/main">
              <a:ext uri="{FF2B5EF4-FFF2-40B4-BE49-F238E27FC236}">
                <a16:creationId xmlns:a16="http://schemas.microsoft.com/office/drawing/2014/main" id="{BDD50516-61FF-4F40-BB24-17F8A79F8C0A}"/>
              </a:ext>
            </a:extLst>
          </p:cNvPr>
          <p:cNvSpPr>
            <a:spLocks xmlns:a="http://schemas.openxmlformats.org/drawingml/2006/main" noGrp="1"/>
          </p:cNvSpPr>
          <p:nvPr/>
        </p:nvSpPr>
        <p:spPr>
          <a:xfrm xmlns:a="http://schemas.openxmlformats.org/drawingml/2006/main">
            <a:off x="7048500" y="3905250"/>
            <a:ext cx="323850" cy="1285875"/>
          </a:xfrm>
          <a:prstGeom xmlns:a="http://schemas.openxmlformats.org/drawingml/2006/main" prst="upDownArrow">
            <a:avLst/>
          </a:prstGeom>
          <a:solidFill xmlns:a="http://schemas.openxmlformats.org/drawingml/2006/main">
            <a:srgbClr val="3D8DFF"/>
          </a:solidFill>
          <a:ln xmlns:a="http://schemas.openxmlformats.org/drawingml/2006/main" w="0">
            <a:noFill/>
            <a:prstDash val="solid"/>
          </a:ln>
        </p:spPr>
      </p:sp>
      <p:sp>
        <p:nvSpPr>
          <p:cNvPr id="93" name="">
            <a:extLst xmlns:a="http://schemas.openxmlformats.org/drawingml/2006/main">
              <a:ext uri="{FF2B5EF4-FFF2-40B4-BE49-F238E27FC236}">
                <a16:creationId xmlns:a16="http://schemas.microsoft.com/office/drawing/2014/main" id="{B74D27DB-D2F7-4D9D-B0DA-08790EA08179}"/>
              </a:ext>
            </a:extLst>
          </p:cNvPr>
          <p:cNvSpPr>
            <a:spLocks xmlns:a="http://schemas.openxmlformats.org/drawingml/2006/main" noGrp="1"/>
          </p:cNvSpPr>
          <p:nvPr/>
        </p:nvSpPr>
        <p:spPr>
          <a:xfrm xmlns:a="http://schemas.openxmlformats.org/drawingml/2006/main">
            <a:off x="6143625" y="3429000"/>
            <a:ext cx="12001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sinusoidal</a:t>
            </a:r>
          </a:p>
          <a:p xmlns:a="http://schemas.openxmlformats.org/drawingml/2006/main">
            <a:pPr algn="r">
              <a:lnSpc>
                <a:spcPct val="102000"/>
              </a:lnSpc>
              <a:buNone/>
              <a:defRPr sz="1350" b="1" i="0">
                <a:solidFill>
                  <a:srgbClr val="3D8DFF"/>
                </a:solidFill>
                <a:latin typeface="Helvetica Neue"/>
                <a:ea typeface="Helvetica Neue"/>
                <a:cs typeface="Helvetica Neue"/>
              </a:defRPr>
            </a:pPr>
            <a:r>
              <a:rPr sz="1350" b="1" i="0">
                <a:solidFill>
                  <a:srgbClr val="3D8DFF"/>
                </a:solidFill>
                <a:latin typeface="Helvetica Neue"/>
                <a:ea typeface="Helvetica Neue"/>
                <a:cs typeface="Helvetica Neue"/>
              </a:rPr>
              <a:t>vertical drive</a:t>
            </a:r>
          </a:p>
        </p:txBody>
      </p:sp>
      <p:sp>
        <p:nvSpPr>
          <p:cNvPr id="94" name="">
            <a:extLst xmlns:a="http://schemas.openxmlformats.org/drawingml/2006/main">
              <a:ext uri="{FF2B5EF4-FFF2-40B4-BE49-F238E27FC236}">
                <a16:creationId xmlns:a16="http://schemas.microsoft.com/office/drawing/2014/main" id="{85E0766A-AF0D-40C5-8DF9-DF019A9402B3}"/>
              </a:ext>
            </a:extLst>
          </p:cNvPr>
          <p:cNvSpPr>
            <a:spLocks xmlns:a="http://schemas.openxmlformats.org/drawingml/2006/main" noGrp="1"/>
          </p:cNvSpPr>
          <p:nvPr/>
        </p:nvSpPr>
        <p:spPr>
          <a:xfrm xmlns:a="http://schemas.openxmlformats.org/drawingml/2006/main">
            <a:off x="904875" y="1809750"/>
            <a:ext cx="285750" cy="857250"/>
          </a:xfrm>
          <a:prstGeom xmlns:a="http://schemas.openxmlformats.org/drawingml/2006/main" prst="downArrow">
            <a:avLst/>
          </a:prstGeom>
          <a:solidFill xmlns:a="http://schemas.openxmlformats.org/drawingml/2006/main">
            <a:srgbClr val="12364A"/>
          </a:solidFill>
          <a:ln xmlns:a="http://schemas.openxmlformats.org/drawingml/2006/main" w="0">
            <a:noFill/>
            <a:prstDash val="solid"/>
          </a:ln>
        </p:spPr>
      </p:sp>
      <p:sp>
        <p:nvSpPr>
          <p:cNvPr id="95" name="">
            <a:extLst xmlns:a="http://schemas.openxmlformats.org/drawingml/2006/main">
              <a:ext uri="{FF2B5EF4-FFF2-40B4-BE49-F238E27FC236}">
                <a16:creationId xmlns:a16="http://schemas.microsoft.com/office/drawing/2014/main" id="{71AF9F92-5ADB-4750-9CA9-B815D70EB58A}"/>
              </a:ext>
            </a:extLst>
          </p:cNvPr>
          <p:cNvSpPr>
            <a:spLocks xmlns:a="http://schemas.openxmlformats.org/drawingml/2006/main" noGrp="1"/>
          </p:cNvSpPr>
          <p:nvPr/>
        </p:nvSpPr>
        <p:spPr>
          <a:xfrm xmlns:a="http://schemas.openxmlformats.org/drawingml/2006/main">
            <a:off x="647700" y="1562100"/>
            <a:ext cx="895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12364A"/>
                </a:solidFill>
                <a:latin typeface="Helvetica Neue"/>
                <a:ea typeface="Helvetica Neue"/>
                <a:cs typeface="Helvetica Neue"/>
              </a:defRPr>
            </a:pPr>
            <a:r>
              <a:rPr sz="1350" b="1" i="0">
                <a:solidFill>
                  <a:srgbClr val="12364A"/>
                </a:solidFill>
                <a:latin typeface="Helvetica Neue"/>
                <a:ea typeface="Helvetica Neue"/>
                <a:cs typeface="Helvetica Neue"/>
              </a:rPr>
              <a:t>gravity</a:t>
            </a:r>
          </a:p>
        </p:txBody>
      </p:sp>
      <p:sp>
        <p:nvSpPr>
          <p:cNvPr id="96" name="">
            <a:extLst xmlns:a="http://schemas.openxmlformats.org/drawingml/2006/main">
              <a:ext uri="{FF2B5EF4-FFF2-40B4-BE49-F238E27FC236}">
                <a16:creationId xmlns:a16="http://schemas.microsoft.com/office/drawing/2014/main" id="{22352DE8-17D9-46AA-8911-4F51E5026CC0}"/>
              </a:ext>
            </a:extLst>
          </p:cNvPr>
          <p:cNvSpPr>
            <a:spLocks xmlns:a="http://schemas.openxmlformats.org/drawingml/2006/main" noGrp="1"/>
          </p:cNvSpPr>
          <p:nvPr/>
        </p:nvSpPr>
        <p:spPr>
          <a:xfrm xmlns:a="http://schemas.openxmlformats.org/drawingml/2006/main">
            <a:off x="1447800" y="2190750"/>
            <a:ext cx="104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111111"/>
                </a:solidFill>
                <a:latin typeface="Helvetica Neue"/>
                <a:ea typeface="Helvetica Neue"/>
                <a:cs typeface="Helvetica Neue"/>
              </a:defRPr>
            </a:pPr>
            <a:r>
              <a:rPr sz="1350" b="1" i="0">
                <a:solidFill>
                  <a:srgbClr val="111111"/>
                </a:solidFill>
                <a:latin typeface="Helvetica Neue"/>
                <a:ea typeface="Helvetica Neue"/>
                <a:cs typeface="Helvetica Neue"/>
              </a:rPr>
              <a:t>stationary</a:t>
            </a:r>
          </a:p>
          <a:p xmlns:a="http://schemas.openxmlformats.org/drawingml/2006/main">
            <a:pPr algn="l">
              <a:lnSpc>
                <a:spcPct val="102000"/>
              </a:lnSpc>
              <a:buNone/>
              <a:defRPr sz="1350" b="1" i="0">
                <a:solidFill>
                  <a:srgbClr val="111111"/>
                </a:solidFill>
                <a:latin typeface="Helvetica Neue"/>
                <a:ea typeface="Helvetica Neue"/>
                <a:cs typeface="Helvetica Neue"/>
              </a:defRPr>
            </a:pPr>
            <a:r>
              <a:rPr sz="1350" b="1" i="0">
                <a:solidFill>
                  <a:srgbClr val="111111"/>
                </a:solidFill>
                <a:latin typeface="Helvetica Neue"/>
                <a:ea typeface="Helvetica Neue"/>
                <a:cs typeface="Helvetica Neue"/>
              </a:rPr>
              <a:t>sidewalls</a:t>
            </a:r>
          </a:p>
        </p:txBody>
      </p:sp>
      <p:sp>
        <p:nvSpPr>
          <p:cNvPr id="97" name="">
            <a:extLst xmlns:a="http://schemas.openxmlformats.org/drawingml/2006/main">
              <a:ext uri="{FF2B5EF4-FFF2-40B4-BE49-F238E27FC236}">
                <a16:creationId xmlns:a16="http://schemas.microsoft.com/office/drawing/2014/main" id="{3F2A9C86-1935-4127-A285-8B7E1188D5CB}"/>
              </a:ext>
            </a:extLst>
          </p:cNvPr>
          <p:cNvSpPr>
            <a:spLocks xmlns:a="http://schemas.openxmlformats.org/drawingml/2006/main" noGrp="1"/>
          </p:cNvSpPr>
          <p:nvPr/>
        </p:nvSpPr>
        <p:spPr>
          <a:xfrm xmlns:a="http://schemas.openxmlformats.org/drawingml/2006/main">
            <a:off x="2857500" y="5410200"/>
            <a:ext cx="27146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100 particle diameters</a:t>
            </a:r>
          </a:p>
        </p:txBody>
      </p:sp>
      <p:sp>
        <p:nvSpPr>
          <p:cNvPr id="98" name="">
            <a:extLst xmlns:a="http://schemas.openxmlformats.org/drawingml/2006/main">
              <a:ext uri="{FF2B5EF4-FFF2-40B4-BE49-F238E27FC236}">
                <a16:creationId xmlns:a16="http://schemas.microsoft.com/office/drawing/2014/main" id="{10421DDC-E9FD-4B1B-AEFA-C812A06E20BA}"/>
              </a:ext>
            </a:extLst>
          </p:cNvPr>
          <p:cNvSpPr>
            <a:spLocks xmlns:a="http://schemas.openxmlformats.org/drawingml/2006/main" noGrp="1"/>
          </p:cNvSpPr>
          <p:nvPr/>
        </p:nvSpPr>
        <p:spPr>
          <a:xfrm xmlns:a="http://schemas.openxmlformats.org/drawingml/2006/main">
            <a:off x="8058150" y="158115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975"/>
          </a:bodyPr>
          <a:lstStyle xmlns:a="http://schemas.openxmlformats.org/drawingml/2006/main"/>
          <a:p xmlns:a="http://schemas.openxmlformats.org/drawingml/2006/main">
            <a:pPr algn="l">
              <a:lnSpc>
                <a:spcPct val="102000"/>
              </a:lnSpc>
              <a:buNone/>
              <a:defRPr sz="2250" b="1" i="0">
                <a:solidFill>
                  <a:srgbClr val="111111"/>
                </a:solidFill>
                <a:latin typeface="Helvetica Neue"/>
                <a:ea typeface="Helvetica Neue"/>
                <a:cs typeface="Helvetica Neue"/>
              </a:defRPr>
            </a:pPr>
            <a:r>
              <a:rPr sz="2250" b="1" i="0">
                <a:solidFill>
                  <a:srgbClr val="111111"/>
                </a:solidFill>
                <a:latin typeface="Helvetica Neue"/>
                <a:ea typeface="Helvetica Neue"/>
                <a:cs typeface="Helvetica Neue"/>
              </a:rPr>
              <a:t>The reference simulation</a:t>
            </a:r>
          </a:p>
        </p:txBody>
      </p:sp>
      <p:sp>
        <p:nvSpPr>
          <p:cNvPr id="99" name="">
            <a:extLst xmlns:a="http://schemas.openxmlformats.org/drawingml/2006/main">
              <a:ext uri="{FF2B5EF4-FFF2-40B4-BE49-F238E27FC236}">
                <a16:creationId xmlns:a16="http://schemas.microsoft.com/office/drawing/2014/main" id="{475209D5-B1C9-42AB-9FF7-99950AB39907}"/>
              </a:ext>
            </a:extLst>
          </p:cNvPr>
          <p:cNvSpPr>
            <a:spLocks xmlns:a="http://schemas.openxmlformats.org/drawingml/2006/main" noGrp="1"/>
          </p:cNvSpPr>
          <p:nvPr/>
        </p:nvSpPr>
        <p:spPr>
          <a:xfrm xmlns:a="http://schemas.openxmlformats.org/drawingml/2006/main">
            <a:off x="8096250" y="232410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0" name="">
            <a:extLst xmlns:a="http://schemas.openxmlformats.org/drawingml/2006/main">
              <a:ext uri="{FF2B5EF4-FFF2-40B4-BE49-F238E27FC236}">
                <a16:creationId xmlns:a16="http://schemas.microsoft.com/office/drawing/2014/main" id="{1135DD42-5323-4064-8D62-0B86CF07DF14}"/>
              </a:ext>
            </a:extLst>
          </p:cNvPr>
          <p:cNvSpPr>
            <a:spLocks xmlns:a="http://schemas.openxmlformats.org/drawingml/2006/main" noGrp="1"/>
          </p:cNvSpPr>
          <p:nvPr/>
        </p:nvSpPr>
        <p:spPr>
          <a:xfrm xmlns:a="http://schemas.openxmlformats.org/drawingml/2006/main">
            <a:off x="8343900" y="2247900"/>
            <a:ext cx="2895600" cy="4648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60,000 hard spheres</a:t>
            </a:r>
          </a:p>
        </p:txBody>
      </p:sp>
      <p:sp>
        <p:nvSpPr>
          <p:cNvPr id="101" name="">
            <a:extLst xmlns:a="http://schemas.openxmlformats.org/drawingml/2006/main">
              <a:ext uri="{FF2B5EF4-FFF2-40B4-BE49-F238E27FC236}">
                <a16:creationId xmlns:a16="http://schemas.microsoft.com/office/drawing/2014/main" id="{938903D0-6BDD-4E9F-A286-E95DECA0CB9D}"/>
              </a:ext>
            </a:extLst>
          </p:cNvPr>
          <p:cNvSpPr>
            <a:spLocks xmlns:a="http://schemas.openxmlformats.org/drawingml/2006/main" noGrp="1"/>
          </p:cNvSpPr>
          <p:nvPr/>
        </p:nvSpPr>
        <p:spPr>
          <a:xfrm xmlns:a="http://schemas.openxmlformats.org/drawingml/2006/main">
            <a:off x="8096250" y="290322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2" name="">
            <a:extLst xmlns:a="http://schemas.openxmlformats.org/drawingml/2006/main">
              <a:ext uri="{FF2B5EF4-FFF2-40B4-BE49-F238E27FC236}">
                <a16:creationId xmlns:a16="http://schemas.microsoft.com/office/drawing/2014/main" id="{61776713-A203-4D8E-BFE1-4CAB58BCA2F2}"/>
              </a:ext>
            </a:extLst>
          </p:cNvPr>
          <p:cNvSpPr>
            <a:spLocks xmlns:a="http://schemas.openxmlformats.org/drawingml/2006/main" noGrp="1"/>
          </p:cNvSpPr>
          <p:nvPr/>
        </p:nvSpPr>
        <p:spPr>
          <a:xfrm xmlns:a="http://schemas.openxmlformats.org/drawingml/2006/main">
            <a:off x="8343900" y="2827020"/>
            <a:ext cx="2895600" cy="4648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Gravity between collisions</a:t>
            </a:r>
          </a:p>
        </p:txBody>
      </p:sp>
      <p:sp>
        <p:nvSpPr>
          <p:cNvPr id="103" name="">
            <a:extLst xmlns:a="http://schemas.openxmlformats.org/drawingml/2006/main">
              <a:ext uri="{FF2B5EF4-FFF2-40B4-BE49-F238E27FC236}">
                <a16:creationId xmlns:a16="http://schemas.microsoft.com/office/drawing/2014/main" id="{49507E25-1997-439D-8240-8B1B43EFE70C}"/>
              </a:ext>
            </a:extLst>
          </p:cNvPr>
          <p:cNvSpPr>
            <a:spLocks xmlns:a="http://schemas.openxmlformats.org/drawingml/2006/main" noGrp="1"/>
          </p:cNvSpPr>
          <p:nvPr/>
        </p:nvSpPr>
        <p:spPr>
          <a:xfrm xmlns:a="http://schemas.openxmlformats.org/drawingml/2006/main">
            <a:off x="8096250" y="348234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4" name="">
            <a:extLst xmlns:a="http://schemas.openxmlformats.org/drawingml/2006/main">
              <a:ext uri="{FF2B5EF4-FFF2-40B4-BE49-F238E27FC236}">
                <a16:creationId xmlns:a16="http://schemas.microsoft.com/office/drawing/2014/main" id="{07DA64A3-84A1-4372-829D-7A84648B20D4}"/>
              </a:ext>
            </a:extLst>
          </p:cNvPr>
          <p:cNvSpPr>
            <a:spLocks xmlns:a="http://schemas.openxmlformats.org/drawingml/2006/main" noGrp="1"/>
          </p:cNvSpPr>
          <p:nvPr/>
        </p:nvSpPr>
        <p:spPr>
          <a:xfrm xmlns:a="http://schemas.openxmlformats.org/drawingml/2006/main">
            <a:off x="8343900" y="3406140"/>
            <a:ext cx="2895600" cy="4648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Instantaneous binary impacts</a:t>
            </a:r>
          </a:p>
        </p:txBody>
      </p:sp>
      <p:sp>
        <p:nvSpPr>
          <p:cNvPr id="105" name="">
            <a:extLst xmlns:a="http://schemas.openxmlformats.org/drawingml/2006/main">
              <a:ext uri="{FF2B5EF4-FFF2-40B4-BE49-F238E27FC236}">
                <a16:creationId xmlns:a16="http://schemas.microsoft.com/office/drawing/2014/main" id="{7EE8FCB9-1935-49D7-844E-3B02411898A8}"/>
              </a:ext>
            </a:extLst>
          </p:cNvPr>
          <p:cNvSpPr>
            <a:spLocks xmlns:a="http://schemas.openxmlformats.org/drawingml/2006/main" noGrp="1"/>
          </p:cNvSpPr>
          <p:nvPr/>
        </p:nvSpPr>
        <p:spPr>
          <a:xfrm xmlns:a="http://schemas.openxmlformats.org/drawingml/2006/main">
            <a:off x="8096250" y="406146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6" name="">
            <a:extLst xmlns:a="http://schemas.openxmlformats.org/drawingml/2006/main">
              <a:ext uri="{FF2B5EF4-FFF2-40B4-BE49-F238E27FC236}">
                <a16:creationId xmlns:a16="http://schemas.microsoft.com/office/drawing/2014/main" id="{19F750D6-07DF-4DFD-A1DA-B753CE48153C}"/>
              </a:ext>
            </a:extLst>
          </p:cNvPr>
          <p:cNvSpPr>
            <a:spLocks xmlns:a="http://schemas.openxmlformats.org/drawingml/2006/main" noGrp="1"/>
          </p:cNvSpPr>
          <p:nvPr/>
        </p:nvSpPr>
        <p:spPr>
          <a:xfrm xmlns:a="http://schemas.openxmlformats.org/drawingml/2006/main">
            <a:off x="8343900" y="3985260"/>
            <a:ext cx="2895600" cy="4648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Moving bottom plate</a:t>
            </a:r>
          </a:p>
        </p:txBody>
      </p:sp>
      <p:sp>
        <p:nvSpPr>
          <p:cNvPr id="107" name="">
            <a:extLst xmlns:a="http://schemas.openxmlformats.org/drawingml/2006/main">
              <a:ext uri="{FF2B5EF4-FFF2-40B4-BE49-F238E27FC236}">
                <a16:creationId xmlns:a16="http://schemas.microsoft.com/office/drawing/2014/main" id="{C38B9967-8045-4831-B22D-6F2C45A7EB25}"/>
              </a:ext>
            </a:extLst>
          </p:cNvPr>
          <p:cNvSpPr>
            <a:spLocks xmlns:a="http://schemas.openxmlformats.org/drawingml/2006/main" noGrp="1"/>
          </p:cNvSpPr>
          <p:nvPr/>
        </p:nvSpPr>
        <p:spPr>
          <a:xfrm xmlns:a="http://schemas.openxmlformats.org/drawingml/2006/main">
            <a:off x="8096250" y="464058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08" name="">
            <a:extLst xmlns:a="http://schemas.openxmlformats.org/drawingml/2006/main">
              <a:ext uri="{FF2B5EF4-FFF2-40B4-BE49-F238E27FC236}">
                <a16:creationId xmlns:a16="http://schemas.microsoft.com/office/drawing/2014/main" id="{C3710BAF-F82E-45E8-80C7-7AC736C75D71}"/>
              </a:ext>
            </a:extLst>
          </p:cNvPr>
          <p:cNvSpPr>
            <a:spLocks xmlns:a="http://schemas.openxmlformats.org/drawingml/2006/main" noGrp="1"/>
          </p:cNvSpPr>
          <p:nvPr/>
        </p:nvSpPr>
        <p:spPr>
          <a:xfrm xmlns:a="http://schemas.openxmlformats.org/drawingml/2006/main">
            <a:off x="8343900" y="4564380"/>
            <a:ext cx="2895600" cy="4648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111111"/>
                </a:solidFill>
                <a:latin typeface="Helvetica Neue"/>
                <a:ea typeface="Helvetica Neue"/>
                <a:cs typeface="Helvetica Neue"/>
              </a:defRPr>
            </a:pPr>
            <a:r>
              <a:rPr sz="1725" b="0" i="0">
                <a:solidFill>
                  <a:srgbClr val="111111"/>
                </a:solidFill>
                <a:latin typeface="Helvetica Neue"/>
                <a:ea typeface="Helvetica Neue"/>
                <a:cs typeface="Helvetica Neue"/>
              </a:rPr>
              <a:t>Hard, non-periodic sidewalls</a:t>
            </a:r>
          </a:p>
        </p:txBody>
      </p:sp>
      <p:sp>
        <p:nvSpPr>
          <p:cNvPr id="109" name="">
            <a:extLst xmlns:a="http://schemas.openxmlformats.org/drawingml/2006/main">
              <a:ext uri="{FF2B5EF4-FFF2-40B4-BE49-F238E27FC236}">
                <a16:creationId xmlns:a16="http://schemas.microsoft.com/office/drawing/2014/main" id="{69622896-BFD1-479F-8147-B58D8DED6E96}"/>
              </a:ext>
            </a:extLst>
          </p:cNvPr>
          <p:cNvSpPr>
            <a:spLocks xmlns:a="http://schemas.openxmlformats.org/drawingml/2006/main" noGrp="1"/>
          </p:cNvSpPr>
          <p:nvPr/>
        </p:nvSpPr>
        <p:spPr>
          <a:xfrm xmlns:a="http://schemas.openxmlformats.org/drawingml/2006/main">
            <a:off x="8096250" y="5410200"/>
            <a:ext cx="3143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1" i="0">
                <a:solidFill>
                  <a:srgbClr val="3D8DFF"/>
                </a:solidFill>
                <a:latin typeface="Helvetica Neue"/>
                <a:ea typeface="Helvetica Neue"/>
                <a:cs typeface="Helvetica Neue"/>
              </a:defRPr>
            </a:pPr>
            <a:r>
              <a:rPr sz="1650" b="1" i="0">
                <a:solidFill>
                  <a:srgbClr val="3D8DFF"/>
                </a:solidFill>
                <a:latin typeface="Helvetica Neue"/>
                <a:ea typeface="Helvetica Neue"/>
                <a:cs typeface="Helvetica Neue"/>
              </a:rPr>
              <a:t>The forcing injects energy. Inelastic collisions remove it.</a:t>
            </a:r>
          </a:p>
        </p:txBody>
      </p:sp>
    </p:spTree>
    <p:extLst>
      <p:ext uri="{BB962C8B-B14F-4D97-AF65-F5344CB8AC3E}">
        <p14:creationId xmlns:p14="http://schemas.microsoft.com/office/powerpoint/2010/main" val="481920667"/>
      </p:ext>
    </p:extLst>
  </p:cSld>
</p:sld>
</file>

<file path=ppt/slides/slide6.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67E7DDD8-6AF1-4861-9DA6-CB20047740DD}"/>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COLLISION PHYSICS</a:t>
            </a:r>
          </a:p>
        </p:txBody>
      </p:sp>
      <p:sp>
        <p:nvSpPr>
          <p:cNvPr id="2" name="">
            <a:extLst xmlns:a="http://schemas.openxmlformats.org/drawingml/2006/main">
              <a:ext uri="{FF2B5EF4-FFF2-40B4-BE49-F238E27FC236}">
                <a16:creationId xmlns:a16="http://schemas.microsoft.com/office/drawing/2014/main" id="{C6D09AE0-84F6-450E-AAA2-5340B8A871B0}"/>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471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Elastic and inelastic collisions differ in what they preserve.</a:t>
            </a:r>
          </a:p>
        </p:txBody>
      </p:sp>
      <p:sp>
        <p:nvSpPr>
          <p:cNvPr id="3" name="">
            <a:extLst xmlns:a="http://schemas.openxmlformats.org/drawingml/2006/main">
              <a:ext uri="{FF2B5EF4-FFF2-40B4-BE49-F238E27FC236}">
                <a16:creationId xmlns:a16="http://schemas.microsoft.com/office/drawing/2014/main" id="{C205D22F-54E1-482B-842D-AB852E21A321}"/>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06</a:t>
            </a:r>
          </a:p>
        </p:txBody>
      </p:sp>
      <p:sp>
        <p:nvSpPr>
          <p:cNvPr id="4" name="">
            <a:extLst xmlns:a="http://schemas.openxmlformats.org/drawingml/2006/main">
              <a:ext uri="{FF2B5EF4-FFF2-40B4-BE49-F238E27FC236}">
                <a16:creationId xmlns:a16="http://schemas.microsoft.com/office/drawing/2014/main" id="{2D5729F4-1AC3-4E09-B06A-A793D857D753}"/>
              </a:ext>
            </a:extLst>
          </p:cNvPr>
          <p:cNvSpPr>
            <a:spLocks xmlns:a="http://schemas.openxmlformats.org/drawingml/2006/main" noGrp="1"/>
          </p:cNvSpPr>
          <p:nvPr/>
        </p:nvSpPr>
        <p:spPr>
          <a:xfrm xmlns:a="http://schemas.openxmlformats.org/drawingml/2006/main">
            <a:off x="457200" y="1428750"/>
            <a:ext cx="5505450" cy="4476750"/>
          </a:xfrm>
          <a:prstGeom xmlns:a="http://schemas.openxmlformats.org/drawingml/2006/main" prst="roundRect">
            <a:avLst>
              <a:gd name="adj" fmla="val 1702"/>
            </a:avLst>
          </a:prstGeom>
          <a:solidFill xmlns:a="http://schemas.openxmlformats.org/drawingml/2006/main">
            <a:srgbClr val="E6F4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D14E84-920F-498F-979C-A0047914CF0B}"/>
              </a:ext>
            </a:extLst>
          </p:cNvPr>
          <p:cNvSpPr>
            <a:spLocks xmlns:a="http://schemas.openxmlformats.org/drawingml/2006/main" noGrp="1"/>
          </p:cNvSpPr>
          <p:nvPr/>
        </p:nvSpPr>
        <p:spPr>
          <a:xfrm xmlns:a="http://schemas.openxmlformats.org/drawingml/2006/main">
            <a:off x="742950" y="16954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111111"/>
                </a:solidFill>
                <a:latin typeface="Helvetica Neue"/>
                <a:ea typeface="Helvetica Neue"/>
                <a:cs typeface="Helvetica Neue"/>
              </a:defRPr>
            </a:pPr>
            <a:r>
              <a:rPr sz="2850" b="1" i="0">
                <a:solidFill>
                  <a:srgbClr val="111111"/>
                </a:solidFill>
                <a:latin typeface="Helvetica Neue"/>
                <a:ea typeface="Helvetica Neue"/>
                <a:cs typeface="Helvetica Neue"/>
              </a:rPr>
              <a:t>Elastic</a:t>
            </a:r>
          </a:p>
        </p:txBody>
      </p:sp>
      <p:sp>
        <p:nvSpPr>
          <p:cNvPr id="6" name="">
            <a:extLst xmlns:a="http://schemas.openxmlformats.org/drawingml/2006/main">
              <a:ext uri="{FF2B5EF4-FFF2-40B4-BE49-F238E27FC236}">
                <a16:creationId xmlns:a16="http://schemas.microsoft.com/office/drawing/2014/main" id="{1147DB5B-0353-48FB-A500-D9B076D2C2AD}"/>
              </a:ext>
            </a:extLst>
          </p:cNvPr>
          <p:cNvSpPr>
            <a:spLocks xmlns:a="http://schemas.openxmlformats.org/drawingml/2006/main" noGrp="1"/>
          </p:cNvSpPr>
          <p:nvPr/>
        </p:nvSpPr>
        <p:spPr>
          <a:xfrm xmlns:a="http://schemas.openxmlformats.org/drawingml/2006/main">
            <a:off x="4286250" y="1752600"/>
            <a:ext cx="1257300" cy="323850"/>
          </a:xfrm>
          <a:prstGeom xmlns:a="http://schemas.openxmlformats.org/drawingml/2006/main" prst="roundRect">
            <a:avLst>
              <a:gd name="adj" fmla="val 23529"/>
            </a:avLst>
          </a:prstGeom>
          <a:solidFill xmlns:a="http://schemas.openxmlformats.org/drawingml/2006/main">
            <a:srgbClr val="2F9E72"/>
          </a:solidFill>
          <a:ln xmlns:a="http://schemas.openxmlformats.org/drawingml/2006/main" w="9525">
            <a:solidFill>
              <a:srgbClr val="2F9E72"/>
            </a:solidFill>
            <a:prstDash val="solid"/>
          </a:ln>
        </p:spPr>
      </p:sp>
      <p:sp>
        <p:nvSpPr>
          <p:cNvPr id="7" name="">
            <a:extLst xmlns:a="http://schemas.openxmlformats.org/drawingml/2006/main">
              <a:ext uri="{FF2B5EF4-FFF2-40B4-BE49-F238E27FC236}">
                <a16:creationId xmlns:a16="http://schemas.microsoft.com/office/drawing/2014/main" id="{F948A4B1-051F-4D27-A16D-C8AD06EF831E}"/>
              </a:ext>
            </a:extLst>
          </p:cNvPr>
          <p:cNvSpPr>
            <a:spLocks xmlns:a="http://schemas.openxmlformats.org/drawingml/2006/main" noGrp="1"/>
          </p:cNvSpPr>
          <p:nvPr/>
        </p:nvSpPr>
        <p:spPr>
          <a:xfrm xmlns:a="http://schemas.openxmlformats.org/drawingml/2006/main">
            <a:off x="4400550" y="181927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e = 1</a:t>
            </a:r>
          </a:p>
        </p:txBody>
      </p:sp>
      <p:sp>
        <p:nvSpPr>
          <p:cNvPr id="8" name="">
            <a:extLst xmlns:a="http://schemas.openxmlformats.org/drawingml/2006/main">
              <a:ext uri="{FF2B5EF4-FFF2-40B4-BE49-F238E27FC236}">
                <a16:creationId xmlns:a16="http://schemas.microsoft.com/office/drawing/2014/main" id="{EEFEABFA-681D-439F-8DD9-8302D8E83773}"/>
              </a:ext>
            </a:extLst>
          </p:cNvPr>
          <p:cNvSpPr>
            <a:spLocks xmlns:a="http://schemas.openxmlformats.org/drawingml/2006/main" noGrp="1"/>
          </p:cNvSpPr>
          <p:nvPr/>
        </p:nvSpPr>
        <p:spPr>
          <a:xfrm xmlns:a="http://schemas.openxmlformats.org/drawingml/2006/main">
            <a:off x="895350" y="2495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52616B"/>
                </a:solidFill>
                <a:latin typeface="Helvetica Neue"/>
                <a:ea typeface="Helvetica Neue"/>
                <a:cs typeface="Helvetica Neue"/>
              </a:defRPr>
            </a:pPr>
            <a:r>
              <a:rPr sz="1350" b="1" i="0">
                <a:solidFill>
                  <a:srgbClr val="52616B"/>
                </a:solidFill>
                <a:latin typeface="Helvetica Neue"/>
                <a:ea typeface="Helvetica Neue"/>
                <a:cs typeface="Helvetica Neue"/>
              </a:rPr>
              <a:t>before</a:t>
            </a:r>
          </a:p>
        </p:txBody>
      </p:sp>
      <p:sp>
        <p:nvSpPr>
          <p:cNvPr id="9" name="">
            <a:extLst xmlns:a="http://schemas.openxmlformats.org/drawingml/2006/main">
              <a:ext uri="{FF2B5EF4-FFF2-40B4-BE49-F238E27FC236}">
                <a16:creationId xmlns:a16="http://schemas.microsoft.com/office/drawing/2014/main" id="{50F00C9D-F4CE-4781-BC03-3D42BEA2BE43}"/>
              </a:ext>
            </a:extLst>
          </p:cNvPr>
          <p:cNvSpPr>
            <a:spLocks xmlns:a="http://schemas.openxmlformats.org/drawingml/2006/main" noGrp="1"/>
          </p:cNvSpPr>
          <p:nvPr/>
        </p:nvSpPr>
        <p:spPr>
          <a:xfrm xmlns:a="http://schemas.openxmlformats.org/drawingml/2006/main">
            <a:off x="3695700" y="2495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52616B"/>
                </a:solidFill>
                <a:latin typeface="Helvetica Neue"/>
                <a:ea typeface="Helvetica Neue"/>
                <a:cs typeface="Helvetica Neue"/>
              </a:defRPr>
            </a:pPr>
            <a:r>
              <a:rPr sz="1350" b="1" i="0">
                <a:solidFill>
                  <a:srgbClr val="52616B"/>
                </a:solidFill>
                <a:latin typeface="Helvetica Neue"/>
                <a:ea typeface="Helvetica Neue"/>
                <a:cs typeface="Helvetica Neue"/>
              </a:rPr>
              <a:t>after</a:t>
            </a:r>
          </a:p>
        </p:txBody>
      </p:sp>
      <p:sp>
        <p:nvSpPr>
          <p:cNvPr id="10" name="">
            <a:extLst xmlns:a="http://schemas.openxmlformats.org/drawingml/2006/main">
              <a:ext uri="{FF2B5EF4-FFF2-40B4-BE49-F238E27FC236}">
                <a16:creationId xmlns:a16="http://schemas.microsoft.com/office/drawing/2014/main" id="{AC336526-6302-45F5-97DE-A7A18B61B408}"/>
              </a:ext>
            </a:extLst>
          </p:cNvPr>
          <p:cNvSpPr>
            <a:spLocks xmlns:a="http://schemas.openxmlformats.org/drawingml/2006/main" noGrp="1"/>
          </p:cNvSpPr>
          <p:nvPr/>
        </p:nvSpPr>
        <p:spPr>
          <a:xfrm xmlns:a="http://schemas.openxmlformats.org/drawingml/2006/main">
            <a:off x="1371600" y="3048000"/>
            <a:ext cx="571500" cy="571500"/>
          </a:xfrm>
          <a:prstGeom xmlns:a="http://schemas.openxmlformats.org/drawingml/2006/main" prst="ellipse">
            <a:avLst/>
          </a:prstGeom>
          <a:solidFill xmlns:a="http://schemas.openxmlformats.org/drawingml/2006/main">
            <a:srgbClr val="2F9E72"/>
          </a:solidFill>
          <a:ln xmlns:a="http://schemas.openxmlformats.org/drawingml/2006/main" w="14288">
            <a:solidFill>
              <a:srgbClr val="111111"/>
            </a:solidFill>
            <a:prstDash val="solid"/>
          </a:ln>
        </p:spPr>
      </p:sp>
      <p:sp>
        <p:nvSpPr>
          <p:cNvPr id="11" name="">
            <a:extLst xmlns:a="http://schemas.openxmlformats.org/drawingml/2006/main">
              <a:ext uri="{FF2B5EF4-FFF2-40B4-BE49-F238E27FC236}">
                <a16:creationId xmlns:a16="http://schemas.microsoft.com/office/drawing/2014/main" id="{F4D8DAA7-524D-4ACC-B0F2-A61036ABB911}"/>
              </a:ext>
            </a:extLst>
          </p:cNvPr>
          <p:cNvSpPr>
            <a:spLocks xmlns:a="http://schemas.openxmlformats.org/drawingml/2006/main" noGrp="1"/>
          </p:cNvSpPr>
          <p:nvPr/>
        </p:nvSpPr>
        <p:spPr>
          <a:xfrm xmlns:a="http://schemas.openxmlformats.org/drawingml/2006/main">
            <a:off x="2324100" y="3048000"/>
            <a:ext cx="571500" cy="571500"/>
          </a:xfrm>
          <a:prstGeom xmlns:a="http://schemas.openxmlformats.org/drawingml/2006/main" prst="ellipse">
            <a:avLst/>
          </a:prstGeom>
          <a:solidFill xmlns:a="http://schemas.openxmlformats.org/drawingml/2006/main">
            <a:srgbClr val="2F9E72"/>
          </a:solidFill>
          <a:ln xmlns:a="http://schemas.openxmlformats.org/drawingml/2006/main" w="14288">
            <a:solidFill>
              <a:srgbClr val="111111"/>
            </a:solidFill>
            <a:prstDash val="solid"/>
          </a:ln>
        </p:spPr>
      </p:sp>
      <p:sp>
        <p:nvSpPr>
          <p:cNvPr id="12" name="">
            <a:extLst xmlns:a="http://schemas.openxmlformats.org/drawingml/2006/main">
              <a:ext uri="{FF2B5EF4-FFF2-40B4-BE49-F238E27FC236}">
                <a16:creationId xmlns:a16="http://schemas.microsoft.com/office/drawing/2014/main" id="{B5EC669D-1077-4686-BAFA-CB14537A7471}"/>
              </a:ext>
            </a:extLst>
          </p:cNvPr>
          <p:cNvSpPr>
            <a:spLocks xmlns:a="http://schemas.openxmlformats.org/drawingml/2006/main" noGrp="1"/>
          </p:cNvSpPr>
          <p:nvPr/>
        </p:nvSpPr>
        <p:spPr>
          <a:xfrm xmlns:a="http://schemas.openxmlformats.org/drawingml/2006/main">
            <a:off x="2000250" y="3228975"/>
            <a:ext cx="514350" cy="20955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3" name="">
            <a:extLst xmlns:a="http://schemas.openxmlformats.org/drawingml/2006/main">
              <a:ext uri="{FF2B5EF4-FFF2-40B4-BE49-F238E27FC236}">
                <a16:creationId xmlns:a16="http://schemas.microsoft.com/office/drawing/2014/main" id="{3FDD9C5B-E4D1-4E1F-8354-33F5318BC561}"/>
              </a:ext>
            </a:extLst>
          </p:cNvPr>
          <p:cNvSpPr>
            <a:spLocks xmlns:a="http://schemas.openxmlformats.org/drawingml/2006/main" noGrp="1"/>
          </p:cNvSpPr>
          <p:nvPr/>
        </p:nvSpPr>
        <p:spPr>
          <a:xfrm xmlns:a="http://schemas.openxmlformats.org/drawingml/2006/main">
            <a:off x="3028950" y="3209925"/>
            <a:ext cx="514350" cy="247650"/>
          </a:xfrm>
          <a:prstGeom xmlns:a="http://schemas.openxmlformats.org/drawingml/2006/main" prst="rightArrow">
            <a:avLst/>
          </a:prstGeom>
          <a:solidFill xmlns:a="http://schemas.openxmlformats.org/drawingml/2006/main">
            <a:srgbClr val="52616B"/>
          </a:solidFill>
          <a:ln xmlns:a="http://schemas.openxmlformats.org/drawingml/2006/main" w="9525">
            <a:solidFill>
              <a:srgbClr val="52616B"/>
            </a:solidFill>
            <a:prstDash val="solid"/>
          </a:ln>
        </p:spPr>
      </p:sp>
      <p:sp>
        <p:nvSpPr>
          <p:cNvPr id="14" name="">
            <a:extLst xmlns:a="http://schemas.openxmlformats.org/drawingml/2006/main">
              <a:ext uri="{FF2B5EF4-FFF2-40B4-BE49-F238E27FC236}">
                <a16:creationId xmlns:a16="http://schemas.microsoft.com/office/drawing/2014/main" id="{4F596794-BD9B-48BA-9BE9-651D4A7148FB}"/>
              </a:ext>
            </a:extLst>
          </p:cNvPr>
          <p:cNvSpPr>
            <a:spLocks xmlns:a="http://schemas.openxmlformats.org/drawingml/2006/main" noGrp="1"/>
          </p:cNvSpPr>
          <p:nvPr/>
        </p:nvSpPr>
        <p:spPr>
          <a:xfrm xmlns:a="http://schemas.openxmlformats.org/drawingml/2006/main">
            <a:off x="3962400" y="3048000"/>
            <a:ext cx="571500" cy="571500"/>
          </a:xfrm>
          <a:prstGeom xmlns:a="http://schemas.openxmlformats.org/drawingml/2006/main" prst="ellipse">
            <a:avLst/>
          </a:prstGeom>
          <a:solidFill xmlns:a="http://schemas.openxmlformats.org/drawingml/2006/main">
            <a:srgbClr val="2F9E72"/>
          </a:solidFill>
          <a:ln xmlns:a="http://schemas.openxmlformats.org/drawingml/2006/main" w="14288">
            <a:solidFill>
              <a:srgbClr val="111111"/>
            </a:solidFill>
            <a:prstDash val="solid"/>
          </a:ln>
        </p:spPr>
      </p:sp>
      <p:sp>
        <p:nvSpPr>
          <p:cNvPr id="15" name="">
            <a:extLst xmlns:a="http://schemas.openxmlformats.org/drawingml/2006/main">
              <a:ext uri="{FF2B5EF4-FFF2-40B4-BE49-F238E27FC236}">
                <a16:creationId xmlns:a16="http://schemas.microsoft.com/office/drawing/2014/main" id="{58FEFEA1-A5B9-41C0-9E39-E14FED47869A}"/>
              </a:ext>
            </a:extLst>
          </p:cNvPr>
          <p:cNvSpPr>
            <a:spLocks xmlns:a="http://schemas.openxmlformats.org/drawingml/2006/main" noGrp="1"/>
          </p:cNvSpPr>
          <p:nvPr/>
        </p:nvSpPr>
        <p:spPr>
          <a:xfrm xmlns:a="http://schemas.openxmlformats.org/drawingml/2006/main">
            <a:off x="3009900" y="3048000"/>
            <a:ext cx="571500" cy="571500"/>
          </a:xfrm>
          <a:prstGeom xmlns:a="http://schemas.openxmlformats.org/drawingml/2006/main" prst="ellipse">
            <a:avLst/>
          </a:prstGeom>
          <a:solidFill xmlns:a="http://schemas.openxmlformats.org/drawingml/2006/main">
            <a:srgbClr val="2F9E72"/>
          </a:solidFill>
          <a:ln xmlns:a="http://schemas.openxmlformats.org/drawingml/2006/main" w="14288">
            <a:solidFill>
              <a:srgbClr val="111111"/>
            </a:solidFill>
            <a:prstDash val="solid"/>
          </a:ln>
        </p:spPr>
      </p:sp>
      <p:sp>
        <p:nvSpPr>
          <p:cNvPr id="16" name="">
            <a:extLst xmlns:a="http://schemas.openxmlformats.org/drawingml/2006/main">
              <a:ext uri="{FF2B5EF4-FFF2-40B4-BE49-F238E27FC236}">
                <a16:creationId xmlns:a16="http://schemas.microsoft.com/office/drawing/2014/main" id="{A1907643-AAC2-411E-BA6A-B55F495760AB}"/>
              </a:ext>
            </a:extLst>
          </p:cNvPr>
          <p:cNvSpPr>
            <a:spLocks xmlns:a="http://schemas.openxmlformats.org/drawingml/2006/main" noGrp="1"/>
          </p:cNvSpPr>
          <p:nvPr/>
        </p:nvSpPr>
        <p:spPr>
          <a:xfrm xmlns:a="http://schemas.openxmlformats.org/drawingml/2006/main">
            <a:off x="3352800" y="3228975"/>
            <a:ext cx="514350" cy="209550"/>
          </a:xfrm>
          <a:prstGeom xmlns:a="http://schemas.openxmlformats.org/drawingml/2006/main" prst="rightArrow">
            <a:avLst/>
          </a:prstGeom>
          <a:solidFill xmlns:a="http://schemas.openxmlformats.org/drawingml/2006/main">
            <a:srgbClr val="F57748"/>
          </a:solidFill>
          <a:ln xmlns:a="http://schemas.openxmlformats.org/drawingml/2006/main" w="9525">
            <a:solidFill>
              <a:srgbClr val="F57748"/>
            </a:solidFill>
            <a:prstDash val="solid"/>
          </a:ln>
        </p:spPr>
      </p:sp>
      <p:sp>
        <p:nvSpPr>
          <p:cNvPr id="17" name="">
            <a:extLst xmlns:a="http://schemas.openxmlformats.org/drawingml/2006/main">
              <a:ext uri="{FF2B5EF4-FFF2-40B4-BE49-F238E27FC236}">
                <a16:creationId xmlns:a16="http://schemas.microsoft.com/office/drawing/2014/main" id="{94AC60A0-D059-4E12-9AEE-C6402465D4D7}"/>
              </a:ext>
            </a:extLst>
          </p:cNvPr>
          <p:cNvSpPr>
            <a:spLocks xmlns:a="http://schemas.openxmlformats.org/drawingml/2006/main" noGrp="1"/>
          </p:cNvSpPr>
          <p:nvPr/>
        </p:nvSpPr>
        <p:spPr>
          <a:xfrm xmlns:a="http://schemas.openxmlformats.org/drawingml/2006/main">
            <a:off x="762000" y="4238625"/>
            <a:ext cx="4857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i="0">
                <a:solidFill>
                  <a:srgbClr val="52616B"/>
                </a:solidFill>
                <a:latin typeface="Helvetica Neue"/>
                <a:ea typeface="Helvetica Neue"/>
                <a:cs typeface="Helvetica Neue"/>
              </a:defRPr>
            </a:pPr>
            <a:r>
              <a:rPr sz="1800" b="0" i="0">
                <a:solidFill>
                  <a:srgbClr val="52616B"/>
                </a:solidFill>
                <a:latin typeface="Helvetica Neue"/>
                <a:ea typeface="Helvetica Neue"/>
                <a:cs typeface="Helvetica Neue"/>
              </a:rPr>
              <a:t>Relative normal speed is preserved. Kinetic energy is not lost in the impact.</a:t>
            </a:r>
          </a:p>
        </p:txBody>
      </p:sp>
      <p:sp>
        <p:nvSpPr>
          <p:cNvPr id="18" name="">
            <a:extLst xmlns:a="http://schemas.openxmlformats.org/drawingml/2006/main">
              <a:ext uri="{FF2B5EF4-FFF2-40B4-BE49-F238E27FC236}">
                <a16:creationId xmlns:a16="http://schemas.microsoft.com/office/drawing/2014/main" id="{FD902F76-BE91-4726-BE8F-24A677F47E58}"/>
              </a:ext>
            </a:extLst>
          </p:cNvPr>
          <p:cNvSpPr>
            <a:spLocks xmlns:a="http://schemas.openxmlformats.org/drawingml/2006/main" noGrp="1"/>
          </p:cNvSpPr>
          <p:nvPr/>
        </p:nvSpPr>
        <p:spPr>
          <a:xfrm xmlns:a="http://schemas.openxmlformats.org/drawingml/2006/main">
            <a:off x="6229350" y="1428750"/>
            <a:ext cx="5505450" cy="4476750"/>
          </a:xfrm>
          <a:prstGeom xmlns:a="http://schemas.openxmlformats.org/drawingml/2006/main" prst="roundRect">
            <a:avLst>
              <a:gd name="adj" fmla="val 1702"/>
            </a:avLst>
          </a:prstGeom>
          <a:solidFill xmlns:a="http://schemas.openxmlformats.org/drawingml/2006/main">
            <a:srgbClr val="FCE8D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F753C29-C298-4403-A4E6-32A8355ADF94}"/>
              </a:ext>
            </a:extLst>
          </p:cNvPr>
          <p:cNvSpPr>
            <a:spLocks xmlns:a="http://schemas.openxmlformats.org/drawingml/2006/main" noGrp="1"/>
          </p:cNvSpPr>
          <p:nvPr/>
        </p:nvSpPr>
        <p:spPr>
          <a:xfrm xmlns:a="http://schemas.openxmlformats.org/drawingml/2006/main">
            <a:off x="6515100" y="1695450"/>
            <a:ext cx="266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111111"/>
                </a:solidFill>
                <a:latin typeface="Helvetica Neue"/>
                <a:ea typeface="Helvetica Neue"/>
                <a:cs typeface="Helvetica Neue"/>
              </a:defRPr>
            </a:pPr>
            <a:r>
              <a:rPr sz="2850" b="1" i="0">
                <a:solidFill>
                  <a:srgbClr val="111111"/>
                </a:solidFill>
                <a:latin typeface="Helvetica Neue"/>
                <a:ea typeface="Helvetica Neue"/>
                <a:cs typeface="Helvetica Neue"/>
              </a:rPr>
              <a:t>Inelastic</a:t>
            </a:r>
          </a:p>
        </p:txBody>
      </p:sp>
      <p:sp>
        <p:nvSpPr>
          <p:cNvPr id="20" name="">
            <a:extLst xmlns:a="http://schemas.openxmlformats.org/drawingml/2006/main">
              <a:ext uri="{FF2B5EF4-FFF2-40B4-BE49-F238E27FC236}">
                <a16:creationId xmlns:a16="http://schemas.microsoft.com/office/drawing/2014/main" id="{4EF9622B-77FB-4A23-8C3F-D776E40EF7B4}"/>
              </a:ext>
            </a:extLst>
          </p:cNvPr>
          <p:cNvSpPr>
            <a:spLocks xmlns:a="http://schemas.openxmlformats.org/drawingml/2006/main" noGrp="1"/>
          </p:cNvSpPr>
          <p:nvPr/>
        </p:nvSpPr>
        <p:spPr>
          <a:xfrm xmlns:a="http://schemas.openxmlformats.org/drawingml/2006/main">
            <a:off x="10058400" y="1752600"/>
            <a:ext cx="1257300" cy="323850"/>
          </a:xfrm>
          <a:prstGeom xmlns:a="http://schemas.openxmlformats.org/drawingml/2006/main" prst="roundRect">
            <a:avLst>
              <a:gd name="adj" fmla="val 23529"/>
            </a:avLst>
          </a:prstGeom>
          <a:solidFill xmlns:a="http://schemas.openxmlformats.org/drawingml/2006/main">
            <a:srgbClr val="F57748"/>
          </a:solidFill>
          <a:ln xmlns:a="http://schemas.openxmlformats.org/drawingml/2006/main" w="9525">
            <a:solidFill>
              <a:srgbClr val="F57748"/>
            </a:solidFill>
            <a:prstDash val="solid"/>
          </a:ln>
        </p:spPr>
      </p:sp>
      <p:sp>
        <p:nvSpPr>
          <p:cNvPr id="21" name="">
            <a:extLst xmlns:a="http://schemas.openxmlformats.org/drawingml/2006/main">
              <a:ext uri="{FF2B5EF4-FFF2-40B4-BE49-F238E27FC236}">
                <a16:creationId xmlns:a16="http://schemas.microsoft.com/office/drawing/2014/main" id="{D1BE7BA9-DEB8-40C1-B4CC-D093F87DD9F3}"/>
              </a:ext>
            </a:extLst>
          </p:cNvPr>
          <p:cNvSpPr>
            <a:spLocks xmlns:a="http://schemas.openxmlformats.org/drawingml/2006/main" noGrp="1"/>
          </p:cNvSpPr>
          <p:nvPr/>
        </p:nvSpPr>
        <p:spPr>
          <a:xfrm xmlns:a="http://schemas.openxmlformats.org/drawingml/2006/main">
            <a:off x="10172700" y="1819275"/>
            <a:ext cx="10287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FFFFFF"/>
                </a:solidFill>
                <a:latin typeface="Helvetica Neue"/>
                <a:ea typeface="Helvetica Neue"/>
                <a:cs typeface="Helvetica Neue"/>
              </a:defRPr>
            </a:pPr>
            <a:r>
              <a:rPr sz="1050" b="1" i="0">
                <a:solidFill>
                  <a:srgbClr val="FFFFFF"/>
                </a:solidFill>
                <a:latin typeface="Helvetica Neue"/>
                <a:ea typeface="Helvetica Neue"/>
                <a:cs typeface="Helvetica Neue"/>
              </a:rPr>
              <a:t>0 &lt; e &lt; 1</a:t>
            </a:r>
          </a:p>
        </p:txBody>
      </p:sp>
      <p:sp>
        <p:nvSpPr>
          <p:cNvPr id="22" name="">
            <a:extLst xmlns:a="http://schemas.openxmlformats.org/drawingml/2006/main">
              <a:ext uri="{FF2B5EF4-FFF2-40B4-BE49-F238E27FC236}">
                <a16:creationId xmlns:a16="http://schemas.microsoft.com/office/drawing/2014/main" id="{0B25135C-963B-42C9-9E1A-DABC689E338C}"/>
              </a:ext>
            </a:extLst>
          </p:cNvPr>
          <p:cNvSpPr>
            <a:spLocks xmlns:a="http://schemas.openxmlformats.org/drawingml/2006/main" noGrp="1"/>
          </p:cNvSpPr>
          <p:nvPr/>
        </p:nvSpPr>
        <p:spPr>
          <a:xfrm xmlns:a="http://schemas.openxmlformats.org/drawingml/2006/main">
            <a:off x="6667500" y="2495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52616B"/>
                </a:solidFill>
                <a:latin typeface="Helvetica Neue"/>
                <a:ea typeface="Helvetica Neue"/>
                <a:cs typeface="Helvetica Neue"/>
              </a:defRPr>
            </a:pPr>
            <a:r>
              <a:rPr sz="1350" b="1" i="0">
                <a:solidFill>
                  <a:srgbClr val="52616B"/>
                </a:solidFill>
                <a:latin typeface="Helvetica Neue"/>
                <a:ea typeface="Helvetica Neue"/>
                <a:cs typeface="Helvetica Neue"/>
              </a:rPr>
              <a:t>before</a:t>
            </a:r>
          </a:p>
        </p:txBody>
      </p:sp>
      <p:sp>
        <p:nvSpPr>
          <p:cNvPr id="23" name="">
            <a:extLst xmlns:a="http://schemas.openxmlformats.org/drawingml/2006/main">
              <a:ext uri="{FF2B5EF4-FFF2-40B4-BE49-F238E27FC236}">
                <a16:creationId xmlns:a16="http://schemas.microsoft.com/office/drawing/2014/main" id="{2DA7A465-7BBB-4A9F-B2F1-7009F8133F5C}"/>
              </a:ext>
            </a:extLst>
          </p:cNvPr>
          <p:cNvSpPr>
            <a:spLocks xmlns:a="http://schemas.openxmlformats.org/drawingml/2006/main" noGrp="1"/>
          </p:cNvSpPr>
          <p:nvPr/>
        </p:nvSpPr>
        <p:spPr>
          <a:xfrm xmlns:a="http://schemas.openxmlformats.org/drawingml/2006/main">
            <a:off x="9467850" y="2495550"/>
            <a:ext cx="95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350" b="1" i="0">
                <a:solidFill>
                  <a:srgbClr val="52616B"/>
                </a:solidFill>
                <a:latin typeface="Helvetica Neue"/>
                <a:ea typeface="Helvetica Neue"/>
                <a:cs typeface="Helvetica Neue"/>
              </a:defRPr>
            </a:pPr>
            <a:r>
              <a:rPr sz="1350" b="1" i="0">
                <a:solidFill>
                  <a:srgbClr val="52616B"/>
                </a:solidFill>
                <a:latin typeface="Helvetica Neue"/>
                <a:ea typeface="Helvetica Neue"/>
                <a:cs typeface="Helvetica Neue"/>
              </a:rPr>
              <a:t>after</a:t>
            </a:r>
          </a:p>
        </p:txBody>
      </p:sp>
      <p:sp>
        <p:nvSpPr>
          <p:cNvPr id="24" name="">
            <a:extLst xmlns:a="http://schemas.openxmlformats.org/drawingml/2006/main">
              <a:ext uri="{FF2B5EF4-FFF2-40B4-BE49-F238E27FC236}">
                <a16:creationId xmlns:a16="http://schemas.microsoft.com/office/drawing/2014/main" id="{3B9F8701-12A5-4467-9C65-3317BCAD8D0C}"/>
              </a:ext>
            </a:extLst>
          </p:cNvPr>
          <p:cNvSpPr>
            <a:spLocks xmlns:a="http://schemas.openxmlformats.org/drawingml/2006/main" noGrp="1"/>
          </p:cNvSpPr>
          <p:nvPr/>
        </p:nvSpPr>
        <p:spPr>
          <a:xfrm xmlns:a="http://schemas.openxmlformats.org/drawingml/2006/main">
            <a:off x="7143750" y="3048000"/>
            <a:ext cx="571500" cy="571500"/>
          </a:xfrm>
          <a:prstGeom xmlns:a="http://schemas.openxmlformats.org/drawingml/2006/main" prst="ellipse">
            <a:avLst/>
          </a:prstGeom>
          <a:solidFill xmlns:a="http://schemas.openxmlformats.org/drawingml/2006/main">
            <a:srgbClr val="F57748"/>
          </a:solidFill>
          <a:ln xmlns:a="http://schemas.openxmlformats.org/drawingml/2006/main" w="14288">
            <a:solidFill>
              <a:srgbClr val="111111"/>
            </a:solidFill>
            <a:prstDash val="solid"/>
          </a:ln>
        </p:spPr>
      </p:sp>
      <p:sp>
        <p:nvSpPr>
          <p:cNvPr id="25" name="">
            <a:extLst xmlns:a="http://schemas.openxmlformats.org/drawingml/2006/main">
              <a:ext uri="{FF2B5EF4-FFF2-40B4-BE49-F238E27FC236}">
                <a16:creationId xmlns:a16="http://schemas.microsoft.com/office/drawing/2014/main" id="{76FDBB0F-4A22-45EF-9977-ACBA004F9906}"/>
              </a:ext>
            </a:extLst>
          </p:cNvPr>
          <p:cNvSpPr>
            <a:spLocks xmlns:a="http://schemas.openxmlformats.org/drawingml/2006/main" noGrp="1"/>
          </p:cNvSpPr>
          <p:nvPr/>
        </p:nvSpPr>
        <p:spPr>
          <a:xfrm xmlns:a="http://schemas.openxmlformats.org/drawingml/2006/main">
            <a:off x="8096250" y="3048000"/>
            <a:ext cx="571500" cy="571500"/>
          </a:xfrm>
          <a:prstGeom xmlns:a="http://schemas.openxmlformats.org/drawingml/2006/main" prst="ellipse">
            <a:avLst/>
          </a:prstGeom>
          <a:solidFill xmlns:a="http://schemas.openxmlformats.org/drawingml/2006/main">
            <a:srgbClr val="F57748"/>
          </a:solidFill>
          <a:ln xmlns:a="http://schemas.openxmlformats.org/drawingml/2006/main" w="14288">
            <a:solidFill>
              <a:srgbClr val="111111"/>
            </a:solidFill>
            <a:prstDash val="solid"/>
          </a:ln>
        </p:spPr>
      </p:sp>
      <p:sp>
        <p:nvSpPr>
          <p:cNvPr id="26" name="">
            <a:extLst xmlns:a="http://schemas.openxmlformats.org/drawingml/2006/main">
              <a:ext uri="{FF2B5EF4-FFF2-40B4-BE49-F238E27FC236}">
                <a16:creationId xmlns:a16="http://schemas.microsoft.com/office/drawing/2014/main" id="{57A515AB-DBE7-4471-BBF2-3A6FA90D7444}"/>
              </a:ext>
            </a:extLst>
          </p:cNvPr>
          <p:cNvSpPr>
            <a:spLocks xmlns:a="http://schemas.openxmlformats.org/drawingml/2006/main" noGrp="1"/>
          </p:cNvSpPr>
          <p:nvPr/>
        </p:nvSpPr>
        <p:spPr>
          <a:xfrm xmlns:a="http://schemas.openxmlformats.org/drawingml/2006/main">
            <a:off x="7772400" y="3228975"/>
            <a:ext cx="514350" cy="20955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27" name="">
            <a:extLst xmlns:a="http://schemas.openxmlformats.org/drawingml/2006/main">
              <a:ext uri="{FF2B5EF4-FFF2-40B4-BE49-F238E27FC236}">
                <a16:creationId xmlns:a16="http://schemas.microsoft.com/office/drawing/2014/main" id="{74A3D22D-7DD2-41C2-AC57-C66232939976}"/>
              </a:ext>
            </a:extLst>
          </p:cNvPr>
          <p:cNvSpPr>
            <a:spLocks xmlns:a="http://schemas.openxmlformats.org/drawingml/2006/main" noGrp="1"/>
          </p:cNvSpPr>
          <p:nvPr/>
        </p:nvSpPr>
        <p:spPr>
          <a:xfrm xmlns:a="http://schemas.openxmlformats.org/drawingml/2006/main">
            <a:off x="8801100" y="3209925"/>
            <a:ext cx="514350" cy="247650"/>
          </a:xfrm>
          <a:prstGeom xmlns:a="http://schemas.openxmlformats.org/drawingml/2006/main" prst="rightArrow">
            <a:avLst/>
          </a:prstGeom>
          <a:solidFill xmlns:a="http://schemas.openxmlformats.org/drawingml/2006/main">
            <a:srgbClr val="52616B"/>
          </a:solidFill>
          <a:ln xmlns:a="http://schemas.openxmlformats.org/drawingml/2006/main" w="9525">
            <a:solidFill>
              <a:srgbClr val="52616B"/>
            </a:solidFill>
            <a:prstDash val="solid"/>
          </a:ln>
        </p:spPr>
      </p:sp>
      <p:sp>
        <p:nvSpPr>
          <p:cNvPr id="28" name="">
            <a:extLst xmlns:a="http://schemas.openxmlformats.org/drawingml/2006/main">
              <a:ext uri="{FF2B5EF4-FFF2-40B4-BE49-F238E27FC236}">
                <a16:creationId xmlns:a16="http://schemas.microsoft.com/office/drawing/2014/main" id="{9B855FA3-1F66-45D3-95E1-907EB16F36F3}"/>
              </a:ext>
            </a:extLst>
          </p:cNvPr>
          <p:cNvSpPr>
            <a:spLocks xmlns:a="http://schemas.openxmlformats.org/drawingml/2006/main" noGrp="1"/>
          </p:cNvSpPr>
          <p:nvPr/>
        </p:nvSpPr>
        <p:spPr>
          <a:xfrm xmlns:a="http://schemas.openxmlformats.org/drawingml/2006/main">
            <a:off x="9563100" y="3048000"/>
            <a:ext cx="571500" cy="571500"/>
          </a:xfrm>
          <a:prstGeom xmlns:a="http://schemas.openxmlformats.org/drawingml/2006/main" prst="ellipse">
            <a:avLst/>
          </a:prstGeom>
          <a:solidFill xmlns:a="http://schemas.openxmlformats.org/drawingml/2006/main">
            <a:srgbClr val="F57748"/>
          </a:solidFill>
          <a:ln xmlns:a="http://schemas.openxmlformats.org/drawingml/2006/main" w="14288">
            <a:solidFill>
              <a:srgbClr val="111111"/>
            </a:solidFill>
            <a:prstDash val="solid"/>
          </a:ln>
        </p:spPr>
      </p:sp>
      <p:sp>
        <p:nvSpPr>
          <p:cNvPr id="29" name="">
            <a:extLst xmlns:a="http://schemas.openxmlformats.org/drawingml/2006/main">
              <a:ext uri="{FF2B5EF4-FFF2-40B4-BE49-F238E27FC236}">
                <a16:creationId xmlns:a16="http://schemas.microsoft.com/office/drawing/2014/main" id="{4BB883D1-A20D-427B-9B41-A22C1158A0A3}"/>
              </a:ext>
            </a:extLst>
          </p:cNvPr>
          <p:cNvSpPr>
            <a:spLocks xmlns:a="http://schemas.openxmlformats.org/drawingml/2006/main" noGrp="1"/>
          </p:cNvSpPr>
          <p:nvPr/>
        </p:nvSpPr>
        <p:spPr>
          <a:xfrm xmlns:a="http://schemas.openxmlformats.org/drawingml/2006/main">
            <a:off x="10515600" y="3048000"/>
            <a:ext cx="571500" cy="571500"/>
          </a:xfrm>
          <a:prstGeom xmlns:a="http://schemas.openxmlformats.org/drawingml/2006/main" prst="ellipse">
            <a:avLst/>
          </a:prstGeom>
          <a:solidFill xmlns:a="http://schemas.openxmlformats.org/drawingml/2006/main">
            <a:srgbClr val="F57748"/>
          </a:solidFill>
          <a:ln xmlns:a="http://schemas.openxmlformats.org/drawingml/2006/main" w="14288">
            <a:solidFill>
              <a:srgbClr val="111111"/>
            </a:solidFill>
            <a:prstDash val="solid"/>
          </a:ln>
        </p:spPr>
      </p:sp>
      <p:sp>
        <p:nvSpPr>
          <p:cNvPr id="30" name="">
            <a:extLst xmlns:a="http://schemas.openxmlformats.org/drawingml/2006/main">
              <a:ext uri="{FF2B5EF4-FFF2-40B4-BE49-F238E27FC236}">
                <a16:creationId xmlns:a16="http://schemas.microsoft.com/office/drawing/2014/main" id="{D7F0BF1C-817D-41D5-95FB-82F09C466673}"/>
              </a:ext>
            </a:extLst>
          </p:cNvPr>
          <p:cNvSpPr>
            <a:spLocks xmlns:a="http://schemas.openxmlformats.org/drawingml/2006/main" noGrp="1"/>
          </p:cNvSpPr>
          <p:nvPr/>
        </p:nvSpPr>
        <p:spPr>
          <a:xfrm xmlns:a="http://schemas.openxmlformats.org/drawingml/2006/main">
            <a:off x="10191750" y="3248025"/>
            <a:ext cx="257175" cy="17145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31" name="">
            <a:extLst xmlns:a="http://schemas.openxmlformats.org/drawingml/2006/main">
              <a:ext uri="{FF2B5EF4-FFF2-40B4-BE49-F238E27FC236}">
                <a16:creationId xmlns:a16="http://schemas.microsoft.com/office/drawing/2014/main" id="{8F6C5AC0-715C-4FE1-AAF8-4A5F14732754}"/>
              </a:ext>
            </a:extLst>
          </p:cNvPr>
          <p:cNvSpPr>
            <a:spLocks xmlns:a="http://schemas.openxmlformats.org/drawingml/2006/main" noGrp="1"/>
          </p:cNvSpPr>
          <p:nvPr/>
        </p:nvSpPr>
        <p:spPr>
          <a:xfrm xmlns:a="http://schemas.openxmlformats.org/drawingml/2006/main">
            <a:off x="10496550" y="3248025"/>
            <a:ext cx="257175" cy="171450"/>
          </a:xfrm>
          <a:prstGeom xmlns:a="http://schemas.openxmlformats.org/drawingml/2006/main" prst="leftArrow">
            <a:avLst/>
          </a:prstGeom>
          <a:solidFill xmlns:a="http://schemas.openxmlformats.org/drawingml/2006/main">
            <a:srgbClr val="F5774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01FBCBA-5159-4141-8564-1734C4E26F2D}"/>
              </a:ext>
            </a:extLst>
          </p:cNvPr>
          <p:cNvSpPr>
            <a:spLocks xmlns:a="http://schemas.openxmlformats.org/drawingml/2006/main" noGrp="1"/>
          </p:cNvSpPr>
          <p:nvPr/>
        </p:nvSpPr>
        <p:spPr>
          <a:xfrm xmlns:a="http://schemas.openxmlformats.org/drawingml/2006/main">
            <a:off x="6534150" y="4238625"/>
            <a:ext cx="485775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0000"/>
              </a:lnSpc>
              <a:buNone/>
              <a:defRPr sz="1800" b="0" i="0">
                <a:solidFill>
                  <a:srgbClr val="52616B"/>
                </a:solidFill>
                <a:latin typeface="Helvetica Neue"/>
                <a:ea typeface="Helvetica Neue"/>
                <a:cs typeface="Helvetica Neue"/>
              </a:defRPr>
            </a:pPr>
            <a:r>
              <a:rPr sz="1800" b="0" i="0">
                <a:solidFill>
                  <a:srgbClr val="52616B"/>
                </a:solidFill>
                <a:latin typeface="Helvetica Neue"/>
                <a:ea typeface="Helvetica Neue"/>
                <a:cs typeface="Helvetica Neue"/>
              </a:rPr>
              <a:t>The particles separate more slowly than they approached. Mechanical energy becomes heat, deformation, and sound.</a:t>
            </a:r>
          </a:p>
        </p:txBody>
      </p:sp>
    </p:spTree>
    <p:extLst>
      <p:ext uri="{BB962C8B-B14F-4D97-AF65-F5344CB8AC3E}">
        <p14:creationId xmlns:p14="http://schemas.microsoft.com/office/powerpoint/2010/main" val="1852711609"/>
      </p:ext>
    </p:extLst>
  </p:cSld>
</p:sld>
</file>

<file path=ppt/slides/slide7.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82E809D-35A1-474F-81DA-27D754D3E6E6}"/>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TARGET</a:t>
            </a:r>
          </a:p>
        </p:txBody>
      </p:sp>
      <p:sp>
        <p:nvSpPr>
          <p:cNvPr id="2" name="">
            <a:extLst xmlns:a="http://schemas.openxmlformats.org/drawingml/2006/main">
              <a:ext uri="{FF2B5EF4-FFF2-40B4-BE49-F238E27FC236}">
                <a16:creationId xmlns:a16="http://schemas.microsoft.com/office/drawing/2014/main" id="{509CD90F-3AA8-4112-9286-8B8A722B431A}"/>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layer organizes into standing-wave patterns.</a:t>
            </a:r>
          </a:p>
        </p:txBody>
      </p:sp>
      <p:sp>
        <p:nvSpPr>
          <p:cNvPr id="3" name="">
            <a:extLst xmlns:a="http://schemas.openxmlformats.org/drawingml/2006/main">
              <a:ext uri="{FF2B5EF4-FFF2-40B4-BE49-F238E27FC236}">
                <a16:creationId xmlns:a16="http://schemas.microsoft.com/office/drawing/2014/main" id="{0FE86CF0-601F-4F95-B4F0-B234B67DA155}"/>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01232096-1709-439B-A316-C1404B3C98A2}"/>
              </a:ext>
            </a:extLst>
          </p:cNvPr>
          <p:cNvSpPr>
            <a:spLocks xmlns:a="http://schemas.openxmlformats.org/drawingml/2006/main" noGrp="1"/>
          </p:cNvSpPr>
          <p:nvPr/>
        </p:nvSpPr>
        <p:spPr>
          <a:xfrm xmlns:a="http://schemas.openxmlformats.org/drawingml/2006/main">
            <a:off x="400050" y="139065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1d8edf531a7b4d93"/>
          <a:srcRect xmlns:a="http://schemas.openxmlformats.org/drawingml/2006/main" l="0" t="19295" r="0" b="19295"/>
          <a:stretch xmlns:a="http://schemas.openxmlformats.org/drawingml/2006/main">
            <a:fillRect l="0" t="0" r="0" b="0"/>
          </a:stretch>
        </p:blipFill>
        <p:spPr>
          <a:xfrm xmlns:a="http://schemas.openxmlformats.org/drawingml/2006/main">
            <a:off x="495300" y="1485900"/>
            <a:ext cx="2419350" cy="1524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A3AEB5A3-5780-4313-A269-CF27E864E7D1}"/>
              </a:ext>
            </a:extLst>
          </p:cNvPr>
          <p:cNvSpPr>
            <a:spLocks xmlns:a="http://schemas.openxmlformats.org/drawingml/2006/main" noGrp="1"/>
          </p:cNvSpPr>
          <p:nvPr/>
        </p:nvSpPr>
        <p:spPr>
          <a:xfrm xmlns:a="http://schemas.openxmlformats.org/drawingml/2006/main">
            <a:off x="514350" y="311467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a   squares · f/2</a:t>
            </a:r>
          </a:p>
        </p:txBody>
      </p:sp>
      <p:sp>
        <p:nvSpPr>
          <p:cNvPr id="7" name="">
            <a:extLst xmlns:a="http://schemas.openxmlformats.org/drawingml/2006/main">
              <a:ext uri="{FF2B5EF4-FFF2-40B4-BE49-F238E27FC236}">
                <a16:creationId xmlns:a16="http://schemas.microsoft.com/office/drawing/2014/main" id="{0920D4A5-17C4-4766-AFFA-EE907BF71C24}"/>
              </a:ext>
            </a:extLst>
          </p:cNvPr>
          <p:cNvSpPr>
            <a:spLocks xmlns:a="http://schemas.openxmlformats.org/drawingml/2006/main" noGrp="1"/>
          </p:cNvSpPr>
          <p:nvPr/>
        </p:nvSpPr>
        <p:spPr>
          <a:xfrm xmlns:a="http://schemas.openxmlformats.org/drawingml/2006/main">
            <a:off x="3305175" y="139065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c72d1c7c41964c76"/>
          <a:srcRect xmlns:a="http://schemas.openxmlformats.org/drawingml/2006/main" l="0" t="18341" r="0" b="18341"/>
          <a:stretch xmlns:a="http://schemas.openxmlformats.org/drawingml/2006/main">
            <a:fillRect l="0" t="0" r="0" b="0"/>
          </a:stretch>
        </p:blipFill>
        <p:spPr>
          <a:xfrm xmlns:a="http://schemas.openxmlformats.org/drawingml/2006/main">
            <a:off x="3400425" y="1485900"/>
            <a:ext cx="2419350" cy="1524000"/>
          </a:xfrm>
          <a:prstGeom xmlns:a="http://schemas.openxmlformats.org/drawingml/2006/main" prst="rect">
            <a:avLst/>
          </a:prstGeom>
        </p:spPr>
      </p:pic>
      <p:sp>
        <p:nvSpPr>
          <p:cNvPr id="9" name="">
            <a:extLst xmlns:a="http://schemas.openxmlformats.org/drawingml/2006/main">
              <a:ext uri="{FF2B5EF4-FFF2-40B4-BE49-F238E27FC236}">
                <a16:creationId xmlns:a16="http://schemas.microsoft.com/office/drawing/2014/main" id="{A4600BC7-2F7D-459B-AB33-41EBE3D54DBF}"/>
              </a:ext>
            </a:extLst>
          </p:cNvPr>
          <p:cNvSpPr>
            <a:spLocks xmlns:a="http://schemas.openxmlformats.org/drawingml/2006/main" noGrp="1"/>
          </p:cNvSpPr>
          <p:nvPr/>
        </p:nvSpPr>
        <p:spPr>
          <a:xfrm xmlns:a="http://schemas.openxmlformats.org/drawingml/2006/main">
            <a:off x="3419475" y="311467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b   stripes · f/2</a:t>
            </a:r>
          </a:p>
        </p:txBody>
      </p:sp>
      <p:sp>
        <p:nvSpPr>
          <p:cNvPr id="10" name="">
            <a:extLst xmlns:a="http://schemas.openxmlformats.org/drawingml/2006/main">
              <a:ext uri="{FF2B5EF4-FFF2-40B4-BE49-F238E27FC236}">
                <a16:creationId xmlns:a16="http://schemas.microsoft.com/office/drawing/2014/main" id="{6E244075-12E9-4F5E-A2FD-5C01BA581D39}"/>
              </a:ext>
            </a:extLst>
          </p:cNvPr>
          <p:cNvSpPr>
            <a:spLocks xmlns:a="http://schemas.openxmlformats.org/drawingml/2006/main" noGrp="1"/>
          </p:cNvSpPr>
          <p:nvPr/>
        </p:nvSpPr>
        <p:spPr>
          <a:xfrm xmlns:a="http://schemas.openxmlformats.org/drawingml/2006/main">
            <a:off x="6210300" y="139065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d5f3f1036fe84062"/>
          <a:srcRect xmlns:a="http://schemas.openxmlformats.org/drawingml/2006/main" l="0" t="18585" r="0" b="18585"/>
          <a:stretch xmlns:a="http://schemas.openxmlformats.org/drawingml/2006/main">
            <a:fillRect l="0" t="0" r="0" b="0"/>
          </a:stretch>
        </p:blipFill>
        <p:spPr>
          <a:xfrm xmlns:a="http://schemas.openxmlformats.org/drawingml/2006/main">
            <a:off x="6305550" y="1485900"/>
            <a:ext cx="2419350" cy="152400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8E276BFF-EFF1-4E69-9EFC-41F98CE8752A}"/>
              </a:ext>
            </a:extLst>
          </p:cNvPr>
          <p:cNvSpPr>
            <a:spLocks xmlns:a="http://schemas.openxmlformats.org/drawingml/2006/main" noGrp="1"/>
          </p:cNvSpPr>
          <p:nvPr/>
        </p:nvSpPr>
        <p:spPr>
          <a:xfrm xmlns:a="http://schemas.openxmlformats.org/drawingml/2006/main">
            <a:off x="6324600" y="311467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c   hexagons · phase 1</a:t>
            </a:r>
          </a:p>
        </p:txBody>
      </p:sp>
      <p:sp>
        <p:nvSpPr>
          <p:cNvPr id="13" name="">
            <a:extLst xmlns:a="http://schemas.openxmlformats.org/drawingml/2006/main">
              <a:ext uri="{FF2B5EF4-FFF2-40B4-BE49-F238E27FC236}">
                <a16:creationId xmlns:a16="http://schemas.microsoft.com/office/drawing/2014/main" id="{18E8AE87-9DE3-4B62-B51C-1E664DF0CFC0}"/>
              </a:ext>
            </a:extLst>
          </p:cNvPr>
          <p:cNvSpPr>
            <a:spLocks xmlns:a="http://schemas.openxmlformats.org/drawingml/2006/main" noGrp="1"/>
          </p:cNvSpPr>
          <p:nvPr/>
        </p:nvSpPr>
        <p:spPr>
          <a:xfrm xmlns:a="http://schemas.openxmlformats.org/drawingml/2006/main">
            <a:off x="9115425" y="139065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7f20ba7bc64d44a8"/>
          <a:srcRect xmlns:a="http://schemas.openxmlformats.org/drawingml/2006/main" l="0" t="20048" r="0" b="20048"/>
          <a:stretch xmlns:a="http://schemas.openxmlformats.org/drawingml/2006/main">
            <a:fillRect l="0" t="0" r="0" b="0"/>
          </a:stretch>
        </p:blipFill>
        <p:spPr>
          <a:xfrm xmlns:a="http://schemas.openxmlformats.org/drawingml/2006/main">
            <a:off x="9210675" y="1485900"/>
            <a:ext cx="2419350" cy="15240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72A96999-964F-4F31-A306-0AF5AB44FA9C}"/>
              </a:ext>
            </a:extLst>
          </p:cNvPr>
          <p:cNvSpPr>
            <a:spLocks xmlns:a="http://schemas.openxmlformats.org/drawingml/2006/main" noGrp="1"/>
          </p:cNvSpPr>
          <p:nvPr/>
        </p:nvSpPr>
        <p:spPr>
          <a:xfrm xmlns:a="http://schemas.openxmlformats.org/drawingml/2006/main">
            <a:off x="9229725" y="311467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d   hexagons · phase 2</a:t>
            </a:r>
          </a:p>
        </p:txBody>
      </p:sp>
      <p:sp>
        <p:nvSpPr>
          <p:cNvPr id="16" name="">
            <a:extLst xmlns:a="http://schemas.openxmlformats.org/drawingml/2006/main">
              <a:ext uri="{FF2B5EF4-FFF2-40B4-BE49-F238E27FC236}">
                <a16:creationId xmlns:a16="http://schemas.microsoft.com/office/drawing/2014/main" id="{FB4282F8-FFBD-4B68-89AF-95D42D303695}"/>
              </a:ext>
            </a:extLst>
          </p:cNvPr>
          <p:cNvSpPr>
            <a:spLocks xmlns:a="http://schemas.openxmlformats.org/drawingml/2006/main" noGrp="1"/>
          </p:cNvSpPr>
          <p:nvPr/>
        </p:nvSpPr>
        <p:spPr>
          <a:xfrm xmlns:a="http://schemas.openxmlformats.org/drawingml/2006/main">
            <a:off x="400050" y="373380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a2fc1f30aa8342ca"/>
          <a:srcRect xmlns:a="http://schemas.openxmlformats.org/drawingml/2006/main" l="0" t="19295" r="0" b="19295"/>
          <a:stretch xmlns:a="http://schemas.openxmlformats.org/drawingml/2006/main">
            <a:fillRect l="0" t="0" r="0" b="0"/>
          </a:stretch>
        </p:blipFill>
        <p:spPr>
          <a:xfrm xmlns:a="http://schemas.openxmlformats.org/drawingml/2006/main">
            <a:off x="495300" y="3829050"/>
            <a:ext cx="2419350" cy="1524000"/>
          </a:xfrm>
          <a:prstGeom xmlns:a="http://schemas.openxmlformats.org/drawingml/2006/main" prst="rect">
            <a:avLst/>
          </a:prstGeom>
        </p:spPr>
      </p:pic>
      <p:sp>
        <p:nvSpPr>
          <p:cNvPr id="18" name="">
            <a:extLst xmlns:a="http://schemas.openxmlformats.org/drawingml/2006/main">
              <a:ext uri="{FF2B5EF4-FFF2-40B4-BE49-F238E27FC236}">
                <a16:creationId xmlns:a16="http://schemas.microsoft.com/office/drawing/2014/main" id="{6F79138E-D299-4285-B354-6C385D8AE6F6}"/>
              </a:ext>
            </a:extLst>
          </p:cNvPr>
          <p:cNvSpPr>
            <a:spLocks xmlns:a="http://schemas.openxmlformats.org/drawingml/2006/main" noGrp="1"/>
          </p:cNvSpPr>
          <p:nvPr/>
        </p:nvSpPr>
        <p:spPr>
          <a:xfrm xmlns:a="http://schemas.openxmlformats.org/drawingml/2006/main">
            <a:off x="514350" y="545782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e   flat · f/2</a:t>
            </a:r>
          </a:p>
        </p:txBody>
      </p:sp>
      <p:sp>
        <p:nvSpPr>
          <p:cNvPr id="19" name="">
            <a:extLst xmlns:a="http://schemas.openxmlformats.org/drawingml/2006/main">
              <a:ext uri="{FF2B5EF4-FFF2-40B4-BE49-F238E27FC236}">
                <a16:creationId xmlns:a16="http://schemas.microsoft.com/office/drawing/2014/main" id="{5FA8346E-00F7-4C75-A626-74A84576EB58}"/>
              </a:ext>
            </a:extLst>
          </p:cNvPr>
          <p:cNvSpPr>
            <a:spLocks xmlns:a="http://schemas.openxmlformats.org/drawingml/2006/main" noGrp="1"/>
          </p:cNvSpPr>
          <p:nvPr/>
        </p:nvSpPr>
        <p:spPr>
          <a:xfrm xmlns:a="http://schemas.openxmlformats.org/drawingml/2006/main">
            <a:off x="3305175" y="373380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62cec1d1fb944a16"/>
          <a:srcRect xmlns:a="http://schemas.openxmlformats.org/drawingml/2006/main" l="0" t="18341" r="0" b="18341"/>
          <a:stretch xmlns:a="http://schemas.openxmlformats.org/drawingml/2006/main">
            <a:fillRect l="0" t="0" r="0" b="0"/>
          </a:stretch>
        </p:blipFill>
        <p:spPr>
          <a:xfrm xmlns:a="http://schemas.openxmlformats.org/drawingml/2006/main">
            <a:off x="3400425" y="3829050"/>
            <a:ext cx="2419350" cy="15240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76E120F3-A9E5-4E72-8800-725AF251C459}"/>
              </a:ext>
            </a:extLst>
          </p:cNvPr>
          <p:cNvSpPr>
            <a:spLocks xmlns:a="http://schemas.openxmlformats.org/drawingml/2006/main" noGrp="1"/>
          </p:cNvSpPr>
          <p:nvPr/>
        </p:nvSpPr>
        <p:spPr>
          <a:xfrm xmlns:a="http://schemas.openxmlformats.org/drawingml/2006/main">
            <a:off x="3419475" y="545782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f   squares · f/4</a:t>
            </a:r>
          </a:p>
        </p:txBody>
      </p:sp>
      <p:sp>
        <p:nvSpPr>
          <p:cNvPr id="22" name="">
            <a:extLst xmlns:a="http://schemas.openxmlformats.org/drawingml/2006/main">
              <a:ext uri="{FF2B5EF4-FFF2-40B4-BE49-F238E27FC236}">
                <a16:creationId xmlns:a16="http://schemas.microsoft.com/office/drawing/2014/main" id="{1E41E2E2-1120-42F0-89C2-B03757FA383F}"/>
              </a:ext>
            </a:extLst>
          </p:cNvPr>
          <p:cNvSpPr>
            <a:spLocks xmlns:a="http://schemas.openxmlformats.org/drawingml/2006/main" noGrp="1"/>
          </p:cNvSpPr>
          <p:nvPr/>
        </p:nvSpPr>
        <p:spPr>
          <a:xfrm xmlns:a="http://schemas.openxmlformats.org/drawingml/2006/main">
            <a:off x="6210300" y="373380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3ad23516d8cc4c79"/>
          <a:srcRect xmlns:a="http://schemas.openxmlformats.org/drawingml/2006/main" l="0" t="18585" r="0" b="18585"/>
          <a:stretch xmlns:a="http://schemas.openxmlformats.org/drawingml/2006/main">
            <a:fillRect l="0" t="0" r="0" b="0"/>
          </a:stretch>
        </p:blipFill>
        <p:spPr>
          <a:xfrm xmlns:a="http://schemas.openxmlformats.org/drawingml/2006/main">
            <a:off x="6305550" y="3829050"/>
            <a:ext cx="2419350" cy="1524000"/>
          </a:xfrm>
          <a:prstGeom xmlns:a="http://schemas.openxmlformats.org/drawingml/2006/main" prst="rect">
            <a:avLst/>
          </a:prstGeom>
        </p:spPr>
      </p:pic>
      <p:sp>
        <p:nvSpPr>
          <p:cNvPr id="24" name="">
            <a:extLst xmlns:a="http://schemas.openxmlformats.org/drawingml/2006/main">
              <a:ext uri="{FF2B5EF4-FFF2-40B4-BE49-F238E27FC236}">
                <a16:creationId xmlns:a16="http://schemas.microsoft.com/office/drawing/2014/main" id="{7C76B6DC-248E-442E-BDA0-F0C5C804DF24}"/>
              </a:ext>
            </a:extLst>
          </p:cNvPr>
          <p:cNvSpPr>
            <a:spLocks xmlns:a="http://schemas.openxmlformats.org/drawingml/2006/main" noGrp="1"/>
          </p:cNvSpPr>
          <p:nvPr/>
        </p:nvSpPr>
        <p:spPr>
          <a:xfrm xmlns:a="http://schemas.openxmlformats.org/drawingml/2006/main">
            <a:off x="6324600" y="545782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g   stripes · f/4</a:t>
            </a:r>
          </a:p>
        </p:txBody>
      </p:sp>
      <p:sp>
        <p:nvSpPr>
          <p:cNvPr id="25" name="">
            <a:extLst xmlns:a="http://schemas.openxmlformats.org/drawingml/2006/main">
              <a:ext uri="{FF2B5EF4-FFF2-40B4-BE49-F238E27FC236}">
                <a16:creationId xmlns:a16="http://schemas.microsoft.com/office/drawing/2014/main" id="{B7AF3731-DE9E-4DC4-B0ED-82154B18C249}"/>
              </a:ext>
            </a:extLst>
          </p:cNvPr>
          <p:cNvSpPr>
            <a:spLocks xmlns:a="http://schemas.openxmlformats.org/drawingml/2006/main" noGrp="1"/>
          </p:cNvSpPr>
          <p:nvPr/>
        </p:nvSpPr>
        <p:spPr>
          <a:xfrm xmlns:a="http://schemas.openxmlformats.org/drawingml/2006/main">
            <a:off x="9115425" y="3733800"/>
            <a:ext cx="2609850" cy="2076450"/>
          </a:xfrm>
          <a:prstGeom xmlns:a="http://schemas.openxmlformats.org/drawingml/2006/main" prst="roundRect">
            <a:avLst>
              <a:gd name="adj" fmla="val 3670"/>
            </a:avLst>
          </a:prstGeom>
          <a:solidFill xmlns:a="http://schemas.openxmlformats.org/drawingml/2006/main">
            <a:srgbClr val="FFFFFF"/>
          </a:solidFill>
          <a:ln xmlns:a="http://schemas.openxmlformats.org/drawingml/2006/main" w="9525">
            <a:solidFill>
              <a:srgbClr val="B8BCC4"/>
            </a:solidFill>
            <a:prstDash val="solid"/>
          </a:ln>
        </p:spPr>
      </p:sp>
      <p:pic>
        <p:nvPicPr>
          <p:cNvPr id="54" name=""/>
          <p:cNvPicPr>
            <a:picLocks xmlns:a="http://schemas.openxmlformats.org/drawingml/2006/main" noChangeAspect="1"/>
          </p:cNvPicPr>
          <p:nvPr/>
        </p:nvPicPr>
        <p:blipFill>
          <a:blip xmlns:r="http://schemas.openxmlformats.org/officeDocument/2006/relationships" xmlns:a="http://schemas.openxmlformats.org/drawingml/2006/main" r:embed="R72dd285586b842d7"/>
          <a:srcRect xmlns:a="http://schemas.openxmlformats.org/drawingml/2006/main" l="0" t="20048" r="0" b="20048"/>
          <a:stretch xmlns:a="http://schemas.openxmlformats.org/drawingml/2006/main">
            <a:fillRect l="0" t="0" r="0" b="0"/>
          </a:stretch>
        </p:blipFill>
        <p:spPr>
          <a:xfrm xmlns:a="http://schemas.openxmlformats.org/drawingml/2006/main">
            <a:off x="9210675" y="3829050"/>
            <a:ext cx="2419350" cy="1524000"/>
          </a:xfrm>
          <a:prstGeom xmlns:a="http://schemas.openxmlformats.org/drawingml/2006/main" prst="rect">
            <a:avLst/>
          </a:prstGeom>
        </p:spPr>
      </p:pic>
      <p:sp>
        <p:nvSpPr>
          <p:cNvPr id="27" name="">
            <a:extLst xmlns:a="http://schemas.openxmlformats.org/drawingml/2006/main">
              <a:ext uri="{FF2B5EF4-FFF2-40B4-BE49-F238E27FC236}">
                <a16:creationId xmlns:a16="http://schemas.microsoft.com/office/drawing/2014/main" id="{B1605D8C-7A6E-4F74-AF68-0B24ABE5984C}"/>
              </a:ext>
            </a:extLst>
          </p:cNvPr>
          <p:cNvSpPr>
            <a:spLocks xmlns:a="http://schemas.openxmlformats.org/drawingml/2006/main" noGrp="1"/>
          </p:cNvSpPr>
          <p:nvPr/>
        </p:nvSpPr>
        <p:spPr>
          <a:xfrm xmlns:a="http://schemas.openxmlformats.org/drawingml/2006/main">
            <a:off x="9229725" y="5457825"/>
            <a:ext cx="23622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275" b="1" i="0">
                <a:solidFill>
                  <a:srgbClr val="111111"/>
                </a:solidFill>
                <a:latin typeface="Helvetica Neue"/>
                <a:ea typeface="Helvetica Neue"/>
                <a:cs typeface="Helvetica Neue"/>
              </a:defRPr>
            </a:pPr>
            <a:r>
              <a:rPr sz="1275" b="1" i="0">
                <a:solidFill>
                  <a:srgbClr val="111111"/>
                </a:solidFill>
                <a:latin typeface="Helvetica Neue"/>
                <a:ea typeface="Helvetica Neue"/>
                <a:cs typeface="Helvetica Neue"/>
              </a:rPr>
              <a:t>h   hexagons · f/4</a:t>
            </a:r>
          </a:p>
        </p:txBody>
      </p:sp>
      <p:sp>
        <p:nvSpPr>
          <p:cNvPr id="28" name="">
            <a:extLst xmlns:a="http://schemas.openxmlformats.org/drawingml/2006/main">
              <a:ext uri="{FF2B5EF4-FFF2-40B4-BE49-F238E27FC236}">
                <a16:creationId xmlns:a16="http://schemas.microsoft.com/office/drawing/2014/main" id="{E22A5552-F46A-486A-9923-51F12AA91400}"/>
              </a:ext>
            </a:extLst>
          </p:cNvPr>
          <p:cNvSpPr>
            <a:spLocks xmlns:a="http://schemas.openxmlformats.org/drawingml/2006/main" noGrp="1"/>
          </p:cNvSpPr>
          <p:nvPr/>
        </p:nvSpPr>
        <p:spPr>
          <a:xfrm xmlns:a="http://schemas.openxmlformats.org/drawingml/2006/main">
            <a:off x="457200" y="6162675"/>
            <a:ext cx="1047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307"/>
          </a:bodyPr>
          <a:lstStyle xmlns:a="http://schemas.openxmlformats.org/drawingml/2006/main"/>
          <a:p xmlns:a="http://schemas.openxmlformats.org/drawingml/2006/main">
            <a:pPr algn="l">
              <a:lnSpc>
                <a:spcPct val="10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The geometry changes with forcing frequency and acceleration; the pattern can also repeat every two or four drive cycles.</a:t>
            </a:r>
          </a:p>
        </p:txBody>
      </p:sp>
    </p:spTree>
    <p:extLst>
      <p:ext uri="{BB962C8B-B14F-4D97-AF65-F5344CB8AC3E}">
        <p14:creationId xmlns:p14="http://schemas.microsoft.com/office/powerpoint/2010/main" val="1212353396"/>
      </p:ext>
    </p:extLst>
  </p:cSld>
</p:sld>
</file>

<file path=ppt/slides/slide8.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pic>
        <p:nvPicPr>
          <p:cNvPr id="3" name=""/>
          <p:cNvPicPr>
            <a:picLocks xmlns:a="http://schemas.openxmlformats.org/drawingml/2006/main" noChangeAspect="1"/>
          </p:cNvPicPr>
          <p:nvPr/>
        </p:nvPicPr>
        <p:blipFill>
          <a:blip xmlns:r="http://schemas.openxmlformats.org/officeDocument/2006/relationships" xmlns:a="http://schemas.openxmlformats.org/drawingml/2006/main" r:embed="R958f3d89d34c4eb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A6AA48A-5D7D-4139-967B-5456688AB162}"/>
              </a:ext>
            </a:extLst>
          </p:cNvPr>
          <p:cNvSpPr>
            <a:spLocks xmlns:a="http://schemas.openxmlformats.org/drawingml/2006/main" noGrp="1"/>
          </p:cNvSpPr>
          <p:nvPr/>
        </p:nvSpPr>
        <p:spPr>
          <a:xfrm xmlns:a="http://schemas.openxmlformats.org/drawingml/2006/main">
            <a:off x="11258550" y="6496050"/>
            <a:ext cx="533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050" b="0" i="0">
                <a:solidFill>
                  <a:srgbClr val="52616B"/>
                </a:solidFill>
                <a:latin typeface="Helvetica Neue"/>
                <a:ea typeface="Helvetica Neue"/>
                <a:cs typeface="Helvetica Neue"/>
              </a:defRPr>
            </a:pPr>
            <a:r>
              <a:rPr sz="1050" b="0" i="0">
                <a:solidFill>
                  <a:srgbClr val="52616B"/>
                </a:solidFill>
                <a:latin typeface="Helvetica Neue"/>
                <a:ea typeface="Helvetica Neue"/>
                <a:cs typeface="Helvetica Neue"/>
              </a:rPr>
              <a:t>08</a:t>
            </a:r>
          </a:p>
        </p:txBody>
      </p:sp>
    </p:spTree>
    <p:extLst>
      <p:ext uri="{BB962C8B-B14F-4D97-AF65-F5344CB8AC3E}">
        <p14:creationId xmlns:p14="http://schemas.microsoft.com/office/powerpoint/2010/main" val="1989116576"/>
      </p:ext>
    </p:extLst>
  </p:cSld>
</p:sld>
</file>

<file path=ppt/slides/slide9.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A8825BD-41FD-4973-B95A-0A4F25CB6C0C}"/>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WHY EVENT-DRIVEN?</a:t>
            </a:r>
          </a:p>
        </p:txBody>
      </p:sp>
      <p:sp>
        <p:nvSpPr>
          <p:cNvPr id="2" name="">
            <a:extLst xmlns:a="http://schemas.openxmlformats.org/drawingml/2006/main">
              <a:ext uri="{FF2B5EF4-FFF2-40B4-BE49-F238E27FC236}">
                <a16:creationId xmlns:a16="http://schemas.microsoft.com/office/drawing/2014/main" id="{08BD899F-B024-47FA-A41D-BED674B45A05}"/>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974"/>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Collisions are extremely brief compared with free flight.</a:t>
            </a:r>
          </a:p>
        </p:txBody>
      </p:sp>
      <p:sp>
        <p:nvSpPr>
          <p:cNvPr id="3" name="">
            <a:extLst xmlns:a="http://schemas.openxmlformats.org/drawingml/2006/main">
              <a:ext uri="{FF2B5EF4-FFF2-40B4-BE49-F238E27FC236}">
                <a16:creationId xmlns:a16="http://schemas.microsoft.com/office/drawing/2014/main" id="{17F5E779-91E4-42EC-8143-58C3FC4E65AD}"/>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09</a:t>
            </a:r>
          </a:p>
        </p:txBody>
      </p:sp>
      <p:sp>
        <p:nvSpPr>
          <p:cNvPr id="4" name="">
            <a:extLst xmlns:a="http://schemas.openxmlformats.org/drawingml/2006/main">
              <a:ext uri="{FF2B5EF4-FFF2-40B4-BE49-F238E27FC236}">
                <a16:creationId xmlns:a16="http://schemas.microsoft.com/office/drawing/2014/main" id="{8B087C53-ADFD-450D-9703-57406096D6F8}"/>
              </a:ext>
            </a:extLst>
          </p:cNvPr>
          <p:cNvSpPr>
            <a:spLocks xmlns:a="http://schemas.openxmlformats.org/drawingml/2006/main" noGrp="1"/>
          </p:cNvSpPr>
          <p:nvPr/>
        </p:nvSpPr>
        <p:spPr>
          <a:xfrm xmlns:a="http://schemas.openxmlformats.org/drawingml/2006/main">
            <a:off x="762000" y="180975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1" i="0">
                <a:solidFill>
                  <a:srgbClr val="52616B"/>
                </a:solidFill>
                <a:latin typeface="Helvetica Neue"/>
                <a:ea typeface="Helvetica Neue"/>
                <a:cs typeface="Helvetica Neue"/>
              </a:defRPr>
            </a:pPr>
            <a:r>
              <a:rPr sz="1425" b="1" i="0">
                <a:solidFill>
                  <a:srgbClr val="52616B"/>
                </a:solidFill>
                <a:latin typeface="Helvetica Neue"/>
                <a:ea typeface="Helvetica Neue"/>
                <a:cs typeface="Helvetica Neue"/>
              </a:rPr>
              <a:t>physical time</a:t>
            </a:r>
          </a:p>
        </p:txBody>
      </p:sp>
      <p:cxnSp>
        <p:nvCxnSpPr>
          <p:cNvPr id="31" name=""/>
          <p:cNvCxnSpPr/>
          <p:nvPr/>
        </p:nvCxnSpPr>
        <p:spPr>
          <a:xfrm xmlns:a="http://schemas.openxmlformats.org/drawingml/2006/main">
            <a:off x="838200" y="3524250"/>
            <a:ext cx="10382250" cy="0"/>
          </a:xfrm>
          <a:prstGeom xmlns:a="http://schemas.openxmlformats.org/drawingml/2006/main" prst="straightConnector1">
            <a:avLst/>
          </a:prstGeom>
          <a:ln xmlns:a="http://schemas.openxmlformats.org/drawingml/2006/main" w="28575">
            <a:solidFill>
              <a:srgbClr val="111111"/>
            </a:solidFill>
            <a:prstDash val="solid"/>
          </a:ln>
        </p:spPr>
      </p:cxnSp>
      <p:cxnSp>
        <p:nvCxnSpPr>
          <p:cNvPr id="32" name=""/>
          <p:cNvCxnSpPr/>
          <p:nvPr/>
        </p:nvCxnSpPr>
        <p:spPr>
          <a:xfrm xmlns:a="http://schemas.openxmlformats.org/drawingml/2006/main">
            <a:off x="2190750" y="2952750"/>
            <a:ext cx="0" cy="1143000"/>
          </a:xfrm>
          <a:prstGeom xmlns:a="http://schemas.openxmlformats.org/drawingml/2006/main" prst="straightConnector1">
            <a:avLst/>
          </a:prstGeom>
          <a:ln xmlns:a="http://schemas.openxmlformats.org/drawingml/2006/main" w="47625">
            <a:solidFill>
              <a:srgbClr val="3D8DFF"/>
            </a:solidFill>
            <a:prstDash val="solid"/>
          </a:ln>
        </p:spPr>
      </p:cxnSp>
      <p:sp>
        <p:nvSpPr>
          <p:cNvPr id="7" name="">
            <a:extLst xmlns:a="http://schemas.openxmlformats.org/drawingml/2006/main">
              <a:ext uri="{FF2B5EF4-FFF2-40B4-BE49-F238E27FC236}">
                <a16:creationId xmlns:a16="http://schemas.microsoft.com/office/drawing/2014/main" id="{D0EA2CE6-2ABF-4FF9-8BA3-4489268BD811}"/>
              </a:ext>
            </a:extLst>
          </p:cNvPr>
          <p:cNvSpPr>
            <a:spLocks xmlns:a="http://schemas.openxmlformats.org/drawingml/2006/main" noGrp="1"/>
          </p:cNvSpPr>
          <p:nvPr/>
        </p:nvSpPr>
        <p:spPr>
          <a:xfrm xmlns:a="http://schemas.openxmlformats.org/drawingml/2006/main">
            <a:off x="1781175" y="2409825"/>
            <a:ext cx="323850" cy="323850"/>
          </a:xfrm>
          <a:prstGeom xmlns:a="http://schemas.openxmlformats.org/drawingml/2006/main" prst="ellipse">
            <a:avLst/>
          </a:prstGeom>
          <a:solidFill xmlns:a="http://schemas.openxmlformats.org/drawingml/2006/main">
            <a:srgbClr val="3D8DFF"/>
          </a:solidFill>
          <a:ln xmlns:a="http://schemas.openxmlformats.org/drawingml/2006/main" w="14288">
            <a:solidFill>
              <a:srgbClr val="FFFFFF"/>
            </a:solidFill>
            <a:prstDash val="solid"/>
          </a:ln>
        </p:spPr>
      </p:sp>
      <p:sp>
        <p:nvSpPr>
          <p:cNvPr id="8" name="">
            <a:extLst xmlns:a="http://schemas.openxmlformats.org/drawingml/2006/main">
              <a:ext uri="{FF2B5EF4-FFF2-40B4-BE49-F238E27FC236}">
                <a16:creationId xmlns:a16="http://schemas.microsoft.com/office/drawing/2014/main" id="{4CBA1C6F-1568-44EE-8CF4-8CD8CB133D29}"/>
              </a:ext>
            </a:extLst>
          </p:cNvPr>
          <p:cNvSpPr>
            <a:spLocks xmlns:a="http://schemas.openxmlformats.org/drawingml/2006/main" noGrp="1"/>
          </p:cNvSpPr>
          <p:nvPr/>
        </p:nvSpPr>
        <p:spPr>
          <a:xfrm xmlns:a="http://schemas.openxmlformats.org/drawingml/2006/main">
            <a:off x="2276475" y="2409825"/>
            <a:ext cx="323850" cy="323850"/>
          </a:xfrm>
          <a:prstGeom xmlns:a="http://schemas.openxmlformats.org/drawingml/2006/main" prst="ellipse">
            <a:avLst/>
          </a:prstGeom>
          <a:solidFill xmlns:a="http://schemas.openxmlformats.org/drawingml/2006/main">
            <a:srgbClr val="3D8DFF"/>
          </a:solidFill>
          <a:ln xmlns:a="http://schemas.openxmlformats.org/drawingml/2006/main" w="14288">
            <a:solidFill>
              <a:srgbClr val="FFFFFF"/>
            </a:solidFill>
            <a:prstDash val="solid"/>
          </a:ln>
        </p:spPr>
      </p:sp>
      <p:sp>
        <p:nvSpPr>
          <p:cNvPr id="9" name="">
            <a:extLst xmlns:a="http://schemas.openxmlformats.org/drawingml/2006/main">
              <a:ext uri="{FF2B5EF4-FFF2-40B4-BE49-F238E27FC236}">
                <a16:creationId xmlns:a16="http://schemas.microsoft.com/office/drawing/2014/main" id="{9E66BDE3-3DEE-44C9-B7C4-7B5053DB1E7C}"/>
              </a:ext>
            </a:extLst>
          </p:cNvPr>
          <p:cNvSpPr>
            <a:spLocks xmlns:a="http://schemas.openxmlformats.org/drawingml/2006/main" noGrp="1"/>
          </p:cNvSpPr>
          <p:nvPr/>
        </p:nvSpPr>
        <p:spPr>
          <a:xfrm xmlns:a="http://schemas.openxmlformats.org/drawingml/2006/main">
            <a:off x="1733550" y="4238625"/>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0" i="0">
                <a:solidFill>
                  <a:srgbClr val="52616B"/>
                </a:solidFill>
                <a:latin typeface="Helvetica Neue"/>
                <a:ea typeface="Helvetica Neue"/>
                <a:cs typeface="Helvetica Neue"/>
              </a:defRPr>
            </a:pPr>
            <a:r>
              <a:rPr sz="1275" b="0" i="0">
                <a:solidFill>
                  <a:srgbClr val="52616B"/>
                </a:solidFill>
                <a:latin typeface="Helvetica Neue"/>
                <a:ea typeface="Helvetica Neue"/>
                <a:cs typeface="Helvetica Neue"/>
              </a:rPr>
              <a:t>collision</a:t>
            </a:r>
          </a:p>
        </p:txBody>
      </p:sp>
      <p:cxnSp>
        <p:nvCxnSpPr>
          <p:cNvPr id="36" name=""/>
          <p:cNvCxnSpPr/>
          <p:nvPr/>
        </p:nvCxnSpPr>
        <p:spPr>
          <a:xfrm xmlns:a="http://schemas.openxmlformats.org/drawingml/2006/main">
            <a:off x="4572000" y="2952750"/>
            <a:ext cx="0" cy="1143000"/>
          </a:xfrm>
          <a:prstGeom xmlns:a="http://schemas.openxmlformats.org/drawingml/2006/main" prst="straightConnector1">
            <a:avLst/>
          </a:prstGeom>
          <a:ln xmlns:a="http://schemas.openxmlformats.org/drawingml/2006/main" w="47625">
            <a:solidFill>
              <a:srgbClr val="3D8DFF"/>
            </a:solidFill>
            <a:prstDash val="solid"/>
          </a:ln>
        </p:spPr>
      </p:cxnSp>
      <p:sp>
        <p:nvSpPr>
          <p:cNvPr id="11" name="">
            <a:extLst xmlns:a="http://schemas.openxmlformats.org/drawingml/2006/main">
              <a:ext uri="{FF2B5EF4-FFF2-40B4-BE49-F238E27FC236}">
                <a16:creationId xmlns:a16="http://schemas.microsoft.com/office/drawing/2014/main" id="{7116BF15-0A76-42EE-AAA5-3C344492D789}"/>
              </a:ext>
            </a:extLst>
          </p:cNvPr>
          <p:cNvSpPr>
            <a:spLocks xmlns:a="http://schemas.openxmlformats.org/drawingml/2006/main" noGrp="1"/>
          </p:cNvSpPr>
          <p:nvPr/>
        </p:nvSpPr>
        <p:spPr>
          <a:xfrm xmlns:a="http://schemas.openxmlformats.org/drawingml/2006/main">
            <a:off x="4162425" y="2409825"/>
            <a:ext cx="323850" cy="323850"/>
          </a:xfrm>
          <a:prstGeom xmlns:a="http://schemas.openxmlformats.org/drawingml/2006/main" prst="ellipse">
            <a:avLst/>
          </a:prstGeom>
          <a:solidFill xmlns:a="http://schemas.openxmlformats.org/drawingml/2006/main">
            <a:srgbClr val="3D8DFF"/>
          </a:solidFill>
          <a:ln xmlns:a="http://schemas.openxmlformats.org/drawingml/2006/main" w="14288">
            <a:solidFill>
              <a:srgbClr val="FFFFFF"/>
            </a:solidFill>
            <a:prstDash val="solid"/>
          </a:ln>
        </p:spPr>
      </p:sp>
      <p:sp>
        <p:nvSpPr>
          <p:cNvPr id="12" name="">
            <a:extLst xmlns:a="http://schemas.openxmlformats.org/drawingml/2006/main">
              <a:ext uri="{FF2B5EF4-FFF2-40B4-BE49-F238E27FC236}">
                <a16:creationId xmlns:a16="http://schemas.microsoft.com/office/drawing/2014/main" id="{67714DDA-ED73-467C-A605-B55E9718ABC8}"/>
              </a:ext>
            </a:extLst>
          </p:cNvPr>
          <p:cNvSpPr>
            <a:spLocks xmlns:a="http://schemas.openxmlformats.org/drawingml/2006/main" noGrp="1"/>
          </p:cNvSpPr>
          <p:nvPr/>
        </p:nvSpPr>
        <p:spPr>
          <a:xfrm xmlns:a="http://schemas.openxmlformats.org/drawingml/2006/main">
            <a:off x="4657725" y="2409825"/>
            <a:ext cx="323850" cy="323850"/>
          </a:xfrm>
          <a:prstGeom xmlns:a="http://schemas.openxmlformats.org/drawingml/2006/main" prst="ellipse">
            <a:avLst/>
          </a:prstGeom>
          <a:solidFill xmlns:a="http://schemas.openxmlformats.org/drawingml/2006/main">
            <a:srgbClr val="3D8DFF"/>
          </a:solidFill>
          <a:ln xmlns:a="http://schemas.openxmlformats.org/drawingml/2006/main" w="14288">
            <a:solidFill>
              <a:srgbClr val="FFFFFF"/>
            </a:solidFill>
            <a:prstDash val="solid"/>
          </a:ln>
        </p:spPr>
      </p:sp>
      <p:sp>
        <p:nvSpPr>
          <p:cNvPr id="13" name="">
            <a:extLst xmlns:a="http://schemas.openxmlformats.org/drawingml/2006/main">
              <a:ext uri="{FF2B5EF4-FFF2-40B4-BE49-F238E27FC236}">
                <a16:creationId xmlns:a16="http://schemas.microsoft.com/office/drawing/2014/main" id="{C2FF9694-EE5C-4949-A63B-3A9EB74911FF}"/>
              </a:ext>
            </a:extLst>
          </p:cNvPr>
          <p:cNvSpPr>
            <a:spLocks xmlns:a="http://schemas.openxmlformats.org/drawingml/2006/main" noGrp="1"/>
          </p:cNvSpPr>
          <p:nvPr/>
        </p:nvSpPr>
        <p:spPr>
          <a:xfrm xmlns:a="http://schemas.openxmlformats.org/drawingml/2006/main">
            <a:off x="4114800" y="4238625"/>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0" i="0">
                <a:solidFill>
                  <a:srgbClr val="52616B"/>
                </a:solidFill>
                <a:latin typeface="Helvetica Neue"/>
                <a:ea typeface="Helvetica Neue"/>
                <a:cs typeface="Helvetica Neue"/>
              </a:defRPr>
            </a:pPr>
            <a:r>
              <a:rPr sz="1275" b="0" i="0">
                <a:solidFill>
                  <a:srgbClr val="52616B"/>
                </a:solidFill>
                <a:latin typeface="Helvetica Neue"/>
                <a:ea typeface="Helvetica Neue"/>
                <a:cs typeface="Helvetica Neue"/>
              </a:rPr>
              <a:t>collision</a:t>
            </a:r>
          </a:p>
        </p:txBody>
      </p:sp>
      <p:cxnSp>
        <p:nvCxnSpPr>
          <p:cNvPr id="40" name=""/>
          <p:cNvCxnSpPr/>
          <p:nvPr/>
        </p:nvCxnSpPr>
        <p:spPr>
          <a:xfrm xmlns:a="http://schemas.openxmlformats.org/drawingml/2006/main">
            <a:off x="7239000" y="2952750"/>
            <a:ext cx="0" cy="1143000"/>
          </a:xfrm>
          <a:prstGeom xmlns:a="http://schemas.openxmlformats.org/drawingml/2006/main" prst="straightConnector1">
            <a:avLst/>
          </a:prstGeom>
          <a:ln xmlns:a="http://schemas.openxmlformats.org/drawingml/2006/main" w="47625">
            <a:solidFill>
              <a:srgbClr val="F57748"/>
            </a:solidFill>
            <a:prstDash val="solid"/>
          </a:ln>
        </p:spPr>
      </p:cxnSp>
      <p:sp>
        <p:nvSpPr>
          <p:cNvPr id="15" name="">
            <a:extLst xmlns:a="http://schemas.openxmlformats.org/drawingml/2006/main">
              <a:ext uri="{FF2B5EF4-FFF2-40B4-BE49-F238E27FC236}">
                <a16:creationId xmlns:a16="http://schemas.microsoft.com/office/drawing/2014/main" id="{3CCAC10B-F9E2-44FA-92D9-0066033D7806}"/>
              </a:ext>
            </a:extLst>
          </p:cNvPr>
          <p:cNvSpPr>
            <a:spLocks xmlns:a="http://schemas.openxmlformats.org/drawingml/2006/main" noGrp="1"/>
          </p:cNvSpPr>
          <p:nvPr/>
        </p:nvSpPr>
        <p:spPr>
          <a:xfrm xmlns:a="http://schemas.openxmlformats.org/drawingml/2006/main">
            <a:off x="6829425" y="2409825"/>
            <a:ext cx="323850" cy="323850"/>
          </a:xfrm>
          <a:prstGeom xmlns:a="http://schemas.openxmlformats.org/drawingml/2006/main" prst="ellipse">
            <a:avLst/>
          </a:prstGeom>
          <a:solidFill xmlns:a="http://schemas.openxmlformats.org/drawingml/2006/main">
            <a:srgbClr val="F57748"/>
          </a:solidFill>
          <a:ln xmlns:a="http://schemas.openxmlformats.org/drawingml/2006/main" w="14288">
            <a:solidFill>
              <a:srgbClr val="FFFFFF"/>
            </a:solidFill>
            <a:prstDash val="solid"/>
          </a:ln>
        </p:spPr>
      </p:sp>
      <p:sp>
        <p:nvSpPr>
          <p:cNvPr id="16" name="">
            <a:extLst xmlns:a="http://schemas.openxmlformats.org/drawingml/2006/main">
              <a:ext uri="{FF2B5EF4-FFF2-40B4-BE49-F238E27FC236}">
                <a16:creationId xmlns:a16="http://schemas.microsoft.com/office/drawing/2014/main" id="{E329BBF6-C155-41AA-B74E-DEB8D99C15A5}"/>
              </a:ext>
            </a:extLst>
          </p:cNvPr>
          <p:cNvSpPr>
            <a:spLocks xmlns:a="http://schemas.openxmlformats.org/drawingml/2006/main" noGrp="1"/>
          </p:cNvSpPr>
          <p:nvPr/>
        </p:nvSpPr>
        <p:spPr>
          <a:xfrm xmlns:a="http://schemas.openxmlformats.org/drawingml/2006/main">
            <a:off x="7324725" y="2409825"/>
            <a:ext cx="323850" cy="323850"/>
          </a:xfrm>
          <a:prstGeom xmlns:a="http://schemas.openxmlformats.org/drawingml/2006/main" prst="ellipse">
            <a:avLst/>
          </a:prstGeom>
          <a:solidFill xmlns:a="http://schemas.openxmlformats.org/drawingml/2006/main">
            <a:srgbClr val="F57748"/>
          </a:solidFill>
          <a:ln xmlns:a="http://schemas.openxmlformats.org/drawingml/2006/main" w="14288">
            <a:solidFill>
              <a:srgbClr val="FFFFFF"/>
            </a:solidFill>
            <a:prstDash val="solid"/>
          </a:ln>
        </p:spPr>
      </p:sp>
      <p:sp>
        <p:nvSpPr>
          <p:cNvPr id="17" name="">
            <a:extLst xmlns:a="http://schemas.openxmlformats.org/drawingml/2006/main">
              <a:ext uri="{FF2B5EF4-FFF2-40B4-BE49-F238E27FC236}">
                <a16:creationId xmlns:a16="http://schemas.microsoft.com/office/drawing/2014/main" id="{458E0000-129B-4D72-B439-E1EDB3D1BF87}"/>
              </a:ext>
            </a:extLst>
          </p:cNvPr>
          <p:cNvSpPr>
            <a:spLocks xmlns:a="http://schemas.openxmlformats.org/drawingml/2006/main" noGrp="1"/>
          </p:cNvSpPr>
          <p:nvPr/>
        </p:nvSpPr>
        <p:spPr>
          <a:xfrm xmlns:a="http://schemas.openxmlformats.org/drawingml/2006/main">
            <a:off x="6781800" y="4238625"/>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0" i="0">
                <a:solidFill>
                  <a:srgbClr val="52616B"/>
                </a:solidFill>
                <a:latin typeface="Helvetica Neue"/>
                <a:ea typeface="Helvetica Neue"/>
                <a:cs typeface="Helvetica Neue"/>
              </a:defRPr>
            </a:pPr>
            <a:r>
              <a:rPr sz="1275" b="0" i="0">
                <a:solidFill>
                  <a:srgbClr val="52616B"/>
                </a:solidFill>
                <a:latin typeface="Helvetica Neue"/>
                <a:ea typeface="Helvetica Neue"/>
                <a:cs typeface="Helvetica Neue"/>
              </a:rPr>
              <a:t>collision</a:t>
            </a:r>
          </a:p>
        </p:txBody>
      </p:sp>
      <p:cxnSp>
        <p:nvCxnSpPr>
          <p:cNvPr id="44" name=""/>
          <p:cNvCxnSpPr/>
          <p:nvPr/>
        </p:nvCxnSpPr>
        <p:spPr>
          <a:xfrm xmlns:a="http://schemas.openxmlformats.org/drawingml/2006/main">
            <a:off x="9906000" y="2952750"/>
            <a:ext cx="0" cy="1143000"/>
          </a:xfrm>
          <a:prstGeom xmlns:a="http://schemas.openxmlformats.org/drawingml/2006/main" prst="straightConnector1">
            <a:avLst/>
          </a:prstGeom>
          <a:ln xmlns:a="http://schemas.openxmlformats.org/drawingml/2006/main" w="47625">
            <a:solidFill>
              <a:srgbClr val="3D8DFF"/>
            </a:solidFill>
            <a:prstDash val="solid"/>
          </a:ln>
        </p:spPr>
      </p:cxnSp>
      <p:sp>
        <p:nvSpPr>
          <p:cNvPr id="19" name="">
            <a:extLst xmlns:a="http://schemas.openxmlformats.org/drawingml/2006/main">
              <a:ext uri="{FF2B5EF4-FFF2-40B4-BE49-F238E27FC236}">
                <a16:creationId xmlns:a16="http://schemas.microsoft.com/office/drawing/2014/main" id="{04BD37E2-809B-4E25-8D89-9E190A58A28C}"/>
              </a:ext>
            </a:extLst>
          </p:cNvPr>
          <p:cNvSpPr>
            <a:spLocks xmlns:a="http://schemas.openxmlformats.org/drawingml/2006/main" noGrp="1"/>
          </p:cNvSpPr>
          <p:nvPr/>
        </p:nvSpPr>
        <p:spPr>
          <a:xfrm xmlns:a="http://schemas.openxmlformats.org/drawingml/2006/main">
            <a:off x="9496425" y="2409825"/>
            <a:ext cx="323850" cy="323850"/>
          </a:xfrm>
          <a:prstGeom xmlns:a="http://schemas.openxmlformats.org/drawingml/2006/main" prst="ellipse">
            <a:avLst/>
          </a:prstGeom>
          <a:solidFill xmlns:a="http://schemas.openxmlformats.org/drawingml/2006/main">
            <a:srgbClr val="3D8DFF"/>
          </a:solidFill>
          <a:ln xmlns:a="http://schemas.openxmlformats.org/drawingml/2006/main" w="14288">
            <a:solidFill>
              <a:srgbClr val="FFFFFF"/>
            </a:solidFill>
            <a:prstDash val="solid"/>
          </a:ln>
        </p:spPr>
      </p:sp>
      <p:sp>
        <p:nvSpPr>
          <p:cNvPr id="20" name="">
            <a:extLst xmlns:a="http://schemas.openxmlformats.org/drawingml/2006/main">
              <a:ext uri="{FF2B5EF4-FFF2-40B4-BE49-F238E27FC236}">
                <a16:creationId xmlns:a16="http://schemas.microsoft.com/office/drawing/2014/main" id="{9109E700-79E5-47EE-B5C9-C55080A88911}"/>
              </a:ext>
            </a:extLst>
          </p:cNvPr>
          <p:cNvSpPr>
            <a:spLocks xmlns:a="http://schemas.openxmlformats.org/drawingml/2006/main" noGrp="1"/>
          </p:cNvSpPr>
          <p:nvPr/>
        </p:nvSpPr>
        <p:spPr>
          <a:xfrm xmlns:a="http://schemas.openxmlformats.org/drawingml/2006/main">
            <a:off x="9991725" y="2409825"/>
            <a:ext cx="323850" cy="323850"/>
          </a:xfrm>
          <a:prstGeom xmlns:a="http://schemas.openxmlformats.org/drawingml/2006/main" prst="ellipse">
            <a:avLst/>
          </a:prstGeom>
          <a:solidFill xmlns:a="http://schemas.openxmlformats.org/drawingml/2006/main">
            <a:srgbClr val="3D8DFF"/>
          </a:solidFill>
          <a:ln xmlns:a="http://schemas.openxmlformats.org/drawingml/2006/main" w="14288">
            <a:solidFill>
              <a:srgbClr val="FFFFFF"/>
            </a:solidFill>
            <a:prstDash val="solid"/>
          </a:ln>
        </p:spPr>
      </p:sp>
      <p:sp>
        <p:nvSpPr>
          <p:cNvPr id="21" name="">
            <a:extLst xmlns:a="http://schemas.openxmlformats.org/drawingml/2006/main">
              <a:ext uri="{FF2B5EF4-FFF2-40B4-BE49-F238E27FC236}">
                <a16:creationId xmlns:a16="http://schemas.microsoft.com/office/drawing/2014/main" id="{2A03C040-73FA-4850-8817-A1FB2AB6A726}"/>
              </a:ext>
            </a:extLst>
          </p:cNvPr>
          <p:cNvSpPr>
            <a:spLocks xmlns:a="http://schemas.openxmlformats.org/drawingml/2006/main" noGrp="1"/>
          </p:cNvSpPr>
          <p:nvPr/>
        </p:nvSpPr>
        <p:spPr>
          <a:xfrm xmlns:a="http://schemas.openxmlformats.org/drawingml/2006/main">
            <a:off x="9448800" y="4238625"/>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275" b="0" i="0">
                <a:solidFill>
                  <a:srgbClr val="52616B"/>
                </a:solidFill>
                <a:latin typeface="Helvetica Neue"/>
                <a:ea typeface="Helvetica Neue"/>
                <a:cs typeface="Helvetica Neue"/>
              </a:defRPr>
            </a:pPr>
            <a:r>
              <a:rPr sz="1275" b="0" i="0">
                <a:solidFill>
                  <a:srgbClr val="52616B"/>
                </a:solidFill>
                <a:latin typeface="Helvetica Neue"/>
                <a:ea typeface="Helvetica Neue"/>
                <a:cs typeface="Helvetica Neue"/>
              </a:rPr>
              <a:t>collision</a:t>
            </a:r>
          </a:p>
        </p:txBody>
      </p:sp>
      <p:sp>
        <p:nvSpPr>
          <p:cNvPr id="22" name="">
            <a:extLst xmlns:a="http://schemas.openxmlformats.org/drawingml/2006/main">
              <a:ext uri="{FF2B5EF4-FFF2-40B4-BE49-F238E27FC236}">
                <a16:creationId xmlns:a16="http://schemas.microsoft.com/office/drawing/2014/main" id="{41BEBD07-76D9-4699-A93A-FE8FD128EDFD}"/>
              </a:ext>
            </a:extLst>
          </p:cNvPr>
          <p:cNvSpPr>
            <a:spLocks xmlns:a="http://schemas.openxmlformats.org/drawingml/2006/main" noGrp="1"/>
          </p:cNvSpPr>
          <p:nvPr/>
        </p:nvSpPr>
        <p:spPr>
          <a:xfrm xmlns:a="http://schemas.openxmlformats.org/drawingml/2006/main">
            <a:off x="2362200" y="3190875"/>
            <a:ext cx="20383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53"/>
          </a:bodyPr>
          <a:lstStyle xmlns:a="http://schemas.openxmlformats.org/drawingml/2006/main"/>
          <a:p xmlns:a="http://schemas.openxmlformats.org/drawingml/2006/main">
            <a:pPr algn="ctr">
              <a:lnSpc>
                <a:spcPct val="102000"/>
              </a:lnSpc>
              <a:buNone/>
              <a:defRPr sz="1350" b="0" i="1">
                <a:solidFill>
                  <a:srgbClr val="12364A"/>
                </a:solidFill>
                <a:latin typeface="Helvetica Neue"/>
                <a:ea typeface="Helvetica Neue"/>
                <a:cs typeface="Helvetica Neue"/>
              </a:defRPr>
            </a:pPr>
            <a:r>
              <a:rPr sz="1350" b="0" i="1">
                <a:solidFill>
                  <a:srgbClr val="12364A"/>
                </a:solidFill>
                <a:latin typeface="Helvetica Neue"/>
                <a:ea typeface="Helvetica Neue"/>
                <a:cs typeface="Helvetica Neue"/>
              </a:rPr>
              <a:t>ballistic motion under gravity</a:t>
            </a:r>
          </a:p>
        </p:txBody>
      </p:sp>
      <p:sp>
        <p:nvSpPr>
          <p:cNvPr id="23" name="">
            <a:extLst xmlns:a="http://schemas.openxmlformats.org/drawingml/2006/main">
              <a:ext uri="{FF2B5EF4-FFF2-40B4-BE49-F238E27FC236}">
                <a16:creationId xmlns:a16="http://schemas.microsoft.com/office/drawing/2014/main" id="{EF1E8488-D700-499E-9D9E-CB5FE3AC59D0}"/>
              </a:ext>
            </a:extLst>
          </p:cNvPr>
          <p:cNvSpPr>
            <a:spLocks xmlns:a="http://schemas.openxmlformats.org/drawingml/2006/main" noGrp="1"/>
          </p:cNvSpPr>
          <p:nvPr/>
        </p:nvSpPr>
        <p:spPr>
          <a:xfrm xmlns:a="http://schemas.openxmlformats.org/drawingml/2006/main">
            <a:off x="4743450" y="319087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350" b="0" i="1">
                <a:solidFill>
                  <a:srgbClr val="12364A"/>
                </a:solidFill>
                <a:latin typeface="Helvetica Neue"/>
                <a:ea typeface="Helvetica Neue"/>
                <a:cs typeface="Helvetica Neue"/>
              </a:defRPr>
            </a:pPr>
            <a:r>
              <a:rPr sz="1350" b="0" i="1">
                <a:solidFill>
                  <a:srgbClr val="12364A"/>
                </a:solidFill>
                <a:latin typeface="Helvetica Neue"/>
                <a:ea typeface="Helvetica Neue"/>
                <a:cs typeface="Helvetica Neue"/>
              </a:rPr>
              <a:t>ballistic motion under gravity</a:t>
            </a:r>
          </a:p>
        </p:txBody>
      </p:sp>
      <p:sp>
        <p:nvSpPr>
          <p:cNvPr id="24" name="">
            <a:extLst xmlns:a="http://schemas.openxmlformats.org/drawingml/2006/main">
              <a:ext uri="{FF2B5EF4-FFF2-40B4-BE49-F238E27FC236}">
                <a16:creationId xmlns:a16="http://schemas.microsoft.com/office/drawing/2014/main" id="{2298D11A-476E-4D7C-8185-38D4E96D285C}"/>
              </a:ext>
            </a:extLst>
          </p:cNvPr>
          <p:cNvSpPr>
            <a:spLocks xmlns:a="http://schemas.openxmlformats.org/drawingml/2006/main" noGrp="1"/>
          </p:cNvSpPr>
          <p:nvPr/>
        </p:nvSpPr>
        <p:spPr>
          <a:xfrm xmlns:a="http://schemas.openxmlformats.org/drawingml/2006/main">
            <a:off x="7410450" y="3190875"/>
            <a:ext cx="2324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350" b="0" i="1">
                <a:solidFill>
                  <a:srgbClr val="12364A"/>
                </a:solidFill>
                <a:latin typeface="Helvetica Neue"/>
                <a:ea typeface="Helvetica Neue"/>
                <a:cs typeface="Helvetica Neue"/>
              </a:defRPr>
            </a:pPr>
            <a:r>
              <a:rPr sz="1350" b="0" i="1">
                <a:solidFill>
                  <a:srgbClr val="12364A"/>
                </a:solidFill>
                <a:latin typeface="Helvetica Neue"/>
                <a:ea typeface="Helvetica Neue"/>
                <a:cs typeface="Helvetica Neue"/>
              </a:rPr>
              <a:t>ballistic motion under gravity</a:t>
            </a:r>
          </a:p>
        </p:txBody>
      </p:sp>
      <p:sp>
        <p:nvSpPr>
          <p:cNvPr id="25" name="">
            <a:extLst xmlns:a="http://schemas.openxmlformats.org/drawingml/2006/main">
              <a:ext uri="{FF2B5EF4-FFF2-40B4-BE49-F238E27FC236}">
                <a16:creationId xmlns:a16="http://schemas.microsoft.com/office/drawing/2014/main" id="{BD0868AD-A8C9-4652-B66B-D85A5CA110D0}"/>
              </a:ext>
            </a:extLst>
          </p:cNvPr>
          <p:cNvSpPr>
            <a:spLocks xmlns:a="http://schemas.openxmlformats.org/drawingml/2006/main" noGrp="1"/>
          </p:cNvSpPr>
          <p:nvPr/>
        </p:nvSpPr>
        <p:spPr>
          <a:xfrm xmlns:a="http://schemas.openxmlformats.org/drawingml/2006/main">
            <a:off x="1238250" y="5143500"/>
            <a:ext cx="9620250" cy="838200"/>
          </a:xfrm>
          <a:prstGeom xmlns:a="http://schemas.openxmlformats.org/drawingml/2006/main" prst="roundRect">
            <a:avLst>
              <a:gd name="adj" fmla="val 9091"/>
            </a:avLst>
          </a:prstGeom>
          <a:solidFill xmlns:a="http://schemas.openxmlformats.org/drawingml/2006/main">
            <a:srgbClr val="EAF5FB"/>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9E906265-49D1-49FD-9257-3EFDCA2E0DA4}"/>
              </a:ext>
            </a:extLst>
          </p:cNvPr>
          <p:cNvSpPr>
            <a:spLocks xmlns:a="http://schemas.openxmlformats.org/drawingml/2006/main" noGrp="1"/>
          </p:cNvSpPr>
          <p:nvPr/>
        </p:nvSpPr>
        <p:spPr>
          <a:xfrm xmlns:a="http://schemas.openxmlformats.org/drawingml/2006/main">
            <a:off x="1581150" y="5362575"/>
            <a:ext cx="8953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3084"/>
          </a:bodyPr>
          <a:lstStyle xmlns:a="http://schemas.openxmlformats.org/drawingml/2006/main"/>
          <a:p xmlns:a="http://schemas.openxmlformats.org/drawingml/2006/main">
            <a:pPr algn="ctr">
              <a:lnSpc>
                <a:spcPct val="102000"/>
              </a:lnSpc>
              <a:buNone/>
              <a:defRPr sz="2175" b="1" i="0">
                <a:solidFill>
                  <a:srgbClr val="111111"/>
                </a:solidFill>
                <a:latin typeface="Helvetica Neue"/>
                <a:ea typeface="Helvetica Neue"/>
                <a:cs typeface="Helvetica Neue"/>
              </a:defRPr>
            </a:pPr>
            <a:r>
              <a:rPr sz="2175" b="1" i="0">
                <a:solidFill>
                  <a:srgbClr val="111111"/>
                </a:solidFill>
                <a:latin typeface="Helvetica Neue"/>
                <a:ea typeface="Helvetica Neue"/>
                <a:cs typeface="Helvetica Neue"/>
              </a:rPr>
              <a:t>Do not march through every tiny time step. Jump directly from one collision event to the next.</a:t>
            </a:r>
          </a:p>
        </p:txBody>
      </p:sp>
    </p:spTree>
    <p:extLst>
      <p:ext uri="{BB962C8B-B14F-4D97-AF65-F5344CB8AC3E}">
        <p14:creationId xmlns:p14="http://schemas.microsoft.com/office/powerpoint/2010/main" val="345817940"/>
      </p:ext>
    </p:extLst>
  </p:cSld>
</p:sld>
</file>

<file path=ppt/slides/slide10.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A833D3F-5E58-4E8A-ACE1-B3F175E2765A}"/>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EVENT-DRIVEN HARD SPHERES</a:t>
            </a:r>
          </a:p>
        </p:txBody>
      </p:sp>
      <p:sp>
        <p:nvSpPr>
          <p:cNvPr id="2" name="">
            <a:extLst xmlns:a="http://schemas.openxmlformats.org/drawingml/2006/main">
              <a:ext uri="{FF2B5EF4-FFF2-40B4-BE49-F238E27FC236}">
                <a16:creationId xmlns:a16="http://schemas.microsoft.com/office/drawing/2014/main" id="{8F17645E-DA89-40DC-BC21-193E9FEA719D}"/>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715"/>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simulation advances by processing a collision schedule.</a:t>
            </a:r>
          </a:p>
        </p:txBody>
      </p:sp>
      <p:sp>
        <p:nvSpPr>
          <p:cNvPr id="3" name="">
            <a:extLst xmlns:a="http://schemas.openxmlformats.org/drawingml/2006/main">
              <a:ext uri="{FF2B5EF4-FFF2-40B4-BE49-F238E27FC236}">
                <a16:creationId xmlns:a16="http://schemas.microsoft.com/office/drawing/2014/main" id="{E3681AD2-6A35-44B5-A746-38AA50CBC495}"/>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3D0E50AE-81D0-4340-A841-8CF561F94AEE}"/>
              </a:ext>
            </a:extLst>
          </p:cNvPr>
          <p:cNvSpPr>
            <a:spLocks xmlns:a="http://schemas.openxmlformats.org/drawingml/2006/main" noGrp="1"/>
          </p:cNvSpPr>
          <p:nvPr/>
        </p:nvSpPr>
        <p:spPr>
          <a:xfrm xmlns:a="http://schemas.openxmlformats.org/drawingml/2006/main">
            <a:off x="400050" y="1790700"/>
            <a:ext cx="2571750" cy="33337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8C103B2-706E-4A5E-90EF-461D0FBDCA4A}"/>
              </a:ext>
            </a:extLst>
          </p:cNvPr>
          <p:cNvSpPr>
            <a:spLocks xmlns:a="http://schemas.openxmlformats.org/drawingml/2006/main" noGrp="1"/>
          </p:cNvSpPr>
          <p:nvPr/>
        </p:nvSpPr>
        <p:spPr>
          <a:xfrm xmlns:a="http://schemas.openxmlformats.org/drawingml/2006/main">
            <a:off x="628650" y="2057400"/>
            <a:ext cx="533400" cy="533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E86D2462-78D4-4EB1-8BEB-B1B831C0FD08}"/>
              </a:ext>
            </a:extLst>
          </p:cNvPr>
          <p:cNvSpPr>
            <a:spLocks xmlns:a="http://schemas.openxmlformats.org/drawingml/2006/main" noGrp="1"/>
          </p:cNvSpPr>
          <p:nvPr/>
        </p:nvSpPr>
        <p:spPr>
          <a:xfrm xmlns:a="http://schemas.openxmlformats.org/drawingml/2006/main">
            <a:off x="628650" y="218122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143B302C-1736-46FF-840C-DFC84C0AB674}"/>
              </a:ext>
            </a:extLst>
          </p:cNvPr>
          <p:cNvSpPr>
            <a:spLocks xmlns:a="http://schemas.openxmlformats.org/drawingml/2006/main" noGrp="1"/>
          </p:cNvSpPr>
          <p:nvPr/>
        </p:nvSpPr>
        <p:spPr>
          <a:xfrm xmlns:a="http://schemas.openxmlformats.org/drawingml/2006/main">
            <a:off x="62865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Predict</a:t>
            </a:r>
          </a:p>
        </p:txBody>
      </p:sp>
      <p:sp>
        <p:nvSpPr>
          <p:cNvPr id="8" name="">
            <a:extLst xmlns:a="http://schemas.openxmlformats.org/drawingml/2006/main">
              <a:ext uri="{FF2B5EF4-FFF2-40B4-BE49-F238E27FC236}">
                <a16:creationId xmlns:a16="http://schemas.microsoft.com/office/drawing/2014/main" id="{B89AC5EF-F9DC-4D00-B125-66FDD0098352}"/>
              </a:ext>
            </a:extLst>
          </p:cNvPr>
          <p:cNvSpPr>
            <a:spLocks xmlns:a="http://schemas.openxmlformats.org/drawingml/2006/main" noGrp="1"/>
          </p:cNvSpPr>
          <p:nvPr/>
        </p:nvSpPr>
        <p:spPr>
          <a:xfrm xmlns:a="http://schemas.openxmlformats.org/drawingml/2006/main">
            <a:off x="628650" y="3524250"/>
            <a:ext cx="2095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Find the next particle-particle, particle-wall, or particle-plate collision.</a:t>
            </a:r>
          </a:p>
        </p:txBody>
      </p:sp>
      <p:sp>
        <p:nvSpPr>
          <p:cNvPr id="9" name="">
            <a:extLst xmlns:a="http://schemas.openxmlformats.org/drawingml/2006/main">
              <a:ext uri="{FF2B5EF4-FFF2-40B4-BE49-F238E27FC236}">
                <a16:creationId xmlns:a16="http://schemas.microsoft.com/office/drawing/2014/main" id="{DCC3AA2A-E3E4-4075-A5DF-0F1008817BBA}"/>
              </a:ext>
            </a:extLst>
          </p:cNvPr>
          <p:cNvSpPr>
            <a:spLocks xmlns:a="http://schemas.openxmlformats.org/drawingml/2006/main" noGrp="1"/>
          </p:cNvSpPr>
          <p:nvPr/>
        </p:nvSpPr>
        <p:spPr>
          <a:xfrm xmlns:a="http://schemas.openxmlformats.org/drawingml/2006/main">
            <a:off x="3009900" y="3171825"/>
            <a:ext cx="266700" cy="238125"/>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0" name="">
            <a:extLst xmlns:a="http://schemas.openxmlformats.org/drawingml/2006/main">
              <a:ext uri="{FF2B5EF4-FFF2-40B4-BE49-F238E27FC236}">
                <a16:creationId xmlns:a16="http://schemas.microsoft.com/office/drawing/2014/main" id="{0C495336-2A10-478D-A2F0-053D0AB7C90D}"/>
              </a:ext>
            </a:extLst>
          </p:cNvPr>
          <p:cNvSpPr>
            <a:spLocks xmlns:a="http://schemas.openxmlformats.org/drawingml/2006/main" noGrp="1"/>
          </p:cNvSpPr>
          <p:nvPr/>
        </p:nvSpPr>
        <p:spPr>
          <a:xfrm xmlns:a="http://schemas.openxmlformats.org/drawingml/2006/main">
            <a:off x="3314700" y="1790700"/>
            <a:ext cx="2571750" cy="33337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F1AD74-5AB7-4D58-AD0B-E96642F513F3}"/>
              </a:ext>
            </a:extLst>
          </p:cNvPr>
          <p:cNvSpPr>
            <a:spLocks xmlns:a="http://schemas.openxmlformats.org/drawingml/2006/main" noGrp="1"/>
          </p:cNvSpPr>
          <p:nvPr/>
        </p:nvSpPr>
        <p:spPr>
          <a:xfrm xmlns:a="http://schemas.openxmlformats.org/drawingml/2006/main">
            <a:off x="3543300" y="2057400"/>
            <a:ext cx="533400" cy="533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2FAAA04D-6C67-49BA-9437-D1866ABA74A0}"/>
              </a:ext>
            </a:extLst>
          </p:cNvPr>
          <p:cNvSpPr>
            <a:spLocks xmlns:a="http://schemas.openxmlformats.org/drawingml/2006/main" noGrp="1"/>
          </p:cNvSpPr>
          <p:nvPr/>
        </p:nvSpPr>
        <p:spPr>
          <a:xfrm xmlns:a="http://schemas.openxmlformats.org/drawingml/2006/main">
            <a:off x="3543300" y="218122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B5BE8F67-DDEE-44DA-970C-AD4E53440B84}"/>
              </a:ext>
            </a:extLst>
          </p:cNvPr>
          <p:cNvSpPr>
            <a:spLocks xmlns:a="http://schemas.openxmlformats.org/drawingml/2006/main" noGrp="1"/>
          </p:cNvSpPr>
          <p:nvPr/>
        </p:nvSpPr>
        <p:spPr>
          <a:xfrm xmlns:a="http://schemas.openxmlformats.org/drawingml/2006/main">
            <a:off x="354330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Jump</a:t>
            </a:r>
          </a:p>
        </p:txBody>
      </p:sp>
      <p:sp>
        <p:nvSpPr>
          <p:cNvPr id="14" name="">
            <a:extLst xmlns:a="http://schemas.openxmlformats.org/drawingml/2006/main">
              <a:ext uri="{FF2B5EF4-FFF2-40B4-BE49-F238E27FC236}">
                <a16:creationId xmlns:a16="http://schemas.microsoft.com/office/drawing/2014/main" id="{FE1E77F1-C7A7-4D47-8036-755618D3605A}"/>
              </a:ext>
            </a:extLst>
          </p:cNvPr>
          <p:cNvSpPr>
            <a:spLocks xmlns:a="http://schemas.openxmlformats.org/drawingml/2006/main" noGrp="1"/>
          </p:cNvSpPr>
          <p:nvPr/>
        </p:nvSpPr>
        <p:spPr>
          <a:xfrm xmlns:a="http://schemas.openxmlformats.org/drawingml/2006/main">
            <a:off x="3543300" y="3524250"/>
            <a:ext cx="2095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Advance the simulation clock directly to that event.</a:t>
            </a:r>
          </a:p>
        </p:txBody>
      </p:sp>
      <p:sp>
        <p:nvSpPr>
          <p:cNvPr id="15" name="">
            <a:extLst xmlns:a="http://schemas.openxmlformats.org/drawingml/2006/main">
              <a:ext uri="{FF2B5EF4-FFF2-40B4-BE49-F238E27FC236}">
                <a16:creationId xmlns:a16="http://schemas.microsoft.com/office/drawing/2014/main" id="{4EDCCAFC-3D5B-4476-A88C-8E75DB2157E6}"/>
              </a:ext>
            </a:extLst>
          </p:cNvPr>
          <p:cNvSpPr>
            <a:spLocks xmlns:a="http://schemas.openxmlformats.org/drawingml/2006/main" noGrp="1"/>
          </p:cNvSpPr>
          <p:nvPr/>
        </p:nvSpPr>
        <p:spPr>
          <a:xfrm xmlns:a="http://schemas.openxmlformats.org/drawingml/2006/main">
            <a:off x="5924550" y="3171825"/>
            <a:ext cx="266700" cy="238125"/>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6" name="">
            <a:extLst xmlns:a="http://schemas.openxmlformats.org/drawingml/2006/main">
              <a:ext uri="{FF2B5EF4-FFF2-40B4-BE49-F238E27FC236}">
                <a16:creationId xmlns:a16="http://schemas.microsoft.com/office/drawing/2014/main" id="{A44532A9-D73B-4A71-A668-D6E55B6DD6B8}"/>
              </a:ext>
            </a:extLst>
          </p:cNvPr>
          <p:cNvSpPr>
            <a:spLocks xmlns:a="http://schemas.openxmlformats.org/drawingml/2006/main" noGrp="1"/>
          </p:cNvSpPr>
          <p:nvPr/>
        </p:nvSpPr>
        <p:spPr>
          <a:xfrm xmlns:a="http://schemas.openxmlformats.org/drawingml/2006/main">
            <a:off x="6229350" y="1790700"/>
            <a:ext cx="2571750" cy="3333750"/>
          </a:xfrm>
          <a:prstGeom xmlns:a="http://schemas.openxmlformats.org/drawingml/2006/main" prst="roundRect">
            <a:avLst>
              <a:gd name="adj" fmla="val 2963"/>
            </a:avLst>
          </a:prstGeom>
          <a:solidFill xmlns:a="http://schemas.openxmlformats.org/drawingml/2006/main">
            <a:srgbClr val="FCE8D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E917976B-C527-4D2B-88F0-702949A87BB9}"/>
              </a:ext>
            </a:extLst>
          </p:cNvPr>
          <p:cNvSpPr>
            <a:spLocks xmlns:a="http://schemas.openxmlformats.org/drawingml/2006/main" noGrp="1"/>
          </p:cNvSpPr>
          <p:nvPr/>
        </p:nvSpPr>
        <p:spPr>
          <a:xfrm xmlns:a="http://schemas.openxmlformats.org/drawingml/2006/main">
            <a:off x="6457950" y="2057400"/>
            <a:ext cx="533400" cy="533400"/>
          </a:xfrm>
          <a:prstGeom xmlns:a="http://schemas.openxmlformats.org/drawingml/2006/main" prst="ellipse">
            <a:avLst/>
          </a:prstGeom>
          <a:solidFill xmlns:a="http://schemas.openxmlformats.org/drawingml/2006/main">
            <a:srgbClr val="F5774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4A120E1-2192-4903-B134-0DD974ADAC3B}"/>
              </a:ext>
            </a:extLst>
          </p:cNvPr>
          <p:cNvSpPr>
            <a:spLocks xmlns:a="http://schemas.openxmlformats.org/drawingml/2006/main" noGrp="1"/>
          </p:cNvSpPr>
          <p:nvPr/>
        </p:nvSpPr>
        <p:spPr>
          <a:xfrm xmlns:a="http://schemas.openxmlformats.org/drawingml/2006/main">
            <a:off x="6457950" y="218122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3</a:t>
            </a:r>
          </a:p>
        </p:txBody>
      </p:sp>
      <p:sp>
        <p:nvSpPr>
          <p:cNvPr id="19" name="">
            <a:extLst xmlns:a="http://schemas.openxmlformats.org/drawingml/2006/main">
              <a:ext uri="{FF2B5EF4-FFF2-40B4-BE49-F238E27FC236}">
                <a16:creationId xmlns:a16="http://schemas.microsoft.com/office/drawing/2014/main" id="{441B0002-C6E0-41E0-8D9F-92F11BE49419}"/>
              </a:ext>
            </a:extLst>
          </p:cNvPr>
          <p:cNvSpPr>
            <a:spLocks xmlns:a="http://schemas.openxmlformats.org/drawingml/2006/main" noGrp="1"/>
          </p:cNvSpPr>
          <p:nvPr/>
        </p:nvSpPr>
        <p:spPr>
          <a:xfrm xmlns:a="http://schemas.openxmlformats.org/drawingml/2006/main">
            <a:off x="645795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Resolve</a:t>
            </a:r>
          </a:p>
        </p:txBody>
      </p:sp>
      <p:sp>
        <p:nvSpPr>
          <p:cNvPr id="20" name="">
            <a:extLst xmlns:a="http://schemas.openxmlformats.org/drawingml/2006/main">
              <a:ext uri="{FF2B5EF4-FFF2-40B4-BE49-F238E27FC236}">
                <a16:creationId xmlns:a16="http://schemas.microsoft.com/office/drawing/2014/main" id="{3824FFA1-7778-49EF-A312-25FBBCAFA3D0}"/>
              </a:ext>
            </a:extLst>
          </p:cNvPr>
          <p:cNvSpPr>
            <a:spLocks xmlns:a="http://schemas.openxmlformats.org/drawingml/2006/main" noGrp="1"/>
          </p:cNvSpPr>
          <p:nvPr/>
        </p:nvSpPr>
        <p:spPr>
          <a:xfrm xmlns:a="http://schemas.openxmlformats.org/drawingml/2006/main">
            <a:off x="6457950" y="3524250"/>
            <a:ext cx="2095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Apply the collision law to velocity and spin.</a:t>
            </a:r>
          </a:p>
        </p:txBody>
      </p:sp>
      <p:sp>
        <p:nvSpPr>
          <p:cNvPr id="21" name="">
            <a:extLst xmlns:a="http://schemas.openxmlformats.org/drawingml/2006/main">
              <a:ext uri="{FF2B5EF4-FFF2-40B4-BE49-F238E27FC236}">
                <a16:creationId xmlns:a16="http://schemas.microsoft.com/office/drawing/2014/main" id="{415BC4C5-4D95-4F8D-A613-5113E9F1AD60}"/>
              </a:ext>
            </a:extLst>
          </p:cNvPr>
          <p:cNvSpPr>
            <a:spLocks xmlns:a="http://schemas.openxmlformats.org/drawingml/2006/main" noGrp="1"/>
          </p:cNvSpPr>
          <p:nvPr/>
        </p:nvSpPr>
        <p:spPr>
          <a:xfrm xmlns:a="http://schemas.openxmlformats.org/drawingml/2006/main">
            <a:off x="8839200" y="3171825"/>
            <a:ext cx="266700" cy="238125"/>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22" name="">
            <a:extLst xmlns:a="http://schemas.openxmlformats.org/drawingml/2006/main">
              <a:ext uri="{FF2B5EF4-FFF2-40B4-BE49-F238E27FC236}">
                <a16:creationId xmlns:a16="http://schemas.microsoft.com/office/drawing/2014/main" id="{F4A0C3BC-3807-4D6C-B7C2-CC965A7C613B}"/>
              </a:ext>
            </a:extLst>
          </p:cNvPr>
          <p:cNvSpPr>
            <a:spLocks xmlns:a="http://schemas.openxmlformats.org/drawingml/2006/main" noGrp="1"/>
          </p:cNvSpPr>
          <p:nvPr/>
        </p:nvSpPr>
        <p:spPr>
          <a:xfrm xmlns:a="http://schemas.openxmlformats.org/drawingml/2006/main">
            <a:off x="9144000" y="1790700"/>
            <a:ext cx="2571750" cy="33337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5C48C7FD-6687-4DBB-A9CB-4C52ABD8F2AD}"/>
              </a:ext>
            </a:extLst>
          </p:cNvPr>
          <p:cNvSpPr>
            <a:spLocks xmlns:a="http://schemas.openxmlformats.org/drawingml/2006/main" noGrp="1"/>
          </p:cNvSpPr>
          <p:nvPr/>
        </p:nvSpPr>
        <p:spPr>
          <a:xfrm xmlns:a="http://schemas.openxmlformats.org/drawingml/2006/main">
            <a:off x="9372600" y="2057400"/>
            <a:ext cx="533400" cy="5334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DC6B8EF-6603-4834-9DD0-CB00FC1E5D2A}"/>
              </a:ext>
            </a:extLst>
          </p:cNvPr>
          <p:cNvSpPr>
            <a:spLocks xmlns:a="http://schemas.openxmlformats.org/drawingml/2006/main" noGrp="1"/>
          </p:cNvSpPr>
          <p:nvPr/>
        </p:nvSpPr>
        <p:spPr>
          <a:xfrm xmlns:a="http://schemas.openxmlformats.org/drawingml/2006/main">
            <a:off x="9372600" y="2181225"/>
            <a:ext cx="533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800" b="1" i="0">
                <a:solidFill>
                  <a:srgbClr val="FFFFFF"/>
                </a:solidFill>
                <a:latin typeface="Helvetica Neue"/>
                <a:ea typeface="Helvetica Neue"/>
                <a:cs typeface="Helvetica Neue"/>
              </a:defRPr>
            </a:pPr>
            <a:r>
              <a:rPr sz="1800" b="1" i="0">
                <a:solidFill>
                  <a:srgbClr val="FFFFFF"/>
                </a:solidFill>
                <a:latin typeface="Helvetica Neue"/>
                <a:ea typeface="Helvetica Neue"/>
                <a:cs typeface="Helvetica Neue"/>
              </a:rPr>
              <a:t>4</a:t>
            </a:r>
          </a:p>
        </p:txBody>
      </p:sp>
      <p:sp>
        <p:nvSpPr>
          <p:cNvPr id="25" name="">
            <a:extLst xmlns:a="http://schemas.openxmlformats.org/drawingml/2006/main">
              <a:ext uri="{FF2B5EF4-FFF2-40B4-BE49-F238E27FC236}">
                <a16:creationId xmlns:a16="http://schemas.microsoft.com/office/drawing/2014/main" id="{5E09D0CA-2B65-4A64-935A-ADAA2C7973EE}"/>
              </a:ext>
            </a:extLst>
          </p:cNvPr>
          <p:cNvSpPr>
            <a:spLocks xmlns:a="http://schemas.openxmlformats.org/drawingml/2006/main" noGrp="1"/>
          </p:cNvSpPr>
          <p:nvPr/>
        </p:nvSpPr>
        <p:spPr>
          <a:xfrm xmlns:a="http://schemas.openxmlformats.org/drawingml/2006/main">
            <a:off x="9372600" y="285750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Reschedule</a:t>
            </a:r>
          </a:p>
        </p:txBody>
      </p:sp>
      <p:sp>
        <p:nvSpPr>
          <p:cNvPr id="26" name="">
            <a:extLst xmlns:a="http://schemas.openxmlformats.org/drawingml/2006/main">
              <a:ext uri="{FF2B5EF4-FFF2-40B4-BE49-F238E27FC236}">
                <a16:creationId xmlns:a16="http://schemas.microsoft.com/office/drawing/2014/main" id="{37349592-EDDC-4AF2-9325-D7240F795F4F}"/>
              </a:ext>
            </a:extLst>
          </p:cNvPr>
          <p:cNvSpPr>
            <a:spLocks xmlns:a="http://schemas.openxmlformats.org/drawingml/2006/main" noGrp="1"/>
          </p:cNvSpPr>
          <p:nvPr/>
        </p:nvSpPr>
        <p:spPr>
          <a:xfrm xmlns:a="http://schemas.openxmlformats.org/drawingml/2006/main">
            <a:off x="9372600" y="3524250"/>
            <a:ext cx="2095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Recompute only events invalidated by the collision.</a:t>
            </a:r>
          </a:p>
        </p:txBody>
      </p:sp>
      <p:sp>
        <p:nvSpPr>
          <p:cNvPr id="27" name="">
            <a:extLst xmlns:a="http://schemas.openxmlformats.org/drawingml/2006/main">
              <a:ext uri="{FF2B5EF4-FFF2-40B4-BE49-F238E27FC236}">
                <a16:creationId xmlns:a16="http://schemas.microsoft.com/office/drawing/2014/main" id="{E68555FA-4A74-411E-9D66-9F5176CC509C}"/>
              </a:ext>
            </a:extLst>
          </p:cNvPr>
          <p:cNvSpPr>
            <a:spLocks xmlns:a="http://schemas.openxmlformats.org/drawingml/2006/main" noGrp="1"/>
          </p:cNvSpPr>
          <p:nvPr/>
        </p:nvSpPr>
        <p:spPr>
          <a:xfrm xmlns:a="http://schemas.openxmlformats.org/drawingml/2006/main">
            <a:off x="4191000" y="5534025"/>
            <a:ext cx="3810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148"/>
          </a:bodyPr>
          <a:lstStyle xmlns:a="http://schemas.openxmlformats.org/drawingml/2006/main"/>
          <a:p xmlns:a="http://schemas.openxmlformats.org/drawingml/2006/main">
            <a:pPr algn="ctr">
              <a:lnSpc>
                <a:spcPct val="102000"/>
              </a:lnSpc>
              <a:buNone/>
              <a:defRPr sz="1800" b="1" i="0">
                <a:solidFill>
                  <a:srgbClr val="12364A"/>
                </a:solidFill>
                <a:latin typeface="Helvetica Neue"/>
                <a:ea typeface="Helvetica Neue"/>
                <a:cs typeface="Helvetica Neue"/>
              </a:defRPr>
            </a:pPr>
            <a:r>
              <a:rPr sz="1800" b="1" i="0">
                <a:solidFill>
                  <a:srgbClr val="12364A"/>
                </a:solidFill>
                <a:latin typeface="Helvetica Neue"/>
                <a:ea typeface="Helvetica Neue"/>
                <a:cs typeface="Helvetica Neue"/>
              </a:rPr>
              <a:t>Priority queue ordered by event time</a:t>
            </a:r>
          </a:p>
        </p:txBody>
      </p:sp>
    </p:spTree>
    <p:extLst>
      <p:ext uri="{BB962C8B-B14F-4D97-AF65-F5344CB8AC3E}">
        <p14:creationId xmlns:p14="http://schemas.microsoft.com/office/powerpoint/2010/main" val="1276263259"/>
      </p:ext>
    </p:extLst>
  </p:cSld>
</p:sld>
</file>

<file path=ppt/slides/slide11.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96" name="">
            <a:extLst xmlns:a="http://schemas.openxmlformats.org/drawingml/2006/main">
              <a:ext uri="{FF2B5EF4-FFF2-40B4-BE49-F238E27FC236}">
                <a16:creationId xmlns:a16="http://schemas.microsoft.com/office/drawing/2014/main" id="{D2CF72A3-6389-4C11-A90B-7579E0C0B61C}"/>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ORIGINAL ALGORITHM</a:t>
            </a:r>
          </a:p>
        </p:txBody>
      </p:sp>
      <p:sp>
        <p:nvSpPr>
          <p:cNvPr id="2" name="">
            <a:extLst xmlns:a="http://schemas.openxmlformats.org/drawingml/2006/main">
              <a:ext uri="{FF2B5EF4-FFF2-40B4-BE49-F238E27FC236}">
                <a16:creationId xmlns:a16="http://schemas.microsoft.com/office/drawing/2014/main" id="{D4AB5E9E-7898-445A-B05E-4B4443D9C6F8}"/>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376"/>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Two implementation ideas keep 60,000 particles tractable.</a:t>
            </a:r>
          </a:p>
        </p:txBody>
      </p:sp>
      <p:sp>
        <p:nvSpPr>
          <p:cNvPr id="3" name="">
            <a:extLst xmlns:a="http://schemas.openxmlformats.org/drawingml/2006/main">
              <a:ext uri="{FF2B5EF4-FFF2-40B4-BE49-F238E27FC236}">
                <a16:creationId xmlns:a16="http://schemas.microsoft.com/office/drawing/2014/main" id="{00CBEE2F-AEF8-44CA-986E-15DA759104B2}"/>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11</a:t>
            </a:r>
          </a:p>
        </p:txBody>
      </p:sp>
      <p:sp>
        <p:nvSpPr>
          <p:cNvPr id="4" name="">
            <a:extLst xmlns:a="http://schemas.openxmlformats.org/drawingml/2006/main">
              <a:ext uri="{FF2B5EF4-FFF2-40B4-BE49-F238E27FC236}">
                <a16:creationId xmlns:a16="http://schemas.microsoft.com/office/drawing/2014/main" id="{D5E853F8-513B-4302-B2A4-E47B1B8DC3F3}"/>
              </a:ext>
            </a:extLst>
          </p:cNvPr>
          <p:cNvSpPr>
            <a:spLocks xmlns:a="http://schemas.openxmlformats.org/drawingml/2006/main" noGrp="1"/>
          </p:cNvSpPr>
          <p:nvPr/>
        </p:nvSpPr>
        <p:spPr>
          <a:xfrm xmlns:a="http://schemas.openxmlformats.org/drawingml/2006/main">
            <a:off x="400050" y="1466850"/>
            <a:ext cx="5391150" cy="4476750"/>
          </a:xfrm>
          <a:prstGeom xmlns:a="http://schemas.openxmlformats.org/drawingml/2006/main" prst="roundRect">
            <a:avLst>
              <a:gd name="adj" fmla="val 1702"/>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7F0C19-3411-4148-80C4-71004BA906F5}"/>
              </a:ext>
            </a:extLst>
          </p:cNvPr>
          <p:cNvSpPr>
            <a:spLocks xmlns:a="http://schemas.openxmlformats.org/drawingml/2006/main" noGrp="1"/>
          </p:cNvSpPr>
          <p:nvPr/>
        </p:nvSpPr>
        <p:spPr>
          <a:xfrm xmlns:a="http://schemas.openxmlformats.org/drawingml/2006/main">
            <a:off x="685800" y="17526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11111"/>
                </a:solidFill>
                <a:latin typeface="Helvetica Neue"/>
                <a:ea typeface="Helvetica Neue"/>
                <a:cs typeface="Helvetica Neue"/>
              </a:defRPr>
            </a:pPr>
            <a:r>
              <a:rPr sz="2550" b="1" i="0">
                <a:solidFill>
                  <a:srgbClr val="111111"/>
                </a:solidFill>
                <a:latin typeface="Helvetica Neue"/>
                <a:ea typeface="Helvetica Neue"/>
                <a:cs typeface="Helvetica Neue"/>
              </a:rPr>
              <a:t>Delayed states</a:t>
            </a:r>
          </a:p>
        </p:txBody>
      </p:sp>
      <p:sp>
        <p:nvSpPr>
          <p:cNvPr id="6" name="">
            <a:extLst xmlns:a="http://schemas.openxmlformats.org/drawingml/2006/main">
              <a:ext uri="{FF2B5EF4-FFF2-40B4-BE49-F238E27FC236}">
                <a16:creationId xmlns:a16="http://schemas.microsoft.com/office/drawing/2014/main" id="{943632F7-0259-47E8-9FDF-60A7886E0483}"/>
              </a:ext>
            </a:extLst>
          </p:cNvPr>
          <p:cNvSpPr>
            <a:spLocks xmlns:a="http://schemas.openxmlformats.org/drawingml/2006/main" noGrp="1"/>
          </p:cNvSpPr>
          <p:nvPr/>
        </p:nvSpPr>
        <p:spPr>
          <a:xfrm xmlns:a="http://schemas.openxmlformats.org/drawingml/2006/main">
            <a:off x="685800" y="2286000"/>
            <a:ext cx="4572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52616B"/>
                </a:solidFill>
                <a:latin typeface="Helvetica Neue"/>
                <a:ea typeface="Helvetica Neue"/>
                <a:cs typeface="Helvetica Neue"/>
              </a:defRPr>
            </a:pPr>
            <a:r>
              <a:rPr sz="1725" b="0" i="0">
                <a:solidFill>
                  <a:srgbClr val="52616B"/>
                </a:solidFill>
                <a:latin typeface="Helvetica Neue"/>
                <a:ea typeface="Helvetica Neue"/>
                <a:cs typeface="Helvetica Neue"/>
              </a:rPr>
              <a:t>Update a particle's position only when an event actually needs it.</a:t>
            </a:r>
          </a:p>
        </p:txBody>
      </p:sp>
      <p:sp>
        <p:nvSpPr>
          <p:cNvPr id="7" name="">
            <a:extLst xmlns:a="http://schemas.openxmlformats.org/drawingml/2006/main">
              <a:ext uri="{FF2B5EF4-FFF2-40B4-BE49-F238E27FC236}">
                <a16:creationId xmlns:a16="http://schemas.microsoft.com/office/drawing/2014/main" id="{7659BD43-5502-4169-AC7F-2AE2F62CBFBB}"/>
              </a:ext>
            </a:extLst>
          </p:cNvPr>
          <p:cNvSpPr>
            <a:spLocks xmlns:a="http://schemas.openxmlformats.org/drawingml/2006/main" noGrp="1"/>
          </p:cNvSpPr>
          <p:nvPr/>
        </p:nvSpPr>
        <p:spPr>
          <a:xfrm xmlns:a="http://schemas.openxmlformats.org/drawingml/2006/main">
            <a:off x="96202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8" name="">
            <a:extLst xmlns:a="http://schemas.openxmlformats.org/drawingml/2006/main">
              <a:ext uri="{FF2B5EF4-FFF2-40B4-BE49-F238E27FC236}">
                <a16:creationId xmlns:a16="http://schemas.microsoft.com/office/drawing/2014/main" id="{D003E0C6-504E-4911-8E0D-030E4E03C92B}"/>
              </a:ext>
            </a:extLst>
          </p:cNvPr>
          <p:cNvSpPr>
            <a:spLocks xmlns:a="http://schemas.openxmlformats.org/drawingml/2006/main" noGrp="1"/>
          </p:cNvSpPr>
          <p:nvPr/>
        </p:nvSpPr>
        <p:spPr>
          <a:xfrm xmlns:a="http://schemas.openxmlformats.org/drawingml/2006/main">
            <a:off x="151447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9" name="">
            <a:extLst xmlns:a="http://schemas.openxmlformats.org/drawingml/2006/main">
              <a:ext uri="{FF2B5EF4-FFF2-40B4-BE49-F238E27FC236}">
                <a16:creationId xmlns:a16="http://schemas.microsoft.com/office/drawing/2014/main" id="{FA3569BE-CC49-4F63-A269-F7F8068E5AF3}"/>
              </a:ext>
            </a:extLst>
          </p:cNvPr>
          <p:cNvSpPr>
            <a:spLocks xmlns:a="http://schemas.openxmlformats.org/drawingml/2006/main" noGrp="1"/>
          </p:cNvSpPr>
          <p:nvPr/>
        </p:nvSpPr>
        <p:spPr>
          <a:xfrm xmlns:a="http://schemas.openxmlformats.org/drawingml/2006/main">
            <a:off x="206692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0" name="">
            <a:extLst xmlns:a="http://schemas.openxmlformats.org/drawingml/2006/main">
              <a:ext uri="{FF2B5EF4-FFF2-40B4-BE49-F238E27FC236}">
                <a16:creationId xmlns:a16="http://schemas.microsoft.com/office/drawing/2014/main" id="{32877FB9-723B-4310-A4CC-4D1E10DA6CAF}"/>
              </a:ext>
            </a:extLst>
          </p:cNvPr>
          <p:cNvSpPr>
            <a:spLocks xmlns:a="http://schemas.openxmlformats.org/drawingml/2006/main" noGrp="1"/>
          </p:cNvSpPr>
          <p:nvPr/>
        </p:nvSpPr>
        <p:spPr>
          <a:xfrm xmlns:a="http://schemas.openxmlformats.org/drawingml/2006/main">
            <a:off x="261937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1" name="">
            <a:extLst xmlns:a="http://schemas.openxmlformats.org/drawingml/2006/main">
              <a:ext uri="{FF2B5EF4-FFF2-40B4-BE49-F238E27FC236}">
                <a16:creationId xmlns:a16="http://schemas.microsoft.com/office/drawing/2014/main" id="{658F3945-0168-4DAE-9000-AAB883E5882D}"/>
              </a:ext>
            </a:extLst>
          </p:cNvPr>
          <p:cNvSpPr>
            <a:spLocks xmlns:a="http://schemas.openxmlformats.org/drawingml/2006/main" noGrp="1"/>
          </p:cNvSpPr>
          <p:nvPr/>
        </p:nvSpPr>
        <p:spPr>
          <a:xfrm xmlns:a="http://schemas.openxmlformats.org/drawingml/2006/main">
            <a:off x="317182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2" name="">
            <a:extLst xmlns:a="http://schemas.openxmlformats.org/drawingml/2006/main">
              <a:ext uri="{FF2B5EF4-FFF2-40B4-BE49-F238E27FC236}">
                <a16:creationId xmlns:a16="http://schemas.microsoft.com/office/drawing/2014/main" id="{D0D43214-BDFB-4CA0-B649-D1DC2D2F65E7}"/>
              </a:ext>
            </a:extLst>
          </p:cNvPr>
          <p:cNvSpPr>
            <a:spLocks xmlns:a="http://schemas.openxmlformats.org/drawingml/2006/main" noGrp="1"/>
          </p:cNvSpPr>
          <p:nvPr/>
        </p:nvSpPr>
        <p:spPr>
          <a:xfrm xmlns:a="http://schemas.openxmlformats.org/drawingml/2006/main">
            <a:off x="372427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3" name="">
            <a:extLst xmlns:a="http://schemas.openxmlformats.org/drawingml/2006/main">
              <a:ext uri="{FF2B5EF4-FFF2-40B4-BE49-F238E27FC236}">
                <a16:creationId xmlns:a16="http://schemas.microsoft.com/office/drawing/2014/main" id="{39595AC1-5667-461F-BB81-E1DC3FD52FA2}"/>
              </a:ext>
            </a:extLst>
          </p:cNvPr>
          <p:cNvSpPr>
            <a:spLocks xmlns:a="http://schemas.openxmlformats.org/drawingml/2006/main" noGrp="1"/>
          </p:cNvSpPr>
          <p:nvPr/>
        </p:nvSpPr>
        <p:spPr>
          <a:xfrm xmlns:a="http://schemas.openxmlformats.org/drawingml/2006/main">
            <a:off x="427672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4" name="">
            <a:extLst xmlns:a="http://schemas.openxmlformats.org/drawingml/2006/main">
              <a:ext uri="{FF2B5EF4-FFF2-40B4-BE49-F238E27FC236}">
                <a16:creationId xmlns:a16="http://schemas.microsoft.com/office/drawing/2014/main" id="{B601EEDB-9A20-4CD4-9E91-9800597B98B4}"/>
              </a:ext>
            </a:extLst>
          </p:cNvPr>
          <p:cNvSpPr>
            <a:spLocks xmlns:a="http://schemas.openxmlformats.org/drawingml/2006/main" noGrp="1"/>
          </p:cNvSpPr>
          <p:nvPr/>
        </p:nvSpPr>
        <p:spPr>
          <a:xfrm xmlns:a="http://schemas.openxmlformats.org/drawingml/2006/main">
            <a:off x="4829175" y="32670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5" name="">
            <a:extLst xmlns:a="http://schemas.openxmlformats.org/drawingml/2006/main">
              <a:ext uri="{FF2B5EF4-FFF2-40B4-BE49-F238E27FC236}">
                <a16:creationId xmlns:a16="http://schemas.microsoft.com/office/drawing/2014/main" id="{9AB9E48C-3AD3-4C7F-BEDE-38EC700B3CAA}"/>
              </a:ext>
            </a:extLst>
          </p:cNvPr>
          <p:cNvSpPr>
            <a:spLocks xmlns:a="http://schemas.openxmlformats.org/drawingml/2006/main" noGrp="1"/>
          </p:cNvSpPr>
          <p:nvPr/>
        </p:nvSpPr>
        <p:spPr>
          <a:xfrm xmlns:a="http://schemas.openxmlformats.org/drawingml/2006/main">
            <a:off x="96202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6" name="">
            <a:extLst xmlns:a="http://schemas.openxmlformats.org/drawingml/2006/main">
              <a:ext uri="{FF2B5EF4-FFF2-40B4-BE49-F238E27FC236}">
                <a16:creationId xmlns:a16="http://schemas.microsoft.com/office/drawing/2014/main" id="{DBD3A797-08AC-449C-8627-E7F909E0A1AD}"/>
              </a:ext>
            </a:extLst>
          </p:cNvPr>
          <p:cNvSpPr>
            <a:spLocks xmlns:a="http://schemas.openxmlformats.org/drawingml/2006/main" noGrp="1"/>
          </p:cNvSpPr>
          <p:nvPr/>
        </p:nvSpPr>
        <p:spPr>
          <a:xfrm xmlns:a="http://schemas.openxmlformats.org/drawingml/2006/main">
            <a:off x="151447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7" name="">
            <a:extLst xmlns:a="http://schemas.openxmlformats.org/drawingml/2006/main">
              <a:ext uri="{FF2B5EF4-FFF2-40B4-BE49-F238E27FC236}">
                <a16:creationId xmlns:a16="http://schemas.microsoft.com/office/drawing/2014/main" id="{1D6A2A36-2D7F-4E2C-A24B-33C554F4195E}"/>
              </a:ext>
            </a:extLst>
          </p:cNvPr>
          <p:cNvSpPr>
            <a:spLocks xmlns:a="http://schemas.openxmlformats.org/drawingml/2006/main" noGrp="1"/>
          </p:cNvSpPr>
          <p:nvPr/>
        </p:nvSpPr>
        <p:spPr>
          <a:xfrm xmlns:a="http://schemas.openxmlformats.org/drawingml/2006/main">
            <a:off x="206692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8" name="">
            <a:extLst xmlns:a="http://schemas.openxmlformats.org/drawingml/2006/main">
              <a:ext uri="{FF2B5EF4-FFF2-40B4-BE49-F238E27FC236}">
                <a16:creationId xmlns:a16="http://schemas.microsoft.com/office/drawing/2014/main" id="{59EEBF03-9C82-46D8-8C6A-1CE54320BC22}"/>
              </a:ext>
            </a:extLst>
          </p:cNvPr>
          <p:cNvSpPr>
            <a:spLocks xmlns:a="http://schemas.openxmlformats.org/drawingml/2006/main" noGrp="1"/>
          </p:cNvSpPr>
          <p:nvPr/>
        </p:nvSpPr>
        <p:spPr>
          <a:xfrm xmlns:a="http://schemas.openxmlformats.org/drawingml/2006/main">
            <a:off x="261937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19" name="">
            <a:extLst xmlns:a="http://schemas.openxmlformats.org/drawingml/2006/main">
              <a:ext uri="{FF2B5EF4-FFF2-40B4-BE49-F238E27FC236}">
                <a16:creationId xmlns:a16="http://schemas.microsoft.com/office/drawing/2014/main" id="{D64A3F4C-FE6F-4B0E-9EDD-66AA226CC1A2}"/>
              </a:ext>
            </a:extLst>
          </p:cNvPr>
          <p:cNvSpPr>
            <a:spLocks xmlns:a="http://schemas.openxmlformats.org/drawingml/2006/main" noGrp="1"/>
          </p:cNvSpPr>
          <p:nvPr/>
        </p:nvSpPr>
        <p:spPr>
          <a:xfrm xmlns:a="http://schemas.openxmlformats.org/drawingml/2006/main">
            <a:off x="317182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0" name="">
            <a:extLst xmlns:a="http://schemas.openxmlformats.org/drawingml/2006/main">
              <a:ext uri="{FF2B5EF4-FFF2-40B4-BE49-F238E27FC236}">
                <a16:creationId xmlns:a16="http://schemas.microsoft.com/office/drawing/2014/main" id="{5E569B88-1108-4AF0-A2B5-37DF117C2103}"/>
              </a:ext>
            </a:extLst>
          </p:cNvPr>
          <p:cNvSpPr>
            <a:spLocks xmlns:a="http://schemas.openxmlformats.org/drawingml/2006/main" noGrp="1"/>
          </p:cNvSpPr>
          <p:nvPr/>
        </p:nvSpPr>
        <p:spPr>
          <a:xfrm xmlns:a="http://schemas.openxmlformats.org/drawingml/2006/main">
            <a:off x="372427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1" name="">
            <a:extLst xmlns:a="http://schemas.openxmlformats.org/drawingml/2006/main">
              <a:ext uri="{FF2B5EF4-FFF2-40B4-BE49-F238E27FC236}">
                <a16:creationId xmlns:a16="http://schemas.microsoft.com/office/drawing/2014/main" id="{1C477C71-9C8D-4609-A148-84933CC08059}"/>
              </a:ext>
            </a:extLst>
          </p:cNvPr>
          <p:cNvSpPr>
            <a:spLocks xmlns:a="http://schemas.openxmlformats.org/drawingml/2006/main" noGrp="1"/>
          </p:cNvSpPr>
          <p:nvPr/>
        </p:nvSpPr>
        <p:spPr>
          <a:xfrm xmlns:a="http://schemas.openxmlformats.org/drawingml/2006/main">
            <a:off x="427672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2" name="">
            <a:extLst xmlns:a="http://schemas.openxmlformats.org/drawingml/2006/main">
              <a:ext uri="{FF2B5EF4-FFF2-40B4-BE49-F238E27FC236}">
                <a16:creationId xmlns:a16="http://schemas.microsoft.com/office/drawing/2014/main" id="{BF66B371-E8AA-4525-BF2E-E78383AE69BF}"/>
              </a:ext>
            </a:extLst>
          </p:cNvPr>
          <p:cNvSpPr>
            <a:spLocks xmlns:a="http://schemas.openxmlformats.org/drawingml/2006/main" noGrp="1"/>
          </p:cNvSpPr>
          <p:nvPr/>
        </p:nvSpPr>
        <p:spPr>
          <a:xfrm xmlns:a="http://schemas.openxmlformats.org/drawingml/2006/main">
            <a:off x="4829175" y="36290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3" name="">
            <a:extLst xmlns:a="http://schemas.openxmlformats.org/drawingml/2006/main">
              <a:ext uri="{FF2B5EF4-FFF2-40B4-BE49-F238E27FC236}">
                <a16:creationId xmlns:a16="http://schemas.microsoft.com/office/drawing/2014/main" id="{215907B5-EB21-48A3-827D-D4383C39BFA2}"/>
              </a:ext>
            </a:extLst>
          </p:cNvPr>
          <p:cNvSpPr>
            <a:spLocks xmlns:a="http://schemas.openxmlformats.org/drawingml/2006/main" noGrp="1"/>
          </p:cNvSpPr>
          <p:nvPr/>
        </p:nvSpPr>
        <p:spPr>
          <a:xfrm xmlns:a="http://schemas.openxmlformats.org/drawingml/2006/main">
            <a:off x="96202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4" name="">
            <a:extLst xmlns:a="http://schemas.openxmlformats.org/drawingml/2006/main">
              <a:ext uri="{FF2B5EF4-FFF2-40B4-BE49-F238E27FC236}">
                <a16:creationId xmlns:a16="http://schemas.microsoft.com/office/drawing/2014/main" id="{BF0C596D-2EBF-4E46-BE0B-DFB0A40C7B68}"/>
              </a:ext>
            </a:extLst>
          </p:cNvPr>
          <p:cNvSpPr>
            <a:spLocks xmlns:a="http://schemas.openxmlformats.org/drawingml/2006/main" noGrp="1"/>
          </p:cNvSpPr>
          <p:nvPr/>
        </p:nvSpPr>
        <p:spPr>
          <a:xfrm xmlns:a="http://schemas.openxmlformats.org/drawingml/2006/main">
            <a:off x="151447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5" name="">
            <a:extLst xmlns:a="http://schemas.openxmlformats.org/drawingml/2006/main">
              <a:ext uri="{FF2B5EF4-FFF2-40B4-BE49-F238E27FC236}">
                <a16:creationId xmlns:a16="http://schemas.microsoft.com/office/drawing/2014/main" id="{95546F67-C393-420D-ABAA-BAA50BB35E77}"/>
              </a:ext>
            </a:extLst>
          </p:cNvPr>
          <p:cNvSpPr>
            <a:spLocks xmlns:a="http://schemas.openxmlformats.org/drawingml/2006/main" noGrp="1"/>
          </p:cNvSpPr>
          <p:nvPr/>
        </p:nvSpPr>
        <p:spPr>
          <a:xfrm xmlns:a="http://schemas.openxmlformats.org/drawingml/2006/main">
            <a:off x="206692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6" name="">
            <a:extLst xmlns:a="http://schemas.openxmlformats.org/drawingml/2006/main">
              <a:ext uri="{FF2B5EF4-FFF2-40B4-BE49-F238E27FC236}">
                <a16:creationId xmlns:a16="http://schemas.microsoft.com/office/drawing/2014/main" id="{FB5FFE5A-D9E3-464A-B4C9-E74AB5C2C456}"/>
              </a:ext>
            </a:extLst>
          </p:cNvPr>
          <p:cNvSpPr>
            <a:spLocks xmlns:a="http://schemas.openxmlformats.org/drawingml/2006/main" noGrp="1"/>
          </p:cNvSpPr>
          <p:nvPr/>
        </p:nvSpPr>
        <p:spPr>
          <a:xfrm xmlns:a="http://schemas.openxmlformats.org/drawingml/2006/main">
            <a:off x="261937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7" name="">
            <a:extLst xmlns:a="http://schemas.openxmlformats.org/drawingml/2006/main">
              <a:ext uri="{FF2B5EF4-FFF2-40B4-BE49-F238E27FC236}">
                <a16:creationId xmlns:a16="http://schemas.microsoft.com/office/drawing/2014/main" id="{EE1F1E0E-9545-4AB8-93F0-8474F2477EF0}"/>
              </a:ext>
            </a:extLst>
          </p:cNvPr>
          <p:cNvSpPr>
            <a:spLocks xmlns:a="http://schemas.openxmlformats.org/drawingml/2006/main" noGrp="1"/>
          </p:cNvSpPr>
          <p:nvPr/>
        </p:nvSpPr>
        <p:spPr>
          <a:xfrm xmlns:a="http://schemas.openxmlformats.org/drawingml/2006/main">
            <a:off x="317182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8" name="">
            <a:extLst xmlns:a="http://schemas.openxmlformats.org/drawingml/2006/main">
              <a:ext uri="{FF2B5EF4-FFF2-40B4-BE49-F238E27FC236}">
                <a16:creationId xmlns:a16="http://schemas.microsoft.com/office/drawing/2014/main" id="{BA9EC4D9-C7CA-4462-864B-5EEC8213420B}"/>
              </a:ext>
            </a:extLst>
          </p:cNvPr>
          <p:cNvSpPr>
            <a:spLocks xmlns:a="http://schemas.openxmlformats.org/drawingml/2006/main" noGrp="1"/>
          </p:cNvSpPr>
          <p:nvPr/>
        </p:nvSpPr>
        <p:spPr>
          <a:xfrm xmlns:a="http://schemas.openxmlformats.org/drawingml/2006/main">
            <a:off x="372427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29" name="">
            <a:extLst xmlns:a="http://schemas.openxmlformats.org/drawingml/2006/main">
              <a:ext uri="{FF2B5EF4-FFF2-40B4-BE49-F238E27FC236}">
                <a16:creationId xmlns:a16="http://schemas.microsoft.com/office/drawing/2014/main" id="{24910527-AB97-4158-9F09-63E3581B37A3}"/>
              </a:ext>
            </a:extLst>
          </p:cNvPr>
          <p:cNvSpPr>
            <a:spLocks xmlns:a="http://schemas.openxmlformats.org/drawingml/2006/main" noGrp="1"/>
          </p:cNvSpPr>
          <p:nvPr/>
        </p:nvSpPr>
        <p:spPr>
          <a:xfrm xmlns:a="http://schemas.openxmlformats.org/drawingml/2006/main">
            <a:off x="427672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0" name="">
            <a:extLst xmlns:a="http://schemas.openxmlformats.org/drawingml/2006/main">
              <a:ext uri="{FF2B5EF4-FFF2-40B4-BE49-F238E27FC236}">
                <a16:creationId xmlns:a16="http://schemas.microsoft.com/office/drawing/2014/main" id="{14F9061F-6A02-4E6D-9DD5-473998BEB910}"/>
              </a:ext>
            </a:extLst>
          </p:cNvPr>
          <p:cNvSpPr>
            <a:spLocks xmlns:a="http://schemas.openxmlformats.org/drawingml/2006/main" noGrp="1"/>
          </p:cNvSpPr>
          <p:nvPr/>
        </p:nvSpPr>
        <p:spPr>
          <a:xfrm xmlns:a="http://schemas.openxmlformats.org/drawingml/2006/main">
            <a:off x="4829175" y="39909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1" name="">
            <a:extLst xmlns:a="http://schemas.openxmlformats.org/drawingml/2006/main">
              <a:ext uri="{FF2B5EF4-FFF2-40B4-BE49-F238E27FC236}">
                <a16:creationId xmlns:a16="http://schemas.microsoft.com/office/drawing/2014/main" id="{EC084E4E-D627-409B-BC86-6A024442FE9F}"/>
              </a:ext>
            </a:extLst>
          </p:cNvPr>
          <p:cNvSpPr>
            <a:spLocks xmlns:a="http://schemas.openxmlformats.org/drawingml/2006/main" noGrp="1"/>
          </p:cNvSpPr>
          <p:nvPr/>
        </p:nvSpPr>
        <p:spPr>
          <a:xfrm xmlns:a="http://schemas.openxmlformats.org/drawingml/2006/main">
            <a:off x="962025" y="43529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2" name="">
            <a:extLst xmlns:a="http://schemas.openxmlformats.org/drawingml/2006/main">
              <a:ext uri="{FF2B5EF4-FFF2-40B4-BE49-F238E27FC236}">
                <a16:creationId xmlns:a16="http://schemas.microsoft.com/office/drawing/2014/main" id="{5A561508-E914-4D7A-B141-7D1A3EB522E2}"/>
              </a:ext>
            </a:extLst>
          </p:cNvPr>
          <p:cNvSpPr>
            <a:spLocks xmlns:a="http://schemas.openxmlformats.org/drawingml/2006/main" noGrp="1"/>
          </p:cNvSpPr>
          <p:nvPr/>
        </p:nvSpPr>
        <p:spPr>
          <a:xfrm xmlns:a="http://schemas.openxmlformats.org/drawingml/2006/main">
            <a:off x="1514475" y="43529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3" name="">
            <a:extLst xmlns:a="http://schemas.openxmlformats.org/drawingml/2006/main">
              <a:ext uri="{FF2B5EF4-FFF2-40B4-BE49-F238E27FC236}">
                <a16:creationId xmlns:a16="http://schemas.microsoft.com/office/drawing/2014/main" id="{9795897D-F7FE-4F02-915A-84D5156E1520}"/>
              </a:ext>
            </a:extLst>
          </p:cNvPr>
          <p:cNvSpPr>
            <a:spLocks xmlns:a="http://schemas.openxmlformats.org/drawingml/2006/main" noGrp="1"/>
          </p:cNvSpPr>
          <p:nvPr/>
        </p:nvSpPr>
        <p:spPr>
          <a:xfrm xmlns:a="http://schemas.openxmlformats.org/drawingml/2006/main">
            <a:off x="2066925" y="43529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4" name="">
            <a:extLst xmlns:a="http://schemas.openxmlformats.org/drawingml/2006/main">
              <a:ext uri="{FF2B5EF4-FFF2-40B4-BE49-F238E27FC236}">
                <a16:creationId xmlns:a16="http://schemas.microsoft.com/office/drawing/2014/main" id="{17275FCE-305D-4BAE-B9F0-EB8F5F9B67DE}"/>
              </a:ext>
            </a:extLst>
          </p:cNvPr>
          <p:cNvSpPr>
            <a:spLocks xmlns:a="http://schemas.openxmlformats.org/drawingml/2006/main" noGrp="1"/>
          </p:cNvSpPr>
          <p:nvPr/>
        </p:nvSpPr>
        <p:spPr>
          <a:xfrm xmlns:a="http://schemas.openxmlformats.org/drawingml/2006/main">
            <a:off x="2619375" y="4352925"/>
            <a:ext cx="209550" cy="2095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5" name="">
            <a:extLst xmlns:a="http://schemas.openxmlformats.org/drawingml/2006/main">
              <a:ext uri="{FF2B5EF4-FFF2-40B4-BE49-F238E27FC236}">
                <a16:creationId xmlns:a16="http://schemas.microsoft.com/office/drawing/2014/main" id="{7C8D759F-ACE0-4E49-9664-7C6A8D8612C6}"/>
              </a:ext>
            </a:extLst>
          </p:cNvPr>
          <p:cNvSpPr>
            <a:spLocks xmlns:a="http://schemas.openxmlformats.org/drawingml/2006/main" noGrp="1"/>
          </p:cNvSpPr>
          <p:nvPr/>
        </p:nvSpPr>
        <p:spPr>
          <a:xfrm xmlns:a="http://schemas.openxmlformats.org/drawingml/2006/main">
            <a:off x="3171825" y="4352925"/>
            <a:ext cx="209550" cy="2095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36" name="">
            <a:extLst xmlns:a="http://schemas.openxmlformats.org/drawingml/2006/main">
              <a:ext uri="{FF2B5EF4-FFF2-40B4-BE49-F238E27FC236}">
                <a16:creationId xmlns:a16="http://schemas.microsoft.com/office/drawing/2014/main" id="{40E3E81C-18F4-4D26-A28C-8C126B70B0B7}"/>
              </a:ext>
            </a:extLst>
          </p:cNvPr>
          <p:cNvSpPr>
            <a:spLocks xmlns:a="http://schemas.openxmlformats.org/drawingml/2006/main" noGrp="1"/>
          </p:cNvSpPr>
          <p:nvPr/>
        </p:nvSpPr>
        <p:spPr>
          <a:xfrm xmlns:a="http://schemas.openxmlformats.org/drawingml/2006/main">
            <a:off x="3724275" y="43529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7" name="">
            <a:extLst xmlns:a="http://schemas.openxmlformats.org/drawingml/2006/main">
              <a:ext uri="{FF2B5EF4-FFF2-40B4-BE49-F238E27FC236}">
                <a16:creationId xmlns:a16="http://schemas.microsoft.com/office/drawing/2014/main" id="{E9E3DA33-EDFF-4670-9A2E-186E1609FC51}"/>
              </a:ext>
            </a:extLst>
          </p:cNvPr>
          <p:cNvSpPr>
            <a:spLocks xmlns:a="http://schemas.openxmlformats.org/drawingml/2006/main" noGrp="1"/>
          </p:cNvSpPr>
          <p:nvPr/>
        </p:nvSpPr>
        <p:spPr>
          <a:xfrm xmlns:a="http://schemas.openxmlformats.org/drawingml/2006/main">
            <a:off x="4276725" y="43529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8" name="">
            <a:extLst xmlns:a="http://schemas.openxmlformats.org/drawingml/2006/main">
              <a:ext uri="{FF2B5EF4-FFF2-40B4-BE49-F238E27FC236}">
                <a16:creationId xmlns:a16="http://schemas.microsoft.com/office/drawing/2014/main" id="{2C352CCA-4973-4142-81AE-A5E932C11C7F}"/>
              </a:ext>
            </a:extLst>
          </p:cNvPr>
          <p:cNvSpPr>
            <a:spLocks xmlns:a="http://schemas.openxmlformats.org/drawingml/2006/main" noGrp="1"/>
          </p:cNvSpPr>
          <p:nvPr/>
        </p:nvSpPr>
        <p:spPr>
          <a:xfrm xmlns:a="http://schemas.openxmlformats.org/drawingml/2006/main">
            <a:off x="4829175" y="43529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39" name="">
            <a:extLst xmlns:a="http://schemas.openxmlformats.org/drawingml/2006/main">
              <a:ext uri="{FF2B5EF4-FFF2-40B4-BE49-F238E27FC236}">
                <a16:creationId xmlns:a16="http://schemas.microsoft.com/office/drawing/2014/main" id="{4ADC5F3C-CBD8-4AD4-BF82-DD7F78FD4FBF}"/>
              </a:ext>
            </a:extLst>
          </p:cNvPr>
          <p:cNvSpPr>
            <a:spLocks xmlns:a="http://schemas.openxmlformats.org/drawingml/2006/main" noGrp="1"/>
          </p:cNvSpPr>
          <p:nvPr/>
        </p:nvSpPr>
        <p:spPr>
          <a:xfrm xmlns:a="http://schemas.openxmlformats.org/drawingml/2006/main">
            <a:off x="96202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0" name="">
            <a:extLst xmlns:a="http://schemas.openxmlformats.org/drawingml/2006/main">
              <a:ext uri="{FF2B5EF4-FFF2-40B4-BE49-F238E27FC236}">
                <a16:creationId xmlns:a16="http://schemas.microsoft.com/office/drawing/2014/main" id="{A499B46B-6D66-4E07-8071-3D35F4E9E85B}"/>
              </a:ext>
            </a:extLst>
          </p:cNvPr>
          <p:cNvSpPr>
            <a:spLocks xmlns:a="http://schemas.openxmlformats.org/drawingml/2006/main" noGrp="1"/>
          </p:cNvSpPr>
          <p:nvPr/>
        </p:nvSpPr>
        <p:spPr>
          <a:xfrm xmlns:a="http://schemas.openxmlformats.org/drawingml/2006/main">
            <a:off x="151447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1" name="">
            <a:extLst xmlns:a="http://schemas.openxmlformats.org/drawingml/2006/main">
              <a:ext uri="{FF2B5EF4-FFF2-40B4-BE49-F238E27FC236}">
                <a16:creationId xmlns:a16="http://schemas.microsoft.com/office/drawing/2014/main" id="{AAE36E89-DCBC-4F95-AECE-897AC6819E33}"/>
              </a:ext>
            </a:extLst>
          </p:cNvPr>
          <p:cNvSpPr>
            <a:spLocks xmlns:a="http://schemas.openxmlformats.org/drawingml/2006/main" noGrp="1"/>
          </p:cNvSpPr>
          <p:nvPr/>
        </p:nvSpPr>
        <p:spPr>
          <a:xfrm xmlns:a="http://schemas.openxmlformats.org/drawingml/2006/main">
            <a:off x="206692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2" name="">
            <a:extLst xmlns:a="http://schemas.openxmlformats.org/drawingml/2006/main">
              <a:ext uri="{FF2B5EF4-FFF2-40B4-BE49-F238E27FC236}">
                <a16:creationId xmlns:a16="http://schemas.microsoft.com/office/drawing/2014/main" id="{4FFBEA24-0F45-421E-BD47-7FFD3A6AD2E6}"/>
              </a:ext>
            </a:extLst>
          </p:cNvPr>
          <p:cNvSpPr>
            <a:spLocks xmlns:a="http://schemas.openxmlformats.org/drawingml/2006/main" noGrp="1"/>
          </p:cNvSpPr>
          <p:nvPr/>
        </p:nvSpPr>
        <p:spPr>
          <a:xfrm xmlns:a="http://schemas.openxmlformats.org/drawingml/2006/main">
            <a:off x="261937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3" name="">
            <a:extLst xmlns:a="http://schemas.openxmlformats.org/drawingml/2006/main">
              <a:ext uri="{FF2B5EF4-FFF2-40B4-BE49-F238E27FC236}">
                <a16:creationId xmlns:a16="http://schemas.microsoft.com/office/drawing/2014/main" id="{D471E4CA-34BE-41F5-A18B-ADBB335EB663}"/>
              </a:ext>
            </a:extLst>
          </p:cNvPr>
          <p:cNvSpPr>
            <a:spLocks xmlns:a="http://schemas.openxmlformats.org/drawingml/2006/main" noGrp="1"/>
          </p:cNvSpPr>
          <p:nvPr/>
        </p:nvSpPr>
        <p:spPr>
          <a:xfrm xmlns:a="http://schemas.openxmlformats.org/drawingml/2006/main">
            <a:off x="317182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4" name="">
            <a:extLst xmlns:a="http://schemas.openxmlformats.org/drawingml/2006/main">
              <a:ext uri="{FF2B5EF4-FFF2-40B4-BE49-F238E27FC236}">
                <a16:creationId xmlns:a16="http://schemas.microsoft.com/office/drawing/2014/main" id="{E07B4DF3-2B95-49BA-8AD5-451968BF17BB}"/>
              </a:ext>
            </a:extLst>
          </p:cNvPr>
          <p:cNvSpPr>
            <a:spLocks xmlns:a="http://schemas.openxmlformats.org/drawingml/2006/main" noGrp="1"/>
          </p:cNvSpPr>
          <p:nvPr/>
        </p:nvSpPr>
        <p:spPr>
          <a:xfrm xmlns:a="http://schemas.openxmlformats.org/drawingml/2006/main">
            <a:off x="372427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5" name="">
            <a:extLst xmlns:a="http://schemas.openxmlformats.org/drawingml/2006/main">
              <a:ext uri="{FF2B5EF4-FFF2-40B4-BE49-F238E27FC236}">
                <a16:creationId xmlns:a16="http://schemas.microsoft.com/office/drawing/2014/main" id="{21733DA3-0209-4648-9BBA-001AF8863315}"/>
              </a:ext>
            </a:extLst>
          </p:cNvPr>
          <p:cNvSpPr>
            <a:spLocks xmlns:a="http://schemas.openxmlformats.org/drawingml/2006/main" noGrp="1"/>
          </p:cNvSpPr>
          <p:nvPr/>
        </p:nvSpPr>
        <p:spPr>
          <a:xfrm xmlns:a="http://schemas.openxmlformats.org/drawingml/2006/main">
            <a:off x="427672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6" name="">
            <a:extLst xmlns:a="http://schemas.openxmlformats.org/drawingml/2006/main">
              <a:ext uri="{FF2B5EF4-FFF2-40B4-BE49-F238E27FC236}">
                <a16:creationId xmlns:a16="http://schemas.microsoft.com/office/drawing/2014/main" id="{42B2C2CE-8AA0-40FC-A826-2FA66F04B9B2}"/>
              </a:ext>
            </a:extLst>
          </p:cNvPr>
          <p:cNvSpPr>
            <a:spLocks xmlns:a="http://schemas.openxmlformats.org/drawingml/2006/main" noGrp="1"/>
          </p:cNvSpPr>
          <p:nvPr/>
        </p:nvSpPr>
        <p:spPr>
          <a:xfrm xmlns:a="http://schemas.openxmlformats.org/drawingml/2006/main">
            <a:off x="4829175" y="471487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7" name="">
            <a:extLst xmlns:a="http://schemas.openxmlformats.org/drawingml/2006/main">
              <a:ext uri="{FF2B5EF4-FFF2-40B4-BE49-F238E27FC236}">
                <a16:creationId xmlns:a16="http://schemas.microsoft.com/office/drawing/2014/main" id="{1A527245-3D83-4EEF-9EE9-18D17D63715C}"/>
              </a:ext>
            </a:extLst>
          </p:cNvPr>
          <p:cNvSpPr>
            <a:spLocks xmlns:a="http://schemas.openxmlformats.org/drawingml/2006/main" noGrp="1"/>
          </p:cNvSpPr>
          <p:nvPr/>
        </p:nvSpPr>
        <p:spPr>
          <a:xfrm xmlns:a="http://schemas.openxmlformats.org/drawingml/2006/main">
            <a:off x="96202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8" name="">
            <a:extLst xmlns:a="http://schemas.openxmlformats.org/drawingml/2006/main">
              <a:ext uri="{FF2B5EF4-FFF2-40B4-BE49-F238E27FC236}">
                <a16:creationId xmlns:a16="http://schemas.microsoft.com/office/drawing/2014/main" id="{EF127B53-C5C1-47A8-A936-567668E2F300}"/>
              </a:ext>
            </a:extLst>
          </p:cNvPr>
          <p:cNvSpPr>
            <a:spLocks xmlns:a="http://schemas.openxmlformats.org/drawingml/2006/main" noGrp="1"/>
          </p:cNvSpPr>
          <p:nvPr/>
        </p:nvSpPr>
        <p:spPr>
          <a:xfrm xmlns:a="http://schemas.openxmlformats.org/drawingml/2006/main">
            <a:off x="151447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49" name="">
            <a:extLst xmlns:a="http://schemas.openxmlformats.org/drawingml/2006/main">
              <a:ext uri="{FF2B5EF4-FFF2-40B4-BE49-F238E27FC236}">
                <a16:creationId xmlns:a16="http://schemas.microsoft.com/office/drawing/2014/main" id="{2C4628B3-0D74-471E-A356-257B16DE82ED}"/>
              </a:ext>
            </a:extLst>
          </p:cNvPr>
          <p:cNvSpPr>
            <a:spLocks xmlns:a="http://schemas.openxmlformats.org/drawingml/2006/main" noGrp="1"/>
          </p:cNvSpPr>
          <p:nvPr/>
        </p:nvSpPr>
        <p:spPr>
          <a:xfrm xmlns:a="http://schemas.openxmlformats.org/drawingml/2006/main">
            <a:off x="206692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50" name="">
            <a:extLst xmlns:a="http://schemas.openxmlformats.org/drawingml/2006/main">
              <a:ext uri="{FF2B5EF4-FFF2-40B4-BE49-F238E27FC236}">
                <a16:creationId xmlns:a16="http://schemas.microsoft.com/office/drawing/2014/main" id="{3D531B90-5FC3-45AD-9137-9F126C79D549}"/>
              </a:ext>
            </a:extLst>
          </p:cNvPr>
          <p:cNvSpPr>
            <a:spLocks xmlns:a="http://schemas.openxmlformats.org/drawingml/2006/main" noGrp="1"/>
          </p:cNvSpPr>
          <p:nvPr/>
        </p:nvSpPr>
        <p:spPr>
          <a:xfrm xmlns:a="http://schemas.openxmlformats.org/drawingml/2006/main">
            <a:off x="261937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51" name="">
            <a:extLst xmlns:a="http://schemas.openxmlformats.org/drawingml/2006/main">
              <a:ext uri="{FF2B5EF4-FFF2-40B4-BE49-F238E27FC236}">
                <a16:creationId xmlns:a16="http://schemas.microsoft.com/office/drawing/2014/main" id="{130DAEAA-C2EA-40B6-942B-1A45C9CF2812}"/>
              </a:ext>
            </a:extLst>
          </p:cNvPr>
          <p:cNvSpPr>
            <a:spLocks xmlns:a="http://schemas.openxmlformats.org/drawingml/2006/main" noGrp="1"/>
          </p:cNvSpPr>
          <p:nvPr/>
        </p:nvSpPr>
        <p:spPr>
          <a:xfrm xmlns:a="http://schemas.openxmlformats.org/drawingml/2006/main">
            <a:off x="317182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52" name="">
            <a:extLst xmlns:a="http://schemas.openxmlformats.org/drawingml/2006/main">
              <a:ext uri="{FF2B5EF4-FFF2-40B4-BE49-F238E27FC236}">
                <a16:creationId xmlns:a16="http://schemas.microsoft.com/office/drawing/2014/main" id="{F31E070C-D0CF-4312-A827-291AB3A9A765}"/>
              </a:ext>
            </a:extLst>
          </p:cNvPr>
          <p:cNvSpPr>
            <a:spLocks xmlns:a="http://schemas.openxmlformats.org/drawingml/2006/main" noGrp="1"/>
          </p:cNvSpPr>
          <p:nvPr/>
        </p:nvSpPr>
        <p:spPr>
          <a:xfrm xmlns:a="http://schemas.openxmlformats.org/drawingml/2006/main">
            <a:off x="372427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53" name="">
            <a:extLst xmlns:a="http://schemas.openxmlformats.org/drawingml/2006/main">
              <a:ext uri="{FF2B5EF4-FFF2-40B4-BE49-F238E27FC236}">
                <a16:creationId xmlns:a16="http://schemas.microsoft.com/office/drawing/2014/main" id="{E9EF2B41-452C-48D4-B921-A928EC79C0BC}"/>
              </a:ext>
            </a:extLst>
          </p:cNvPr>
          <p:cNvSpPr>
            <a:spLocks xmlns:a="http://schemas.openxmlformats.org/drawingml/2006/main" noGrp="1"/>
          </p:cNvSpPr>
          <p:nvPr/>
        </p:nvSpPr>
        <p:spPr>
          <a:xfrm xmlns:a="http://schemas.openxmlformats.org/drawingml/2006/main">
            <a:off x="427672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54" name="">
            <a:extLst xmlns:a="http://schemas.openxmlformats.org/drawingml/2006/main">
              <a:ext uri="{FF2B5EF4-FFF2-40B4-BE49-F238E27FC236}">
                <a16:creationId xmlns:a16="http://schemas.microsoft.com/office/drawing/2014/main" id="{6C5DF53C-E89E-4A45-A63A-80AFDF796F2E}"/>
              </a:ext>
            </a:extLst>
          </p:cNvPr>
          <p:cNvSpPr>
            <a:spLocks xmlns:a="http://schemas.openxmlformats.org/drawingml/2006/main" noGrp="1"/>
          </p:cNvSpPr>
          <p:nvPr/>
        </p:nvSpPr>
        <p:spPr>
          <a:xfrm xmlns:a="http://schemas.openxmlformats.org/drawingml/2006/main">
            <a:off x="4829175" y="5076825"/>
            <a:ext cx="209550" cy="209550"/>
          </a:xfrm>
          <a:prstGeom xmlns:a="http://schemas.openxmlformats.org/drawingml/2006/main" prst="ellipse">
            <a:avLst/>
          </a:prstGeom>
          <a:solidFill xmlns:a="http://schemas.openxmlformats.org/drawingml/2006/main">
            <a:srgbClr val="C7CDD1"/>
          </a:solidFill>
          <a:ln xmlns:a="http://schemas.openxmlformats.org/drawingml/2006/main" w="14288">
            <a:solidFill>
              <a:srgbClr val="FFFFFF"/>
            </a:solidFill>
            <a:prstDash val="solid"/>
          </a:ln>
        </p:spPr>
      </p:sp>
      <p:sp>
        <p:nvSpPr>
          <p:cNvPr id="55" name="">
            <a:extLst xmlns:a="http://schemas.openxmlformats.org/drawingml/2006/main">
              <a:ext uri="{FF2B5EF4-FFF2-40B4-BE49-F238E27FC236}">
                <a16:creationId xmlns:a16="http://schemas.microsoft.com/office/drawing/2014/main" id="{B340EBC6-87A3-4B78-AC51-7CC415DE9294}"/>
              </a:ext>
            </a:extLst>
          </p:cNvPr>
          <p:cNvSpPr>
            <a:spLocks xmlns:a="http://schemas.openxmlformats.org/drawingml/2006/main" noGrp="1"/>
          </p:cNvSpPr>
          <p:nvPr/>
        </p:nvSpPr>
        <p:spPr>
          <a:xfrm xmlns:a="http://schemas.openxmlformats.org/drawingml/2006/main">
            <a:off x="838200" y="5476875"/>
            <a:ext cx="451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425" b="1" i="0">
                <a:solidFill>
                  <a:srgbClr val="12364A"/>
                </a:solidFill>
                <a:latin typeface="Helvetica Neue"/>
                <a:ea typeface="Helvetica Neue"/>
                <a:cs typeface="Helvetica Neue"/>
              </a:defRPr>
            </a:pPr>
            <a:r>
              <a:rPr sz="1425" b="1" i="0">
                <a:solidFill>
                  <a:srgbClr val="12364A"/>
                </a:solidFill>
                <a:latin typeface="Helvetica Neue"/>
                <a:ea typeface="Helvetica Neue"/>
                <a:cs typeface="Helvetica Neue"/>
              </a:rPr>
              <a:t>Only the colliding pair is brought to the current time.</a:t>
            </a:r>
          </a:p>
        </p:txBody>
      </p:sp>
      <p:sp>
        <p:nvSpPr>
          <p:cNvPr id="56" name="">
            <a:extLst xmlns:a="http://schemas.openxmlformats.org/drawingml/2006/main">
              <a:ext uri="{FF2B5EF4-FFF2-40B4-BE49-F238E27FC236}">
                <a16:creationId xmlns:a16="http://schemas.microsoft.com/office/drawing/2014/main" id="{2D5AE6D9-C714-42A6-9F48-BCF6A8A4070E}"/>
              </a:ext>
            </a:extLst>
          </p:cNvPr>
          <p:cNvSpPr>
            <a:spLocks xmlns:a="http://schemas.openxmlformats.org/drawingml/2006/main" noGrp="1"/>
          </p:cNvSpPr>
          <p:nvPr/>
        </p:nvSpPr>
        <p:spPr>
          <a:xfrm xmlns:a="http://schemas.openxmlformats.org/drawingml/2006/main">
            <a:off x="6210300" y="1466850"/>
            <a:ext cx="5581650" cy="4476750"/>
          </a:xfrm>
          <a:prstGeom xmlns:a="http://schemas.openxmlformats.org/drawingml/2006/main" prst="roundRect">
            <a:avLst>
              <a:gd name="adj" fmla="val 1702"/>
            </a:avLst>
          </a:prstGeom>
          <a:solidFill xmlns:a="http://schemas.openxmlformats.org/drawingml/2006/main">
            <a:srgbClr val="EAF5FB"/>
          </a:solidFill>
          <a:ln xmlns:a="http://schemas.openxmlformats.org/drawingml/2006/main" w="0">
            <a:noFill/>
            <a:prstDash val="solid"/>
          </a:ln>
        </p:spPr>
      </p:sp>
      <p:sp>
        <p:nvSpPr>
          <p:cNvPr id="57" name="">
            <a:extLst xmlns:a="http://schemas.openxmlformats.org/drawingml/2006/main">
              <a:ext uri="{FF2B5EF4-FFF2-40B4-BE49-F238E27FC236}">
                <a16:creationId xmlns:a16="http://schemas.microsoft.com/office/drawing/2014/main" id="{521942BD-91C7-4799-9A5E-23E5DDE38B34}"/>
              </a:ext>
            </a:extLst>
          </p:cNvPr>
          <p:cNvSpPr>
            <a:spLocks xmlns:a="http://schemas.openxmlformats.org/drawingml/2006/main" noGrp="1"/>
          </p:cNvSpPr>
          <p:nvPr/>
        </p:nvSpPr>
        <p:spPr>
          <a:xfrm xmlns:a="http://schemas.openxmlformats.org/drawingml/2006/main">
            <a:off x="6496050" y="1752600"/>
            <a:ext cx="2762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11111"/>
                </a:solidFill>
                <a:latin typeface="Helvetica Neue"/>
                <a:ea typeface="Helvetica Neue"/>
                <a:cs typeface="Helvetica Neue"/>
              </a:defRPr>
            </a:pPr>
            <a:r>
              <a:rPr sz="2550" b="1" i="0">
                <a:solidFill>
                  <a:srgbClr val="111111"/>
                </a:solidFill>
                <a:latin typeface="Helvetica Neue"/>
                <a:ea typeface="Helvetica Neue"/>
                <a:cs typeface="Helvetica Neue"/>
              </a:rPr>
              <a:t>Virtual cells</a:t>
            </a:r>
          </a:p>
        </p:txBody>
      </p:sp>
      <p:sp>
        <p:nvSpPr>
          <p:cNvPr id="58" name="">
            <a:extLst xmlns:a="http://schemas.openxmlformats.org/drawingml/2006/main">
              <a:ext uri="{FF2B5EF4-FFF2-40B4-BE49-F238E27FC236}">
                <a16:creationId xmlns:a16="http://schemas.microsoft.com/office/drawing/2014/main" id="{B6416658-D543-4CF1-995F-A9A70D390274}"/>
              </a:ext>
            </a:extLst>
          </p:cNvPr>
          <p:cNvSpPr>
            <a:spLocks xmlns:a="http://schemas.openxmlformats.org/drawingml/2006/main" noGrp="1"/>
          </p:cNvSpPr>
          <p:nvPr/>
        </p:nvSpPr>
        <p:spPr>
          <a:xfrm xmlns:a="http://schemas.openxmlformats.org/drawingml/2006/main">
            <a:off x="6496050" y="2286000"/>
            <a:ext cx="4667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0" i="0">
                <a:solidFill>
                  <a:srgbClr val="52616B"/>
                </a:solidFill>
                <a:latin typeface="Helvetica Neue"/>
                <a:ea typeface="Helvetica Neue"/>
                <a:cs typeface="Helvetica Neue"/>
              </a:defRPr>
            </a:pPr>
            <a:r>
              <a:rPr sz="1725" b="0" i="0">
                <a:solidFill>
                  <a:srgbClr val="52616B"/>
                </a:solidFill>
                <a:latin typeface="Helvetica Neue"/>
                <a:ea typeface="Helvetica Neue"/>
                <a:cs typeface="Helvetica Neue"/>
              </a:rPr>
              <a:t>Search nearby spatial cells instead of testing every possible particle pair.</a:t>
            </a:r>
          </a:p>
        </p:txBody>
      </p:sp>
      <p:sp>
        <p:nvSpPr>
          <p:cNvPr id="59" name="">
            <a:extLst xmlns:a="http://schemas.openxmlformats.org/drawingml/2006/main">
              <a:ext uri="{FF2B5EF4-FFF2-40B4-BE49-F238E27FC236}">
                <a16:creationId xmlns:a16="http://schemas.microsoft.com/office/drawing/2014/main" id="{677378E7-D262-4E81-8FDD-9069144D957B}"/>
              </a:ext>
            </a:extLst>
          </p:cNvPr>
          <p:cNvSpPr>
            <a:spLocks xmlns:a="http://schemas.openxmlformats.org/drawingml/2006/main" noGrp="1"/>
          </p:cNvSpPr>
          <p:nvPr/>
        </p:nvSpPr>
        <p:spPr>
          <a:xfrm xmlns:a="http://schemas.openxmlformats.org/drawingml/2006/main">
            <a:off x="704850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0" name="">
            <a:extLst xmlns:a="http://schemas.openxmlformats.org/drawingml/2006/main">
              <a:ext uri="{FF2B5EF4-FFF2-40B4-BE49-F238E27FC236}">
                <a16:creationId xmlns:a16="http://schemas.microsoft.com/office/drawing/2014/main" id="{20CACBAD-9166-45D8-9EBC-94E332656E17}"/>
              </a:ext>
            </a:extLst>
          </p:cNvPr>
          <p:cNvSpPr>
            <a:spLocks xmlns:a="http://schemas.openxmlformats.org/drawingml/2006/main" noGrp="1"/>
          </p:cNvSpPr>
          <p:nvPr/>
        </p:nvSpPr>
        <p:spPr>
          <a:xfrm xmlns:a="http://schemas.openxmlformats.org/drawingml/2006/main">
            <a:off x="752475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1" name="">
            <a:extLst xmlns:a="http://schemas.openxmlformats.org/drawingml/2006/main">
              <a:ext uri="{FF2B5EF4-FFF2-40B4-BE49-F238E27FC236}">
                <a16:creationId xmlns:a16="http://schemas.microsoft.com/office/drawing/2014/main" id="{6E3B6E7E-7BCE-430F-9CCE-A79712C30129}"/>
              </a:ext>
            </a:extLst>
          </p:cNvPr>
          <p:cNvSpPr>
            <a:spLocks xmlns:a="http://schemas.openxmlformats.org/drawingml/2006/main" noGrp="1"/>
          </p:cNvSpPr>
          <p:nvPr/>
        </p:nvSpPr>
        <p:spPr>
          <a:xfrm xmlns:a="http://schemas.openxmlformats.org/drawingml/2006/main">
            <a:off x="800100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2" name="">
            <a:extLst xmlns:a="http://schemas.openxmlformats.org/drawingml/2006/main">
              <a:ext uri="{FF2B5EF4-FFF2-40B4-BE49-F238E27FC236}">
                <a16:creationId xmlns:a16="http://schemas.microsoft.com/office/drawing/2014/main" id="{AD51E5CE-1CBC-4B65-8F22-F4210296D76A}"/>
              </a:ext>
            </a:extLst>
          </p:cNvPr>
          <p:cNvSpPr>
            <a:spLocks xmlns:a="http://schemas.openxmlformats.org/drawingml/2006/main" noGrp="1"/>
          </p:cNvSpPr>
          <p:nvPr/>
        </p:nvSpPr>
        <p:spPr>
          <a:xfrm xmlns:a="http://schemas.openxmlformats.org/drawingml/2006/main">
            <a:off x="847725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3" name="">
            <a:extLst xmlns:a="http://schemas.openxmlformats.org/drawingml/2006/main">
              <a:ext uri="{FF2B5EF4-FFF2-40B4-BE49-F238E27FC236}">
                <a16:creationId xmlns:a16="http://schemas.microsoft.com/office/drawing/2014/main" id="{D4F8A938-177B-4263-9CC6-FF8604B65C32}"/>
              </a:ext>
            </a:extLst>
          </p:cNvPr>
          <p:cNvSpPr>
            <a:spLocks xmlns:a="http://schemas.openxmlformats.org/drawingml/2006/main" noGrp="1"/>
          </p:cNvSpPr>
          <p:nvPr/>
        </p:nvSpPr>
        <p:spPr>
          <a:xfrm xmlns:a="http://schemas.openxmlformats.org/drawingml/2006/main">
            <a:off x="895350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4" name="">
            <a:extLst xmlns:a="http://schemas.openxmlformats.org/drawingml/2006/main">
              <a:ext uri="{FF2B5EF4-FFF2-40B4-BE49-F238E27FC236}">
                <a16:creationId xmlns:a16="http://schemas.microsoft.com/office/drawing/2014/main" id="{1D69B066-99D0-4E1D-8AAF-00B4AABAB760}"/>
              </a:ext>
            </a:extLst>
          </p:cNvPr>
          <p:cNvSpPr>
            <a:spLocks xmlns:a="http://schemas.openxmlformats.org/drawingml/2006/main" noGrp="1"/>
          </p:cNvSpPr>
          <p:nvPr/>
        </p:nvSpPr>
        <p:spPr>
          <a:xfrm xmlns:a="http://schemas.openxmlformats.org/drawingml/2006/main">
            <a:off x="942975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5" name="">
            <a:extLst xmlns:a="http://schemas.openxmlformats.org/drawingml/2006/main">
              <a:ext uri="{FF2B5EF4-FFF2-40B4-BE49-F238E27FC236}">
                <a16:creationId xmlns:a16="http://schemas.microsoft.com/office/drawing/2014/main" id="{940BE776-0A3E-48E3-84A0-050D4E7BE186}"/>
              </a:ext>
            </a:extLst>
          </p:cNvPr>
          <p:cNvSpPr>
            <a:spLocks xmlns:a="http://schemas.openxmlformats.org/drawingml/2006/main" noGrp="1"/>
          </p:cNvSpPr>
          <p:nvPr/>
        </p:nvSpPr>
        <p:spPr>
          <a:xfrm xmlns:a="http://schemas.openxmlformats.org/drawingml/2006/main">
            <a:off x="9906000" y="3200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6" name="">
            <a:extLst xmlns:a="http://schemas.openxmlformats.org/drawingml/2006/main">
              <a:ext uri="{FF2B5EF4-FFF2-40B4-BE49-F238E27FC236}">
                <a16:creationId xmlns:a16="http://schemas.microsoft.com/office/drawing/2014/main" id="{24B57F97-F13E-4978-A37E-33E7A0C6B67C}"/>
              </a:ext>
            </a:extLst>
          </p:cNvPr>
          <p:cNvSpPr>
            <a:spLocks xmlns:a="http://schemas.openxmlformats.org/drawingml/2006/main" noGrp="1"/>
          </p:cNvSpPr>
          <p:nvPr/>
        </p:nvSpPr>
        <p:spPr>
          <a:xfrm xmlns:a="http://schemas.openxmlformats.org/drawingml/2006/main">
            <a:off x="7048500" y="36766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7" name="">
            <a:extLst xmlns:a="http://schemas.openxmlformats.org/drawingml/2006/main">
              <a:ext uri="{FF2B5EF4-FFF2-40B4-BE49-F238E27FC236}">
                <a16:creationId xmlns:a16="http://schemas.microsoft.com/office/drawing/2014/main" id="{73692C00-8882-4F4C-9DBB-DFCA1597A977}"/>
              </a:ext>
            </a:extLst>
          </p:cNvPr>
          <p:cNvSpPr>
            <a:spLocks xmlns:a="http://schemas.openxmlformats.org/drawingml/2006/main" noGrp="1"/>
          </p:cNvSpPr>
          <p:nvPr/>
        </p:nvSpPr>
        <p:spPr>
          <a:xfrm xmlns:a="http://schemas.openxmlformats.org/drawingml/2006/main">
            <a:off x="7524750" y="36766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68" name="">
            <a:extLst xmlns:a="http://schemas.openxmlformats.org/drawingml/2006/main">
              <a:ext uri="{FF2B5EF4-FFF2-40B4-BE49-F238E27FC236}">
                <a16:creationId xmlns:a16="http://schemas.microsoft.com/office/drawing/2014/main" id="{7E7C0E6E-C689-4DFC-91EF-86E7BDEF8309}"/>
              </a:ext>
            </a:extLst>
          </p:cNvPr>
          <p:cNvSpPr>
            <a:spLocks xmlns:a="http://schemas.openxmlformats.org/drawingml/2006/main" noGrp="1"/>
          </p:cNvSpPr>
          <p:nvPr/>
        </p:nvSpPr>
        <p:spPr>
          <a:xfrm xmlns:a="http://schemas.openxmlformats.org/drawingml/2006/main">
            <a:off x="8001000" y="367665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69" name="">
            <a:extLst xmlns:a="http://schemas.openxmlformats.org/drawingml/2006/main">
              <a:ext uri="{FF2B5EF4-FFF2-40B4-BE49-F238E27FC236}">
                <a16:creationId xmlns:a16="http://schemas.microsoft.com/office/drawing/2014/main" id="{83E3E384-0ADB-466E-868E-B9EF2835CA9E}"/>
              </a:ext>
            </a:extLst>
          </p:cNvPr>
          <p:cNvSpPr>
            <a:spLocks xmlns:a="http://schemas.openxmlformats.org/drawingml/2006/main" noGrp="1"/>
          </p:cNvSpPr>
          <p:nvPr/>
        </p:nvSpPr>
        <p:spPr>
          <a:xfrm xmlns:a="http://schemas.openxmlformats.org/drawingml/2006/main">
            <a:off x="8477250" y="367665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70" name="">
            <a:extLst xmlns:a="http://schemas.openxmlformats.org/drawingml/2006/main">
              <a:ext uri="{FF2B5EF4-FFF2-40B4-BE49-F238E27FC236}">
                <a16:creationId xmlns:a16="http://schemas.microsoft.com/office/drawing/2014/main" id="{4AA8A9CD-AD8B-423A-A9BD-8674516BEBC8}"/>
              </a:ext>
            </a:extLst>
          </p:cNvPr>
          <p:cNvSpPr>
            <a:spLocks xmlns:a="http://schemas.openxmlformats.org/drawingml/2006/main" noGrp="1"/>
          </p:cNvSpPr>
          <p:nvPr/>
        </p:nvSpPr>
        <p:spPr>
          <a:xfrm xmlns:a="http://schemas.openxmlformats.org/drawingml/2006/main">
            <a:off x="8953500" y="367665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71" name="">
            <a:extLst xmlns:a="http://schemas.openxmlformats.org/drawingml/2006/main">
              <a:ext uri="{FF2B5EF4-FFF2-40B4-BE49-F238E27FC236}">
                <a16:creationId xmlns:a16="http://schemas.microsoft.com/office/drawing/2014/main" id="{7FAA35AF-0C9B-46E4-861B-D94F4E000C03}"/>
              </a:ext>
            </a:extLst>
          </p:cNvPr>
          <p:cNvSpPr>
            <a:spLocks xmlns:a="http://schemas.openxmlformats.org/drawingml/2006/main" noGrp="1"/>
          </p:cNvSpPr>
          <p:nvPr/>
        </p:nvSpPr>
        <p:spPr>
          <a:xfrm xmlns:a="http://schemas.openxmlformats.org/drawingml/2006/main">
            <a:off x="9429750" y="36766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2" name="">
            <a:extLst xmlns:a="http://schemas.openxmlformats.org/drawingml/2006/main">
              <a:ext uri="{FF2B5EF4-FFF2-40B4-BE49-F238E27FC236}">
                <a16:creationId xmlns:a16="http://schemas.microsoft.com/office/drawing/2014/main" id="{6FCC12AA-7227-4959-8EAA-39648B3A9BF6}"/>
              </a:ext>
            </a:extLst>
          </p:cNvPr>
          <p:cNvSpPr>
            <a:spLocks xmlns:a="http://schemas.openxmlformats.org/drawingml/2006/main" noGrp="1"/>
          </p:cNvSpPr>
          <p:nvPr/>
        </p:nvSpPr>
        <p:spPr>
          <a:xfrm xmlns:a="http://schemas.openxmlformats.org/drawingml/2006/main">
            <a:off x="9906000" y="36766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3" name="">
            <a:extLst xmlns:a="http://schemas.openxmlformats.org/drawingml/2006/main">
              <a:ext uri="{FF2B5EF4-FFF2-40B4-BE49-F238E27FC236}">
                <a16:creationId xmlns:a16="http://schemas.microsoft.com/office/drawing/2014/main" id="{73D89608-4794-4BB8-9751-E3C5A0F512C4}"/>
              </a:ext>
            </a:extLst>
          </p:cNvPr>
          <p:cNvSpPr>
            <a:spLocks xmlns:a="http://schemas.openxmlformats.org/drawingml/2006/main" noGrp="1"/>
          </p:cNvSpPr>
          <p:nvPr/>
        </p:nvSpPr>
        <p:spPr>
          <a:xfrm xmlns:a="http://schemas.openxmlformats.org/drawingml/2006/main">
            <a:off x="7048500" y="41529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4" name="">
            <a:extLst xmlns:a="http://schemas.openxmlformats.org/drawingml/2006/main">
              <a:ext uri="{FF2B5EF4-FFF2-40B4-BE49-F238E27FC236}">
                <a16:creationId xmlns:a16="http://schemas.microsoft.com/office/drawing/2014/main" id="{2DE583BD-F499-4927-B550-C84F8BEC002B}"/>
              </a:ext>
            </a:extLst>
          </p:cNvPr>
          <p:cNvSpPr>
            <a:spLocks xmlns:a="http://schemas.openxmlformats.org/drawingml/2006/main" noGrp="1"/>
          </p:cNvSpPr>
          <p:nvPr/>
        </p:nvSpPr>
        <p:spPr>
          <a:xfrm xmlns:a="http://schemas.openxmlformats.org/drawingml/2006/main">
            <a:off x="7524750" y="41529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5" name="">
            <a:extLst xmlns:a="http://schemas.openxmlformats.org/drawingml/2006/main">
              <a:ext uri="{FF2B5EF4-FFF2-40B4-BE49-F238E27FC236}">
                <a16:creationId xmlns:a16="http://schemas.microsoft.com/office/drawing/2014/main" id="{4E149FB1-0F78-4761-B21A-9BCE8A60B524}"/>
              </a:ext>
            </a:extLst>
          </p:cNvPr>
          <p:cNvSpPr>
            <a:spLocks xmlns:a="http://schemas.openxmlformats.org/drawingml/2006/main" noGrp="1"/>
          </p:cNvSpPr>
          <p:nvPr/>
        </p:nvSpPr>
        <p:spPr>
          <a:xfrm xmlns:a="http://schemas.openxmlformats.org/drawingml/2006/main">
            <a:off x="8001000" y="415290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76" name="">
            <a:extLst xmlns:a="http://schemas.openxmlformats.org/drawingml/2006/main">
              <a:ext uri="{FF2B5EF4-FFF2-40B4-BE49-F238E27FC236}">
                <a16:creationId xmlns:a16="http://schemas.microsoft.com/office/drawing/2014/main" id="{CD97950D-F70A-4054-8317-2E0E45757326}"/>
              </a:ext>
            </a:extLst>
          </p:cNvPr>
          <p:cNvSpPr>
            <a:spLocks xmlns:a="http://schemas.openxmlformats.org/drawingml/2006/main" noGrp="1"/>
          </p:cNvSpPr>
          <p:nvPr/>
        </p:nvSpPr>
        <p:spPr>
          <a:xfrm xmlns:a="http://schemas.openxmlformats.org/drawingml/2006/main">
            <a:off x="8477250" y="415290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77" name="">
            <a:extLst xmlns:a="http://schemas.openxmlformats.org/drawingml/2006/main">
              <a:ext uri="{FF2B5EF4-FFF2-40B4-BE49-F238E27FC236}">
                <a16:creationId xmlns:a16="http://schemas.microsoft.com/office/drawing/2014/main" id="{7DA11833-BC97-440C-9866-3933AE909BD8}"/>
              </a:ext>
            </a:extLst>
          </p:cNvPr>
          <p:cNvSpPr>
            <a:spLocks xmlns:a="http://schemas.openxmlformats.org/drawingml/2006/main" noGrp="1"/>
          </p:cNvSpPr>
          <p:nvPr/>
        </p:nvSpPr>
        <p:spPr>
          <a:xfrm xmlns:a="http://schemas.openxmlformats.org/drawingml/2006/main">
            <a:off x="8953500" y="415290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78" name="">
            <a:extLst xmlns:a="http://schemas.openxmlformats.org/drawingml/2006/main">
              <a:ext uri="{FF2B5EF4-FFF2-40B4-BE49-F238E27FC236}">
                <a16:creationId xmlns:a16="http://schemas.microsoft.com/office/drawing/2014/main" id="{DE72DAAF-AADE-45A5-95B7-71BA731B66A8}"/>
              </a:ext>
            </a:extLst>
          </p:cNvPr>
          <p:cNvSpPr>
            <a:spLocks xmlns:a="http://schemas.openxmlformats.org/drawingml/2006/main" noGrp="1"/>
          </p:cNvSpPr>
          <p:nvPr/>
        </p:nvSpPr>
        <p:spPr>
          <a:xfrm xmlns:a="http://schemas.openxmlformats.org/drawingml/2006/main">
            <a:off x="9429750" y="41529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9" name="">
            <a:extLst xmlns:a="http://schemas.openxmlformats.org/drawingml/2006/main">
              <a:ext uri="{FF2B5EF4-FFF2-40B4-BE49-F238E27FC236}">
                <a16:creationId xmlns:a16="http://schemas.microsoft.com/office/drawing/2014/main" id="{C01CBE21-A98F-4365-8257-B326DE9FC1C2}"/>
              </a:ext>
            </a:extLst>
          </p:cNvPr>
          <p:cNvSpPr>
            <a:spLocks xmlns:a="http://schemas.openxmlformats.org/drawingml/2006/main" noGrp="1"/>
          </p:cNvSpPr>
          <p:nvPr/>
        </p:nvSpPr>
        <p:spPr>
          <a:xfrm xmlns:a="http://schemas.openxmlformats.org/drawingml/2006/main">
            <a:off x="9906000" y="41529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0" name="">
            <a:extLst xmlns:a="http://schemas.openxmlformats.org/drawingml/2006/main">
              <a:ext uri="{FF2B5EF4-FFF2-40B4-BE49-F238E27FC236}">
                <a16:creationId xmlns:a16="http://schemas.microsoft.com/office/drawing/2014/main" id="{7B09A1D1-A893-494C-8DCB-F5DEB3204B2F}"/>
              </a:ext>
            </a:extLst>
          </p:cNvPr>
          <p:cNvSpPr>
            <a:spLocks xmlns:a="http://schemas.openxmlformats.org/drawingml/2006/main" noGrp="1"/>
          </p:cNvSpPr>
          <p:nvPr/>
        </p:nvSpPr>
        <p:spPr>
          <a:xfrm xmlns:a="http://schemas.openxmlformats.org/drawingml/2006/main">
            <a:off x="7048500" y="46291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1" name="">
            <a:extLst xmlns:a="http://schemas.openxmlformats.org/drawingml/2006/main">
              <a:ext uri="{FF2B5EF4-FFF2-40B4-BE49-F238E27FC236}">
                <a16:creationId xmlns:a16="http://schemas.microsoft.com/office/drawing/2014/main" id="{67816C71-32CC-4E16-BF65-400938A3D260}"/>
              </a:ext>
            </a:extLst>
          </p:cNvPr>
          <p:cNvSpPr>
            <a:spLocks xmlns:a="http://schemas.openxmlformats.org/drawingml/2006/main" noGrp="1"/>
          </p:cNvSpPr>
          <p:nvPr/>
        </p:nvSpPr>
        <p:spPr>
          <a:xfrm xmlns:a="http://schemas.openxmlformats.org/drawingml/2006/main">
            <a:off x="7524750" y="46291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2" name="">
            <a:extLst xmlns:a="http://schemas.openxmlformats.org/drawingml/2006/main">
              <a:ext uri="{FF2B5EF4-FFF2-40B4-BE49-F238E27FC236}">
                <a16:creationId xmlns:a16="http://schemas.microsoft.com/office/drawing/2014/main" id="{3F97E001-F337-4D01-AE09-97BA061C00CE}"/>
              </a:ext>
            </a:extLst>
          </p:cNvPr>
          <p:cNvSpPr>
            <a:spLocks xmlns:a="http://schemas.openxmlformats.org/drawingml/2006/main" noGrp="1"/>
          </p:cNvSpPr>
          <p:nvPr/>
        </p:nvSpPr>
        <p:spPr>
          <a:xfrm xmlns:a="http://schemas.openxmlformats.org/drawingml/2006/main">
            <a:off x="8001000" y="462915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83" name="">
            <a:extLst xmlns:a="http://schemas.openxmlformats.org/drawingml/2006/main">
              <a:ext uri="{FF2B5EF4-FFF2-40B4-BE49-F238E27FC236}">
                <a16:creationId xmlns:a16="http://schemas.microsoft.com/office/drawing/2014/main" id="{32DACEC3-AE3F-479F-B785-31FB8D6AC4CA}"/>
              </a:ext>
            </a:extLst>
          </p:cNvPr>
          <p:cNvSpPr>
            <a:spLocks xmlns:a="http://schemas.openxmlformats.org/drawingml/2006/main" noGrp="1"/>
          </p:cNvSpPr>
          <p:nvPr/>
        </p:nvSpPr>
        <p:spPr>
          <a:xfrm xmlns:a="http://schemas.openxmlformats.org/drawingml/2006/main">
            <a:off x="8477250" y="462915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84" name="">
            <a:extLst xmlns:a="http://schemas.openxmlformats.org/drawingml/2006/main">
              <a:ext uri="{FF2B5EF4-FFF2-40B4-BE49-F238E27FC236}">
                <a16:creationId xmlns:a16="http://schemas.microsoft.com/office/drawing/2014/main" id="{F24D8EA2-0289-4EB7-8F7B-7D0C2E3DF565}"/>
              </a:ext>
            </a:extLst>
          </p:cNvPr>
          <p:cNvSpPr>
            <a:spLocks xmlns:a="http://schemas.openxmlformats.org/drawingml/2006/main" noGrp="1"/>
          </p:cNvSpPr>
          <p:nvPr/>
        </p:nvSpPr>
        <p:spPr>
          <a:xfrm xmlns:a="http://schemas.openxmlformats.org/drawingml/2006/main">
            <a:off x="8953500" y="4629150"/>
            <a:ext cx="476250" cy="476250"/>
          </a:xfrm>
          <a:prstGeom xmlns:a="http://schemas.openxmlformats.org/drawingml/2006/main" prst="rect">
            <a:avLst/>
          </a:prstGeom>
          <a:solidFill xmlns:a="http://schemas.openxmlformats.org/drawingml/2006/main">
            <a:srgbClr val="CDEAF7"/>
          </a:solidFill>
          <a:ln xmlns:a="http://schemas.openxmlformats.org/drawingml/2006/main" w="9525">
            <a:solidFill>
              <a:srgbClr val="B8BCC4"/>
            </a:solidFill>
            <a:prstDash val="solid"/>
          </a:ln>
        </p:spPr>
      </p:sp>
      <p:sp>
        <p:nvSpPr>
          <p:cNvPr id="85" name="">
            <a:extLst xmlns:a="http://schemas.openxmlformats.org/drawingml/2006/main">
              <a:ext uri="{FF2B5EF4-FFF2-40B4-BE49-F238E27FC236}">
                <a16:creationId xmlns:a16="http://schemas.microsoft.com/office/drawing/2014/main" id="{8E458405-5481-4EAB-B2A8-B6B73BB467E6}"/>
              </a:ext>
            </a:extLst>
          </p:cNvPr>
          <p:cNvSpPr>
            <a:spLocks xmlns:a="http://schemas.openxmlformats.org/drawingml/2006/main" noGrp="1"/>
          </p:cNvSpPr>
          <p:nvPr/>
        </p:nvSpPr>
        <p:spPr>
          <a:xfrm xmlns:a="http://schemas.openxmlformats.org/drawingml/2006/main">
            <a:off x="9429750" y="46291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6" name="">
            <a:extLst xmlns:a="http://schemas.openxmlformats.org/drawingml/2006/main">
              <a:ext uri="{FF2B5EF4-FFF2-40B4-BE49-F238E27FC236}">
                <a16:creationId xmlns:a16="http://schemas.microsoft.com/office/drawing/2014/main" id="{79CA7B50-91A8-4B6F-B0AD-A2A3E371E393}"/>
              </a:ext>
            </a:extLst>
          </p:cNvPr>
          <p:cNvSpPr>
            <a:spLocks xmlns:a="http://schemas.openxmlformats.org/drawingml/2006/main" noGrp="1"/>
          </p:cNvSpPr>
          <p:nvPr/>
        </p:nvSpPr>
        <p:spPr>
          <a:xfrm xmlns:a="http://schemas.openxmlformats.org/drawingml/2006/main">
            <a:off x="9906000" y="462915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7" name="">
            <a:extLst xmlns:a="http://schemas.openxmlformats.org/drawingml/2006/main">
              <a:ext uri="{FF2B5EF4-FFF2-40B4-BE49-F238E27FC236}">
                <a16:creationId xmlns:a16="http://schemas.microsoft.com/office/drawing/2014/main" id="{FCE4D803-C3BE-467C-879C-1683DE45B3E0}"/>
              </a:ext>
            </a:extLst>
          </p:cNvPr>
          <p:cNvSpPr>
            <a:spLocks xmlns:a="http://schemas.openxmlformats.org/drawingml/2006/main" noGrp="1"/>
          </p:cNvSpPr>
          <p:nvPr/>
        </p:nvSpPr>
        <p:spPr>
          <a:xfrm xmlns:a="http://schemas.openxmlformats.org/drawingml/2006/main">
            <a:off x="704850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8" name="">
            <a:extLst xmlns:a="http://schemas.openxmlformats.org/drawingml/2006/main">
              <a:ext uri="{FF2B5EF4-FFF2-40B4-BE49-F238E27FC236}">
                <a16:creationId xmlns:a16="http://schemas.microsoft.com/office/drawing/2014/main" id="{BA11E2D5-196A-4CE7-A9B6-D72ECAB65728}"/>
              </a:ext>
            </a:extLst>
          </p:cNvPr>
          <p:cNvSpPr>
            <a:spLocks xmlns:a="http://schemas.openxmlformats.org/drawingml/2006/main" noGrp="1"/>
          </p:cNvSpPr>
          <p:nvPr/>
        </p:nvSpPr>
        <p:spPr>
          <a:xfrm xmlns:a="http://schemas.openxmlformats.org/drawingml/2006/main">
            <a:off x="752475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89" name="">
            <a:extLst xmlns:a="http://schemas.openxmlformats.org/drawingml/2006/main">
              <a:ext uri="{FF2B5EF4-FFF2-40B4-BE49-F238E27FC236}">
                <a16:creationId xmlns:a16="http://schemas.microsoft.com/office/drawing/2014/main" id="{D74E861E-5503-4167-8400-684B1372FB71}"/>
              </a:ext>
            </a:extLst>
          </p:cNvPr>
          <p:cNvSpPr>
            <a:spLocks xmlns:a="http://schemas.openxmlformats.org/drawingml/2006/main" noGrp="1"/>
          </p:cNvSpPr>
          <p:nvPr/>
        </p:nvSpPr>
        <p:spPr>
          <a:xfrm xmlns:a="http://schemas.openxmlformats.org/drawingml/2006/main">
            <a:off x="800100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90" name="">
            <a:extLst xmlns:a="http://schemas.openxmlformats.org/drawingml/2006/main">
              <a:ext uri="{FF2B5EF4-FFF2-40B4-BE49-F238E27FC236}">
                <a16:creationId xmlns:a16="http://schemas.microsoft.com/office/drawing/2014/main" id="{1747A33D-65FC-41F5-8E4D-9269B538C24F}"/>
              </a:ext>
            </a:extLst>
          </p:cNvPr>
          <p:cNvSpPr>
            <a:spLocks xmlns:a="http://schemas.openxmlformats.org/drawingml/2006/main" noGrp="1"/>
          </p:cNvSpPr>
          <p:nvPr/>
        </p:nvSpPr>
        <p:spPr>
          <a:xfrm xmlns:a="http://schemas.openxmlformats.org/drawingml/2006/main">
            <a:off x="847725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91" name="">
            <a:extLst xmlns:a="http://schemas.openxmlformats.org/drawingml/2006/main">
              <a:ext uri="{FF2B5EF4-FFF2-40B4-BE49-F238E27FC236}">
                <a16:creationId xmlns:a16="http://schemas.microsoft.com/office/drawing/2014/main" id="{7F4CC0FF-F130-4B39-B229-B1A5E562B3A9}"/>
              </a:ext>
            </a:extLst>
          </p:cNvPr>
          <p:cNvSpPr>
            <a:spLocks xmlns:a="http://schemas.openxmlformats.org/drawingml/2006/main" noGrp="1"/>
          </p:cNvSpPr>
          <p:nvPr/>
        </p:nvSpPr>
        <p:spPr>
          <a:xfrm xmlns:a="http://schemas.openxmlformats.org/drawingml/2006/main">
            <a:off x="895350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92" name="">
            <a:extLst xmlns:a="http://schemas.openxmlformats.org/drawingml/2006/main">
              <a:ext uri="{FF2B5EF4-FFF2-40B4-BE49-F238E27FC236}">
                <a16:creationId xmlns:a16="http://schemas.microsoft.com/office/drawing/2014/main" id="{E73B9ADC-375E-462D-83A6-4265E6813C49}"/>
              </a:ext>
            </a:extLst>
          </p:cNvPr>
          <p:cNvSpPr>
            <a:spLocks xmlns:a="http://schemas.openxmlformats.org/drawingml/2006/main" noGrp="1"/>
          </p:cNvSpPr>
          <p:nvPr/>
        </p:nvSpPr>
        <p:spPr>
          <a:xfrm xmlns:a="http://schemas.openxmlformats.org/drawingml/2006/main">
            <a:off x="942975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93" name="">
            <a:extLst xmlns:a="http://schemas.openxmlformats.org/drawingml/2006/main">
              <a:ext uri="{FF2B5EF4-FFF2-40B4-BE49-F238E27FC236}">
                <a16:creationId xmlns:a16="http://schemas.microsoft.com/office/drawing/2014/main" id="{4E6BB1C5-9B0B-4009-A34E-42826D4A10BC}"/>
              </a:ext>
            </a:extLst>
          </p:cNvPr>
          <p:cNvSpPr>
            <a:spLocks xmlns:a="http://schemas.openxmlformats.org/drawingml/2006/main" noGrp="1"/>
          </p:cNvSpPr>
          <p:nvPr/>
        </p:nvSpPr>
        <p:spPr>
          <a:xfrm xmlns:a="http://schemas.openxmlformats.org/drawingml/2006/main">
            <a:off x="9906000" y="5105400"/>
            <a:ext cx="476250" cy="47625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94" name="">
            <a:extLst xmlns:a="http://schemas.openxmlformats.org/drawingml/2006/main">
              <a:ext uri="{FF2B5EF4-FFF2-40B4-BE49-F238E27FC236}">
                <a16:creationId xmlns:a16="http://schemas.microsoft.com/office/drawing/2014/main" id="{21866F09-5F45-4ADF-B912-2A2ED0585EC2}"/>
              </a:ext>
            </a:extLst>
          </p:cNvPr>
          <p:cNvSpPr>
            <a:spLocks xmlns:a="http://schemas.openxmlformats.org/drawingml/2006/main" noGrp="1"/>
          </p:cNvSpPr>
          <p:nvPr/>
        </p:nvSpPr>
        <p:spPr>
          <a:xfrm xmlns:a="http://schemas.openxmlformats.org/drawingml/2006/main">
            <a:off x="8591550" y="4267200"/>
            <a:ext cx="247650" cy="247650"/>
          </a:xfrm>
          <a:prstGeom xmlns:a="http://schemas.openxmlformats.org/drawingml/2006/main" prst="ellipse">
            <a:avLst/>
          </a:prstGeom>
          <a:solidFill xmlns:a="http://schemas.openxmlformats.org/drawingml/2006/main">
            <a:srgbClr val="F57748"/>
          </a:solidFill>
          <a:ln xmlns:a="http://schemas.openxmlformats.org/drawingml/2006/main" w="14288">
            <a:solidFill>
              <a:srgbClr val="8E4B31"/>
            </a:solidFill>
            <a:prstDash val="solid"/>
          </a:ln>
        </p:spPr>
      </p:sp>
      <p:sp>
        <p:nvSpPr>
          <p:cNvPr id="95" name="">
            <a:extLst xmlns:a="http://schemas.openxmlformats.org/drawingml/2006/main">
              <a:ext uri="{FF2B5EF4-FFF2-40B4-BE49-F238E27FC236}">
                <a16:creationId xmlns:a16="http://schemas.microsoft.com/office/drawing/2014/main" id="{EC27E6F9-8CDC-4565-B376-8FAAE3426946}"/>
              </a:ext>
            </a:extLst>
          </p:cNvPr>
          <p:cNvSpPr>
            <a:spLocks xmlns:a="http://schemas.openxmlformats.org/drawingml/2006/main" noGrp="1"/>
          </p:cNvSpPr>
          <p:nvPr/>
        </p:nvSpPr>
        <p:spPr>
          <a:xfrm xmlns:a="http://schemas.openxmlformats.org/drawingml/2006/main">
            <a:off x="7086600" y="5695950"/>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425" b="1" i="0">
                <a:solidFill>
                  <a:srgbClr val="12364A"/>
                </a:solidFill>
                <a:latin typeface="Helvetica Neue"/>
                <a:ea typeface="Helvetica Neue"/>
                <a:cs typeface="Helvetica Neue"/>
              </a:defRPr>
            </a:pPr>
            <a:r>
              <a:rPr sz="1425" b="1" i="0">
                <a:solidFill>
                  <a:srgbClr val="12364A"/>
                </a:solidFill>
                <a:latin typeface="Helvetica Neue"/>
                <a:ea typeface="Helvetica Neue"/>
                <a:cs typeface="Helvetica Neue"/>
              </a:rPr>
              <a:t>Candidate neighbors are local.</a:t>
            </a:r>
          </a:p>
        </p:txBody>
      </p:sp>
    </p:spTree>
    <p:extLst>
      <p:ext uri="{BB962C8B-B14F-4D97-AF65-F5344CB8AC3E}">
        <p14:creationId xmlns:p14="http://schemas.microsoft.com/office/powerpoint/2010/main" val="1972705881"/>
      </p:ext>
    </p:extLst>
  </p:cSld>
</p:sld>
</file>

<file path=ppt/slides/slide12.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CB2E4B2-A8A6-44A9-8A79-A23676ABCDD6}"/>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B9C8D1"/>
                </a:solidFill>
                <a:latin typeface="Helvetica Neue"/>
                <a:ea typeface="Helvetica Neue"/>
                <a:cs typeface="Helvetica Neue"/>
              </a:defRPr>
            </a:pPr>
            <a:r>
              <a:rPr sz="1050" b="1" i="0">
                <a:solidFill>
                  <a:srgbClr val="B9C8D1"/>
                </a:solidFill>
                <a:latin typeface="Helvetica Neue"/>
                <a:ea typeface="Helvetica Neue"/>
                <a:cs typeface="Helvetica Neue"/>
              </a:rPr>
              <a:t>INELASTIC COLLAPSE</a:t>
            </a:r>
          </a:p>
        </p:txBody>
      </p:sp>
      <p:sp>
        <p:nvSpPr>
          <p:cNvPr id="2" name="">
            <a:extLst xmlns:a="http://schemas.openxmlformats.org/drawingml/2006/main">
              <a:ext uri="{FF2B5EF4-FFF2-40B4-BE49-F238E27FC236}">
                <a16:creationId xmlns:a16="http://schemas.microsoft.com/office/drawing/2014/main" id="{1E9DCDB5-BFA4-4B6A-BADC-EB760E668F55}"/>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Inelasticity creates a numerical catastrophe.</a:t>
            </a:r>
          </a:p>
        </p:txBody>
      </p:sp>
      <p:sp>
        <p:nvSpPr>
          <p:cNvPr id="3" name="">
            <a:extLst xmlns:a="http://schemas.openxmlformats.org/drawingml/2006/main">
              <a:ext uri="{FF2B5EF4-FFF2-40B4-BE49-F238E27FC236}">
                <a16:creationId xmlns:a16="http://schemas.microsoft.com/office/drawing/2014/main" id="{7B16B98E-AC37-401E-BB7C-A6D4A08C6C2C}"/>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B9C8D1"/>
                </a:solidFill>
                <a:latin typeface="Helvetica Neue"/>
                <a:ea typeface="Helvetica Neue"/>
                <a:cs typeface="Helvetica Neue"/>
              </a:defRPr>
            </a:pPr>
            <a:r>
              <a:rPr sz="1125" b="0" i="0">
                <a:solidFill>
                  <a:srgbClr val="B9C8D1"/>
                </a:solidFill>
                <a:latin typeface="Helvetica Neue"/>
                <a:ea typeface="Helvetica Neue"/>
                <a:cs typeface="Helvetica Neue"/>
              </a:rPr>
              <a:t>12</a:t>
            </a:r>
          </a:p>
        </p:txBody>
      </p:sp>
      <p:sp>
        <p:nvSpPr>
          <p:cNvPr id="4" name="">
            <a:extLst xmlns:a="http://schemas.openxmlformats.org/drawingml/2006/main">
              <a:ext uri="{FF2B5EF4-FFF2-40B4-BE49-F238E27FC236}">
                <a16:creationId xmlns:a16="http://schemas.microsoft.com/office/drawing/2014/main" id="{40505A70-0CCF-4B4F-A98A-89AFC75D6EDD}"/>
              </a:ext>
            </a:extLst>
          </p:cNvPr>
          <p:cNvSpPr>
            <a:spLocks xmlns:a="http://schemas.openxmlformats.org/drawingml/2006/main" noGrp="1"/>
          </p:cNvSpPr>
          <p:nvPr/>
        </p:nvSpPr>
        <p:spPr>
          <a:xfrm xmlns:a="http://schemas.openxmlformats.org/drawingml/2006/main">
            <a:off x="438150" y="1409700"/>
            <a:ext cx="9334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950" b="0" i="0">
                <a:solidFill>
                  <a:srgbClr val="B9C8D1"/>
                </a:solidFill>
                <a:latin typeface="Helvetica Neue"/>
                <a:ea typeface="Helvetica Neue"/>
                <a:cs typeface="Helvetica Neue"/>
              </a:defRPr>
            </a:pPr>
            <a:r>
              <a:rPr sz="1950" b="0" i="0">
                <a:solidFill>
                  <a:srgbClr val="B9C8D1"/>
                </a:solidFill>
                <a:latin typeface="Helvetica Neue"/>
                <a:ea typeface="Helvetica Neue"/>
                <a:cs typeface="Helvetica Neue"/>
              </a:rPr>
              <a:t>With a constant restitution coefficient, collision intervals can shrink geometrically.</a:t>
            </a:r>
          </a:p>
        </p:txBody>
      </p:sp>
      <p:cxnSp>
        <p:nvCxnSpPr>
          <p:cNvPr id="25" name=""/>
          <p:cNvCxnSpPr/>
          <p:nvPr/>
        </p:nvCxnSpPr>
        <p:spPr>
          <a:xfrm xmlns:a="http://schemas.openxmlformats.org/drawingml/2006/main">
            <a:off x="857250" y="3524250"/>
            <a:ext cx="10287000" cy="0"/>
          </a:xfrm>
          <a:prstGeom xmlns:a="http://schemas.openxmlformats.org/drawingml/2006/main" prst="straightConnector1">
            <a:avLst/>
          </a:prstGeom>
          <a:ln xmlns:a="http://schemas.openxmlformats.org/drawingml/2006/main" w="19050">
            <a:solidFill>
              <a:srgbClr val="6B7B84"/>
            </a:solidFill>
            <a:prstDash val="solid"/>
          </a:ln>
        </p:spPr>
      </p:cxnSp>
      <p:cxnSp>
        <p:nvCxnSpPr>
          <p:cNvPr id="26" name=""/>
          <p:cNvCxnSpPr/>
          <p:nvPr/>
        </p:nvCxnSpPr>
        <p:spPr>
          <a:xfrm xmlns:a="http://schemas.openxmlformats.org/drawingml/2006/main">
            <a:off x="1619250" y="3048000"/>
            <a:ext cx="0" cy="952500"/>
          </a:xfrm>
          <a:prstGeom xmlns:a="http://schemas.openxmlformats.org/drawingml/2006/main" prst="straightConnector1">
            <a:avLst/>
          </a:prstGeom>
          <a:ln xmlns:a="http://schemas.openxmlformats.org/drawingml/2006/main" w="28575">
            <a:solidFill>
              <a:srgbClr val="6DCBF4"/>
            </a:solidFill>
            <a:prstDash val="solid"/>
          </a:ln>
        </p:spPr>
      </p:cxnSp>
      <p:cxnSp>
        <p:nvCxnSpPr>
          <p:cNvPr id="27" name=""/>
          <p:cNvCxnSpPr/>
          <p:nvPr/>
        </p:nvCxnSpPr>
        <p:spPr>
          <a:xfrm xmlns:a="http://schemas.openxmlformats.org/drawingml/2006/main">
            <a:off x="4095750" y="3048000"/>
            <a:ext cx="0" cy="952500"/>
          </a:xfrm>
          <a:prstGeom xmlns:a="http://schemas.openxmlformats.org/drawingml/2006/main" prst="straightConnector1">
            <a:avLst/>
          </a:prstGeom>
          <a:ln xmlns:a="http://schemas.openxmlformats.org/drawingml/2006/main" w="28575">
            <a:solidFill>
              <a:srgbClr val="6DCBF4"/>
            </a:solidFill>
            <a:prstDash val="solid"/>
          </a:ln>
        </p:spPr>
      </p:cxnSp>
      <p:cxnSp>
        <p:nvCxnSpPr>
          <p:cNvPr id="28" name=""/>
          <p:cNvCxnSpPr/>
          <p:nvPr/>
        </p:nvCxnSpPr>
        <p:spPr>
          <a:xfrm xmlns:a="http://schemas.openxmlformats.org/drawingml/2006/main">
            <a:off x="6191250" y="3048000"/>
            <a:ext cx="0" cy="952500"/>
          </a:xfrm>
          <a:prstGeom xmlns:a="http://schemas.openxmlformats.org/drawingml/2006/main" prst="straightConnector1">
            <a:avLst/>
          </a:prstGeom>
          <a:ln xmlns:a="http://schemas.openxmlformats.org/drawingml/2006/main" w="28575">
            <a:solidFill>
              <a:srgbClr val="6DCBF4"/>
            </a:solidFill>
            <a:prstDash val="solid"/>
          </a:ln>
        </p:spPr>
      </p:cxnSp>
      <p:cxnSp>
        <p:nvCxnSpPr>
          <p:cNvPr id="29" name=""/>
          <p:cNvCxnSpPr/>
          <p:nvPr/>
        </p:nvCxnSpPr>
        <p:spPr>
          <a:xfrm xmlns:a="http://schemas.openxmlformats.org/drawingml/2006/main">
            <a:off x="7905750" y="3048000"/>
            <a:ext cx="0" cy="952500"/>
          </a:xfrm>
          <a:prstGeom xmlns:a="http://schemas.openxmlformats.org/drawingml/2006/main" prst="straightConnector1">
            <a:avLst/>
          </a:prstGeom>
          <a:ln xmlns:a="http://schemas.openxmlformats.org/drawingml/2006/main" w="28575">
            <a:solidFill>
              <a:srgbClr val="6DCBF4"/>
            </a:solidFill>
            <a:prstDash val="solid"/>
          </a:ln>
        </p:spPr>
      </p:cxnSp>
      <p:cxnSp>
        <p:nvCxnSpPr>
          <p:cNvPr id="30" name=""/>
          <p:cNvCxnSpPr/>
          <p:nvPr/>
        </p:nvCxnSpPr>
        <p:spPr>
          <a:xfrm xmlns:a="http://schemas.openxmlformats.org/drawingml/2006/main">
            <a:off x="9191625" y="3048000"/>
            <a:ext cx="0" cy="952500"/>
          </a:xfrm>
          <a:prstGeom xmlns:a="http://schemas.openxmlformats.org/drawingml/2006/main" prst="straightConnector1">
            <a:avLst/>
          </a:prstGeom>
          <a:ln xmlns:a="http://schemas.openxmlformats.org/drawingml/2006/main" w="28575">
            <a:solidFill>
              <a:srgbClr val="6DCBF4"/>
            </a:solidFill>
            <a:prstDash val="solid"/>
          </a:ln>
        </p:spPr>
      </p:cxnSp>
      <p:cxnSp>
        <p:nvCxnSpPr>
          <p:cNvPr id="31" name=""/>
          <p:cNvCxnSpPr/>
          <p:nvPr/>
        </p:nvCxnSpPr>
        <p:spPr>
          <a:xfrm xmlns:a="http://schemas.openxmlformats.org/drawingml/2006/main">
            <a:off x="10001250" y="3048000"/>
            <a:ext cx="0" cy="952500"/>
          </a:xfrm>
          <a:prstGeom xmlns:a="http://schemas.openxmlformats.org/drawingml/2006/main" prst="straightConnector1">
            <a:avLst/>
          </a:prstGeom>
          <a:ln xmlns:a="http://schemas.openxmlformats.org/drawingml/2006/main" w="28575">
            <a:solidFill>
              <a:srgbClr val="6DCBF4"/>
            </a:solidFill>
            <a:prstDash val="solid"/>
          </a:ln>
        </p:spPr>
      </p:cxnSp>
      <p:cxnSp>
        <p:nvCxnSpPr>
          <p:cNvPr id="32" name=""/>
          <p:cNvCxnSpPr/>
          <p:nvPr/>
        </p:nvCxnSpPr>
        <p:spPr>
          <a:xfrm xmlns:a="http://schemas.openxmlformats.org/drawingml/2006/main">
            <a:off x="10525125" y="3048000"/>
            <a:ext cx="0" cy="952500"/>
          </a:xfrm>
          <a:prstGeom xmlns:a="http://schemas.openxmlformats.org/drawingml/2006/main" prst="straightConnector1">
            <a:avLst/>
          </a:prstGeom>
          <a:ln xmlns:a="http://schemas.openxmlformats.org/drawingml/2006/main" w="47625">
            <a:solidFill>
              <a:srgbClr val="F57748"/>
            </a:solidFill>
            <a:prstDash val="solid"/>
          </a:ln>
        </p:spPr>
      </p:cxnSp>
      <p:cxnSp>
        <p:nvCxnSpPr>
          <p:cNvPr id="33" name=""/>
          <p:cNvCxnSpPr/>
          <p:nvPr/>
        </p:nvCxnSpPr>
        <p:spPr>
          <a:xfrm xmlns:a="http://schemas.openxmlformats.org/drawingml/2006/main">
            <a:off x="10839450" y="3048000"/>
            <a:ext cx="0" cy="952500"/>
          </a:xfrm>
          <a:prstGeom xmlns:a="http://schemas.openxmlformats.org/drawingml/2006/main" prst="straightConnector1">
            <a:avLst/>
          </a:prstGeom>
          <a:ln xmlns:a="http://schemas.openxmlformats.org/drawingml/2006/main" w="47625">
            <a:solidFill>
              <a:srgbClr val="F57748"/>
            </a:solidFill>
            <a:prstDash val="solid"/>
          </a:ln>
        </p:spPr>
      </p:cxnSp>
      <p:cxnSp>
        <p:nvCxnSpPr>
          <p:cNvPr id="34" name=""/>
          <p:cNvCxnSpPr/>
          <p:nvPr/>
        </p:nvCxnSpPr>
        <p:spPr>
          <a:xfrm xmlns:a="http://schemas.openxmlformats.org/drawingml/2006/main">
            <a:off x="11010900" y="3048000"/>
            <a:ext cx="0" cy="952500"/>
          </a:xfrm>
          <a:prstGeom xmlns:a="http://schemas.openxmlformats.org/drawingml/2006/main" prst="straightConnector1">
            <a:avLst/>
          </a:prstGeom>
          <a:ln xmlns:a="http://schemas.openxmlformats.org/drawingml/2006/main" w="47625">
            <a:solidFill>
              <a:srgbClr val="F57748"/>
            </a:solidFill>
            <a:prstDash val="solid"/>
          </a:ln>
        </p:spPr>
      </p:cxnSp>
      <p:cxnSp>
        <p:nvCxnSpPr>
          <p:cNvPr id="35" name=""/>
          <p:cNvCxnSpPr/>
          <p:nvPr/>
        </p:nvCxnSpPr>
        <p:spPr>
          <a:xfrm xmlns:a="http://schemas.openxmlformats.org/drawingml/2006/main">
            <a:off x="11106150" y="3048000"/>
            <a:ext cx="0" cy="952500"/>
          </a:xfrm>
          <a:prstGeom xmlns:a="http://schemas.openxmlformats.org/drawingml/2006/main" prst="straightConnector1">
            <a:avLst/>
          </a:prstGeom>
          <a:ln xmlns:a="http://schemas.openxmlformats.org/drawingml/2006/main" w="47625">
            <a:solidFill>
              <a:srgbClr val="F57748"/>
            </a:solidFill>
            <a:prstDash val="solid"/>
          </a:ln>
        </p:spPr>
      </p:cxnSp>
      <p:sp>
        <p:nvSpPr>
          <p:cNvPr id="16" name="">
            <a:extLst xmlns:a="http://schemas.openxmlformats.org/drawingml/2006/main">
              <a:ext uri="{FF2B5EF4-FFF2-40B4-BE49-F238E27FC236}">
                <a16:creationId xmlns:a16="http://schemas.microsoft.com/office/drawing/2014/main" id="{15582BBD-EFFA-4365-B180-8DB48B504818}"/>
              </a:ext>
            </a:extLst>
          </p:cNvPr>
          <p:cNvSpPr>
            <a:spLocks xmlns:a="http://schemas.openxmlformats.org/drawingml/2006/main" noGrp="1"/>
          </p:cNvSpPr>
          <p:nvPr/>
        </p:nvSpPr>
        <p:spPr>
          <a:xfrm xmlns:a="http://schemas.openxmlformats.org/drawingml/2006/main">
            <a:off x="2333625" y="271462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00" b="0" i="0">
                <a:solidFill>
                  <a:srgbClr val="6DCBF4"/>
                </a:solidFill>
                <a:latin typeface="Helvetica Neue"/>
                <a:ea typeface="Helvetica Neue"/>
                <a:cs typeface="Helvetica Neue"/>
              </a:defRPr>
            </a:pPr>
            <a:r>
              <a:rPr sz="1500" b="0" i="0">
                <a:solidFill>
                  <a:srgbClr val="6DCBF4"/>
                </a:solidFill>
                <a:latin typeface="Helvetica Neue"/>
                <a:ea typeface="Helvetica Neue"/>
                <a:cs typeface="Helvetica Neue"/>
              </a:rPr>
              <a:t>Δt₁</a:t>
            </a:r>
          </a:p>
        </p:txBody>
      </p:sp>
      <p:sp>
        <p:nvSpPr>
          <p:cNvPr id="17" name="">
            <a:extLst xmlns:a="http://schemas.openxmlformats.org/drawingml/2006/main">
              <a:ext uri="{FF2B5EF4-FFF2-40B4-BE49-F238E27FC236}">
                <a16:creationId xmlns:a16="http://schemas.microsoft.com/office/drawing/2014/main" id="{17E012CF-05AA-4790-8821-C4DF5C82CD5B}"/>
              </a:ext>
            </a:extLst>
          </p:cNvPr>
          <p:cNvSpPr>
            <a:spLocks xmlns:a="http://schemas.openxmlformats.org/drawingml/2006/main" noGrp="1"/>
          </p:cNvSpPr>
          <p:nvPr/>
        </p:nvSpPr>
        <p:spPr>
          <a:xfrm xmlns:a="http://schemas.openxmlformats.org/drawingml/2006/main">
            <a:off x="4810125" y="271462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00" b="0" i="0">
                <a:solidFill>
                  <a:srgbClr val="6DCBF4"/>
                </a:solidFill>
                <a:latin typeface="Helvetica Neue"/>
                <a:ea typeface="Helvetica Neue"/>
                <a:cs typeface="Helvetica Neue"/>
              </a:defRPr>
            </a:pPr>
            <a:r>
              <a:rPr sz="1500" b="0" i="0">
                <a:solidFill>
                  <a:srgbClr val="6DCBF4"/>
                </a:solidFill>
                <a:latin typeface="Helvetica Neue"/>
                <a:ea typeface="Helvetica Neue"/>
                <a:cs typeface="Helvetica Neue"/>
              </a:rPr>
              <a:t>Δt₂</a:t>
            </a:r>
          </a:p>
        </p:txBody>
      </p:sp>
      <p:sp>
        <p:nvSpPr>
          <p:cNvPr id="18" name="">
            <a:extLst xmlns:a="http://schemas.openxmlformats.org/drawingml/2006/main">
              <a:ext uri="{FF2B5EF4-FFF2-40B4-BE49-F238E27FC236}">
                <a16:creationId xmlns:a16="http://schemas.microsoft.com/office/drawing/2014/main" id="{E5D44DB7-F30C-4FDF-9F29-D7B114E1B950}"/>
              </a:ext>
            </a:extLst>
          </p:cNvPr>
          <p:cNvSpPr>
            <a:spLocks xmlns:a="http://schemas.openxmlformats.org/drawingml/2006/main" noGrp="1"/>
          </p:cNvSpPr>
          <p:nvPr/>
        </p:nvSpPr>
        <p:spPr>
          <a:xfrm xmlns:a="http://schemas.openxmlformats.org/drawingml/2006/main">
            <a:off x="9620250" y="2571750"/>
            <a:ext cx="152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725" b="1" i="0">
                <a:solidFill>
                  <a:srgbClr val="F57748"/>
                </a:solidFill>
                <a:latin typeface="Helvetica Neue"/>
                <a:ea typeface="Helvetica Neue"/>
                <a:cs typeface="Helvetica Neue"/>
              </a:defRPr>
            </a:pPr>
            <a:r>
              <a:rPr sz="1725" b="1" i="0">
                <a:solidFill>
                  <a:srgbClr val="F57748"/>
                </a:solidFill>
                <a:latin typeface="Helvetica Neue"/>
                <a:ea typeface="Helvetica Neue"/>
                <a:cs typeface="Helvetica Neue"/>
              </a:rPr>
              <a:t>Δtₙ → 0</a:t>
            </a:r>
          </a:p>
        </p:txBody>
      </p:sp>
      <p:sp>
        <p:nvSpPr>
          <p:cNvPr id="19" name="">
            <a:extLst xmlns:a="http://schemas.openxmlformats.org/drawingml/2006/main">
              <a:ext uri="{FF2B5EF4-FFF2-40B4-BE49-F238E27FC236}">
                <a16:creationId xmlns:a16="http://schemas.microsoft.com/office/drawing/2014/main" id="{5CB9C543-ABC0-49CF-939E-E7A5E08D918E}"/>
              </a:ext>
            </a:extLst>
          </p:cNvPr>
          <p:cNvSpPr>
            <a:spLocks xmlns:a="http://schemas.openxmlformats.org/drawingml/2006/main" noGrp="1"/>
          </p:cNvSpPr>
          <p:nvPr/>
        </p:nvSpPr>
        <p:spPr>
          <a:xfrm xmlns:a="http://schemas.openxmlformats.org/drawingml/2006/main">
            <a:off x="1047750" y="4762500"/>
            <a:ext cx="9810750" cy="1028700"/>
          </a:xfrm>
          <a:prstGeom xmlns:a="http://schemas.openxmlformats.org/drawingml/2006/main" prst="roundRect">
            <a:avLst>
              <a:gd name="adj" fmla="val 7407"/>
            </a:avLst>
          </a:prstGeom>
          <a:solidFill xmlns:a="http://schemas.openxmlformats.org/drawingml/2006/main">
            <a:srgbClr val="1D2C35"/>
          </a:solidFill>
          <a:ln xmlns:a="http://schemas.openxmlformats.org/drawingml/2006/main" w="9525">
            <a:solidFill>
              <a:srgbClr val="466579"/>
            </a:solidFill>
            <a:prstDash val="solid"/>
          </a:ln>
        </p:spPr>
      </p:sp>
      <p:sp>
        <p:nvSpPr>
          <p:cNvPr id="20" name="">
            <a:extLst xmlns:a="http://schemas.openxmlformats.org/drawingml/2006/main">
              <a:ext uri="{FF2B5EF4-FFF2-40B4-BE49-F238E27FC236}">
                <a16:creationId xmlns:a16="http://schemas.microsoft.com/office/drawing/2014/main" id="{F9220F61-08D7-4592-A585-69D522BEA033}"/>
              </a:ext>
            </a:extLst>
          </p:cNvPr>
          <p:cNvSpPr>
            <a:spLocks xmlns:a="http://schemas.openxmlformats.org/drawingml/2006/main" noGrp="1"/>
          </p:cNvSpPr>
          <p:nvPr/>
        </p:nvSpPr>
        <p:spPr>
          <a:xfrm xmlns:a="http://schemas.openxmlformats.org/drawingml/2006/main">
            <a:off x="1524000" y="5076825"/>
            <a:ext cx="8858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550" b="1" i="0">
                <a:solidFill>
                  <a:srgbClr val="FFFFFF"/>
                </a:solidFill>
                <a:latin typeface="Helvetica Neue"/>
                <a:ea typeface="Helvetica Neue"/>
                <a:cs typeface="Helvetica Neue"/>
              </a:defRPr>
            </a:pPr>
            <a:r>
              <a:rPr sz="2550" b="1" i="0">
                <a:solidFill>
                  <a:srgbClr val="FFFFFF"/>
                </a:solidFill>
                <a:latin typeface="Helvetica Neue"/>
                <a:ea typeface="Helvetica Neue"/>
                <a:cs typeface="Helvetica Neue"/>
              </a:rPr>
              <a:t>Infinitely many collisions occur in finite simulated time.</a:t>
            </a:r>
          </a:p>
        </p:txBody>
      </p:sp>
    </p:spTree>
    <p:extLst>
      <p:ext uri="{BB962C8B-B14F-4D97-AF65-F5344CB8AC3E}">
        <p14:creationId xmlns:p14="http://schemas.microsoft.com/office/powerpoint/2010/main" val="945204483"/>
      </p:ext>
    </p:extLst>
  </p:cSld>
</p:sld>
</file>

<file path=ppt/slides/slide13.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3AD16504-9CDA-4C64-B71E-D73633584CA3}"/>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SOLUTION</a:t>
            </a:r>
          </a:p>
        </p:txBody>
      </p:sp>
      <p:sp>
        <p:nvSpPr>
          <p:cNvPr id="2" name="">
            <a:extLst xmlns:a="http://schemas.openxmlformats.org/drawingml/2006/main">
              <a:ext uri="{FF2B5EF4-FFF2-40B4-BE49-F238E27FC236}">
                <a16:creationId xmlns:a16="http://schemas.microsoft.com/office/drawing/2014/main" id="{7BE95022-B0B7-4A62-84D6-8B031F02F5CB}"/>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149"/>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paper regularizes collapse with a physical restitution law.</a:t>
            </a:r>
          </a:p>
        </p:txBody>
      </p:sp>
      <p:sp>
        <p:nvSpPr>
          <p:cNvPr id="3" name="">
            <a:extLst xmlns:a="http://schemas.openxmlformats.org/drawingml/2006/main">
              <a:ext uri="{FF2B5EF4-FFF2-40B4-BE49-F238E27FC236}">
                <a16:creationId xmlns:a16="http://schemas.microsoft.com/office/drawing/2014/main" id="{3B734F80-0205-4FEA-9F82-537D0788CE7F}"/>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13</a:t>
            </a:r>
          </a:p>
        </p:txBody>
      </p:sp>
      <p:sp>
        <p:nvSpPr>
          <p:cNvPr id="4" name="">
            <a:extLst xmlns:a="http://schemas.openxmlformats.org/drawingml/2006/main">
              <a:ext uri="{FF2B5EF4-FFF2-40B4-BE49-F238E27FC236}">
                <a16:creationId xmlns:a16="http://schemas.microsoft.com/office/drawing/2014/main" id="{DFB24C0F-DFB3-4DEA-82A1-3E0FF614201A}"/>
              </a:ext>
            </a:extLst>
          </p:cNvPr>
          <p:cNvSpPr>
            <a:spLocks xmlns:a="http://schemas.openxmlformats.org/drawingml/2006/main" noGrp="1"/>
          </p:cNvSpPr>
          <p:nvPr/>
        </p:nvSpPr>
        <p:spPr>
          <a:xfrm xmlns:a="http://schemas.openxmlformats.org/drawingml/2006/main">
            <a:off x="457200" y="1409700"/>
            <a:ext cx="6858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419"/>
          </a:bodyPr>
          <a:lstStyle xmlns:a="http://schemas.openxmlformats.org/drawingml/2006/main"/>
          <a:p xmlns:a="http://schemas.openxmlformats.org/drawingml/2006/main">
            <a:pPr algn="l">
              <a:lnSpc>
                <a:spcPct val="102000"/>
              </a:lnSpc>
              <a:buNone/>
              <a:defRPr sz="2175" b="1" i="0">
                <a:solidFill>
                  <a:srgbClr val="3D8DFF"/>
                </a:solidFill>
                <a:latin typeface="Helvetica Neue"/>
                <a:ea typeface="Helvetica Neue"/>
                <a:cs typeface="Helvetica Neue"/>
              </a:defRPr>
            </a:pPr>
            <a:r>
              <a:rPr sz="2175" b="1" i="0">
                <a:solidFill>
                  <a:srgbClr val="3D8DFF"/>
                </a:solidFill>
                <a:latin typeface="Helvetica Neue"/>
                <a:ea typeface="Helvetica Neue"/>
                <a:cs typeface="Helvetica Neue"/>
              </a:rPr>
              <a:t>At low impact speed, collisions become nearly elastic.</a:t>
            </a:r>
          </a:p>
        </p:txBody>
      </p:sp>
      <p:cxnSp>
        <p:nvCxnSpPr>
          <p:cNvPr id="55" name=""/>
          <p:cNvCxnSpPr/>
          <p:nvPr/>
        </p:nvCxnSpPr>
        <p:spPr>
          <a:xfrm xmlns:a="http://schemas.openxmlformats.org/drawingml/2006/main">
            <a:off x="895350" y="5448300"/>
            <a:ext cx="6000750" cy="0"/>
          </a:xfrm>
          <a:prstGeom xmlns:a="http://schemas.openxmlformats.org/drawingml/2006/main" prst="straightConnector1">
            <a:avLst/>
          </a:prstGeom>
          <a:ln xmlns:a="http://schemas.openxmlformats.org/drawingml/2006/main" w="28575">
            <a:solidFill>
              <a:srgbClr val="111111"/>
            </a:solidFill>
            <a:prstDash val="solid"/>
          </a:ln>
        </p:spPr>
      </p:cxnSp>
      <p:cxnSp>
        <p:nvCxnSpPr>
          <p:cNvPr id="56" name=""/>
          <p:cNvCxnSpPr/>
          <p:nvPr/>
        </p:nvCxnSpPr>
        <p:spPr>
          <a:xfrm xmlns:a="http://schemas.openxmlformats.org/drawingml/2006/main">
            <a:off x="895350" y="2400300"/>
            <a:ext cx="0" cy="3048000"/>
          </a:xfrm>
          <a:prstGeom xmlns:a="http://schemas.openxmlformats.org/drawingml/2006/main" prst="straightConnector1">
            <a:avLst/>
          </a:prstGeom>
          <a:ln xmlns:a="http://schemas.openxmlformats.org/drawingml/2006/main" w="28575">
            <a:solidFill>
              <a:srgbClr val="111111"/>
            </a:solidFill>
            <a:prstDash val="solid"/>
          </a:ln>
        </p:spPr>
      </p:cxnSp>
      <p:sp>
        <p:nvSpPr>
          <p:cNvPr id="7" name="">
            <a:extLst xmlns:a="http://schemas.openxmlformats.org/drawingml/2006/main">
              <a:ext uri="{FF2B5EF4-FFF2-40B4-BE49-F238E27FC236}">
                <a16:creationId xmlns:a16="http://schemas.microsoft.com/office/drawing/2014/main" id="{9DD70717-C908-4243-8501-5CC049AB4AB7}"/>
              </a:ext>
            </a:extLst>
          </p:cNvPr>
          <p:cNvSpPr>
            <a:spLocks xmlns:a="http://schemas.openxmlformats.org/drawingml/2006/main" noGrp="1"/>
          </p:cNvSpPr>
          <p:nvPr/>
        </p:nvSpPr>
        <p:spPr>
          <a:xfrm xmlns:a="http://schemas.openxmlformats.org/drawingml/2006/main">
            <a:off x="2990850" y="57150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00" b="0" i="0">
                <a:solidFill>
                  <a:srgbClr val="52616B"/>
                </a:solidFill>
                <a:latin typeface="Helvetica Neue"/>
                <a:ea typeface="Helvetica Neue"/>
                <a:cs typeface="Helvetica Neue"/>
              </a:defRPr>
            </a:pPr>
            <a:r>
              <a:rPr sz="1500" b="0" i="0">
                <a:solidFill>
                  <a:srgbClr val="52616B"/>
                </a:solidFill>
                <a:latin typeface="Helvetica Neue"/>
                <a:ea typeface="Helvetica Neue"/>
                <a:cs typeface="Helvetica Neue"/>
              </a:rPr>
              <a:t>impact speed  |vₙ|</a:t>
            </a:r>
          </a:p>
        </p:txBody>
      </p:sp>
      <p:sp>
        <p:nvSpPr>
          <p:cNvPr id="8" name="">
            <a:extLst xmlns:a="http://schemas.openxmlformats.org/drawingml/2006/main">
              <a:ext uri="{FF2B5EF4-FFF2-40B4-BE49-F238E27FC236}">
                <a16:creationId xmlns:a16="http://schemas.microsoft.com/office/drawing/2014/main" id="{91326964-438B-4B0F-9021-5B6BEF61F7FC}"/>
              </a:ext>
            </a:extLst>
          </p:cNvPr>
          <p:cNvSpPr>
            <a:spLocks xmlns:a="http://schemas.openxmlformats.org/drawingml/2006/main" noGrp="1"/>
          </p:cNvSpPr>
          <p:nvPr/>
        </p:nvSpPr>
        <p:spPr>
          <a:xfrm xmlns:a="http://schemas.openxmlformats.org/drawingml/2006/main">
            <a:off x="209550" y="352425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00" b="0" i="0">
                <a:solidFill>
                  <a:srgbClr val="52616B"/>
                </a:solidFill>
                <a:latin typeface="Helvetica Neue"/>
                <a:ea typeface="Helvetica Neue"/>
                <a:cs typeface="Helvetica Neue"/>
              </a:defRPr>
            </a:pPr>
            <a:r>
              <a:rPr sz="1500" b="0" i="0">
                <a:solidFill>
                  <a:srgbClr val="52616B"/>
                </a:solidFill>
                <a:latin typeface="Helvetica Neue"/>
                <a:ea typeface="Helvetica Neue"/>
                <a:cs typeface="Helvetica Neue"/>
              </a:rPr>
              <a:t>restitution  e</a:t>
            </a:r>
          </a:p>
        </p:txBody>
      </p:sp>
      <p:sp>
        <p:nvSpPr>
          <p:cNvPr id="9" name="">
            <a:extLst xmlns:a="http://schemas.openxmlformats.org/drawingml/2006/main">
              <a:ext uri="{FF2B5EF4-FFF2-40B4-BE49-F238E27FC236}">
                <a16:creationId xmlns:a16="http://schemas.microsoft.com/office/drawing/2014/main" id="{0C5D619B-B017-4BE7-A714-21F6C5B3C5E2}"/>
              </a:ext>
            </a:extLst>
          </p:cNvPr>
          <p:cNvSpPr>
            <a:spLocks xmlns:a="http://schemas.openxmlformats.org/drawingml/2006/main" noGrp="1"/>
          </p:cNvSpPr>
          <p:nvPr/>
        </p:nvSpPr>
        <p:spPr>
          <a:xfrm xmlns:a="http://schemas.openxmlformats.org/drawingml/2006/main">
            <a:off x="552450" y="2324100"/>
            <a:ext cx="209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350" b="0" i="0">
                <a:solidFill>
                  <a:srgbClr val="52616B"/>
                </a:solidFill>
                <a:latin typeface="Helvetica Neue"/>
                <a:ea typeface="Helvetica Neue"/>
                <a:cs typeface="Helvetica Neue"/>
              </a:defRPr>
            </a:pPr>
            <a:r>
              <a:rPr sz="1350" b="0" i="0">
                <a:solidFill>
                  <a:srgbClr val="52616B"/>
                </a:solidFill>
                <a:latin typeface="Helvetica Neue"/>
                <a:ea typeface="Helvetica Neue"/>
                <a:cs typeface="Helvetica Neue"/>
              </a:rPr>
              <a:t>1</a:t>
            </a:r>
          </a:p>
        </p:txBody>
      </p:sp>
      <p:cxnSp>
        <p:nvCxnSpPr>
          <p:cNvPr id="60" name=""/>
          <p:cNvCxnSpPr/>
          <p:nvPr/>
        </p:nvCxnSpPr>
        <p:spPr>
          <a:xfrm xmlns:a="http://schemas.openxmlformats.org/drawingml/2006/main">
            <a:off x="895350" y="2400300"/>
            <a:ext cx="200025" cy="304919"/>
          </a:xfrm>
          <a:prstGeom xmlns:a="http://schemas.openxmlformats.org/drawingml/2006/main" prst="straightConnector1">
            <a:avLst/>
          </a:prstGeom>
          <a:ln xmlns:a="http://schemas.openxmlformats.org/drawingml/2006/main" w="47625">
            <a:solidFill>
              <a:srgbClr val="F57748"/>
            </a:solidFill>
            <a:prstDash val="solid"/>
          </a:ln>
        </p:spPr>
      </p:cxnSp>
      <p:cxnSp>
        <p:nvCxnSpPr>
          <p:cNvPr id="61" name=""/>
          <p:cNvCxnSpPr/>
          <p:nvPr/>
        </p:nvCxnSpPr>
        <p:spPr>
          <a:xfrm xmlns:a="http://schemas.openxmlformats.org/drawingml/2006/main">
            <a:off x="1095375" y="2705219"/>
            <a:ext cx="200025" cy="147265"/>
          </a:xfrm>
          <a:prstGeom xmlns:a="http://schemas.openxmlformats.org/drawingml/2006/main" prst="straightConnector1">
            <a:avLst/>
          </a:prstGeom>
          <a:ln xmlns:a="http://schemas.openxmlformats.org/drawingml/2006/main" w="47625">
            <a:solidFill>
              <a:srgbClr val="F57748"/>
            </a:solidFill>
            <a:prstDash val="solid"/>
          </a:ln>
        </p:spPr>
      </p:cxnSp>
      <p:cxnSp>
        <p:nvCxnSpPr>
          <p:cNvPr id="62" name=""/>
          <p:cNvCxnSpPr/>
          <p:nvPr/>
        </p:nvCxnSpPr>
        <p:spPr>
          <a:xfrm xmlns:a="http://schemas.openxmlformats.org/drawingml/2006/main">
            <a:off x="1295400" y="2852484"/>
            <a:ext cx="200025" cy="99521"/>
          </a:xfrm>
          <a:prstGeom xmlns:a="http://schemas.openxmlformats.org/drawingml/2006/main" prst="straightConnector1">
            <a:avLst/>
          </a:prstGeom>
          <a:ln xmlns:a="http://schemas.openxmlformats.org/drawingml/2006/main" w="47625">
            <a:solidFill>
              <a:srgbClr val="F57748"/>
            </a:solidFill>
            <a:prstDash val="solid"/>
          </a:ln>
        </p:spPr>
      </p:cxnSp>
      <p:cxnSp>
        <p:nvCxnSpPr>
          <p:cNvPr id="63" name=""/>
          <p:cNvCxnSpPr/>
          <p:nvPr/>
        </p:nvCxnSpPr>
        <p:spPr>
          <a:xfrm xmlns:a="http://schemas.openxmlformats.org/drawingml/2006/main">
            <a:off x="1495425" y="2952005"/>
            <a:ext cx="200025" cy="72403"/>
          </a:xfrm>
          <a:prstGeom xmlns:a="http://schemas.openxmlformats.org/drawingml/2006/main" prst="straightConnector1">
            <a:avLst/>
          </a:prstGeom>
          <a:ln xmlns:a="http://schemas.openxmlformats.org/drawingml/2006/main" w="47625">
            <a:solidFill>
              <a:srgbClr val="F57748"/>
            </a:solidFill>
            <a:prstDash val="solid"/>
          </a:ln>
        </p:spPr>
      </p:cxnSp>
      <p:cxnSp>
        <p:nvCxnSpPr>
          <p:cNvPr id="64" name=""/>
          <p:cNvCxnSpPr/>
          <p:nvPr/>
        </p:nvCxnSpPr>
        <p:spPr>
          <a:xfrm xmlns:a="http://schemas.openxmlformats.org/drawingml/2006/main">
            <a:off x="1695450" y="3024408"/>
            <a:ext cx="200025" cy="54757"/>
          </a:xfrm>
          <a:prstGeom xmlns:a="http://schemas.openxmlformats.org/drawingml/2006/main" prst="straightConnector1">
            <a:avLst/>
          </a:prstGeom>
          <a:ln xmlns:a="http://schemas.openxmlformats.org/drawingml/2006/main" w="47625">
            <a:solidFill>
              <a:srgbClr val="F57748"/>
            </a:solidFill>
            <a:prstDash val="solid"/>
          </a:ln>
        </p:spPr>
      </p:cxnSp>
      <p:cxnSp>
        <p:nvCxnSpPr>
          <p:cNvPr id="65" name=""/>
          <p:cNvCxnSpPr/>
          <p:nvPr/>
        </p:nvCxnSpPr>
        <p:spPr>
          <a:xfrm xmlns:a="http://schemas.openxmlformats.org/drawingml/2006/main">
            <a:off x="1895475" y="3079165"/>
            <a:ext cx="200025" cy="42455"/>
          </a:xfrm>
          <a:prstGeom xmlns:a="http://schemas.openxmlformats.org/drawingml/2006/main" prst="straightConnector1">
            <a:avLst/>
          </a:prstGeom>
          <a:ln xmlns:a="http://schemas.openxmlformats.org/drawingml/2006/main" w="47625">
            <a:solidFill>
              <a:srgbClr val="F57748"/>
            </a:solidFill>
            <a:prstDash val="solid"/>
          </a:ln>
        </p:spPr>
      </p:cxnSp>
      <p:cxnSp>
        <p:nvCxnSpPr>
          <p:cNvPr id="66" name=""/>
          <p:cNvCxnSpPr/>
          <p:nvPr/>
        </p:nvCxnSpPr>
        <p:spPr>
          <a:xfrm xmlns:a="http://schemas.openxmlformats.org/drawingml/2006/main">
            <a:off x="2095500" y="3121620"/>
            <a:ext cx="200025" cy="33507"/>
          </a:xfrm>
          <a:prstGeom xmlns:a="http://schemas.openxmlformats.org/drawingml/2006/main" prst="straightConnector1">
            <a:avLst/>
          </a:prstGeom>
          <a:ln xmlns:a="http://schemas.openxmlformats.org/drawingml/2006/main" w="47625">
            <a:solidFill>
              <a:srgbClr val="F57748"/>
            </a:solidFill>
            <a:prstDash val="solid"/>
          </a:ln>
        </p:spPr>
      </p:cxnSp>
      <p:cxnSp>
        <p:nvCxnSpPr>
          <p:cNvPr id="67" name=""/>
          <p:cNvCxnSpPr/>
          <p:nvPr/>
        </p:nvCxnSpPr>
        <p:spPr>
          <a:xfrm xmlns:a="http://schemas.openxmlformats.org/drawingml/2006/main">
            <a:off x="2295525" y="3155127"/>
            <a:ext cx="200025" cy="26804"/>
          </a:xfrm>
          <a:prstGeom xmlns:a="http://schemas.openxmlformats.org/drawingml/2006/main" prst="straightConnector1">
            <a:avLst/>
          </a:prstGeom>
          <a:ln xmlns:a="http://schemas.openxmlformats.org/drawingml/2006/main" w="47625">
            <a:solidFill>
              <a:srgbClr val="F57748"/>
            </a:solidFill>
            <a:prstDash val="solid"/>
          </a:ln>
        </p:spPr>
      </p:cxnSp>
      <p:cxnSp>
        <p:nvCxnSpPr>
          <p:cNvPr id="68" name=""/>
          <p:cNvCxnSpPr/>
          <p:nvPr/>
        </p:nvCxnSpPr>
        <p:spPr>
          <a:xfrm xmlns:a="http://schemas.openxmlformats.org/drawingml/2006/main">
            <a:off x="2495550" y="3181931"/>
            <a:ext cx="200025" cy="21673"/>
          </a:xfrm>
          <a:prstGeom xmlns:a="http://schemas.openxmlformats.org/drawingml/2006/main" prst="straightConnector1">
            <a:avLst/>
          </a:prstGeom>
          <a:ln xmlns:a="http://schemas.openxmlformats.org/drawingml/2006/main" w="47625">
            <a:solidFill>
              <a:srgbClr val="F57748"/>
            </a:solidFill>
            <a:prstDash val="solid"/>
          </a:ln>
        </p:spPr>
      </p:cxnSp>
      <p:cxnSp>
        <p:nvCxnSpPr>
          <p:cNvPr id="69" name=""/>
          <p:cNvCxnSpPr/>
          <p:nvPr/>
        </p:nvCxnSpPr>
        <p:spPr>
          <a:xfrm xmlns:a="http://schemas.openxmlformats.org/drawingml/2006/main">
            <a:off x="2695575" y="3203604"/>
            <a:ext cx="200025" cy="17679"/>
          </a:xfrm>
          <a:prstGeom xmlns:a="http://schemas.openxmlformats.org/drawingml/2006/main" prst="straightConnector1">
            <a:avLst/>
          </a:prstGeom>
          <a:ln xmlns:a="http://schemas.openxmlformats.org/drawingml/2006/main" w="47625">
            <a:solidFill>
              <a:srgbClr val="F57748"/>
            </a:solidFill>
            <a:prstDash val="solid"/>
          </a:ln>
        </p:spPr>
      </p:cxnSp>
      <p:cxnSp>
        <p:nvCxnSpPr>
          <p:cNvPr id="70" name=""/>
          <p:cNvCxnSpPr/>
          <p:nvPr/>
        </p:nvCxnSpPr>
        <p:spPr>
          <a:xfrm xmlns:a="http://schemas.openxmlformats.org/drawingml/2006/main">
            <a:off x="2895600" y="3221283"/>
            <a:ext cx="200025" cy="14528"/>
          </a:xfrm>
          <a:prstGeom xmlns:a="http://schemas.openxmlformats.org/drawingml/2006/main" prst="straightConnector1">
            <a:avLst/>
          </a:prstGeom>
          <a:ln xmlns:a="http://schemas.openxmlformats.org/drawingml/2006/main" w="47625">
            <a:solidFill>
              <a:srgbClr val="F57748"/>
            </a:solidFill>
            <a:prstDash val="solid"/>
          </a:ln>
        </p:spPr>
      </p:cxnSp>
      <p:cxnSp>
        <p:nvCxnSpPr>
          <p:cNvPr id="71" name=""/>
          <p:cNvCxnSpPr/>
          <p:nvPr/>
        </p:nvCxnSpPr>
        <p:spPr>
          <a:xfrm xmlns:a="http://schemas.openxmlformats.org/drawingml/2006/main">
            <a:off x="3095625" y="3235811"/>
            <a:ext cx="200025" cy="12015"/>
          </a:xfrm>
          <a:prstGeom xmlns:a="http://schemas.openxmlformats.org/drawingml/2006/main" prst="straightConnector1">
            <a:avLst/>
          </a:prstGeom>
          <a:ln xmlns:a="http://schemas.openxmlformats.org/drawingml/2006/main" w="47625">
            <a:solidFill>
              <a:srgbClr val="F57748"/>
            </a:solidFill>
            <a:prstDash val="solid"/>
          </a:ln>
        </p:spPr>
      </p:cxnSp>
      <p:cxnSp>
        <p:nvCxnSpPr>
          <p:cNvPr id="72" name=""/>
          <p:cNvCxnSpPr/>
          <p:nvPr/>
        </p:nvCxnSpPr>
        <p:spPr>
          <a:xfrm xmlns:a="http://schemas.openxmlformats.org/drawingml/2006/main">
            <a:off x="3295650" y="3247826"/>
            <a:ext cx="200025" cy="9991"/>
          </a:xfrm>
          <a:prstGeom xmlns:a="http://schemas.openxmlformats.org/drawingml/2006/main" prst="straightConnector1">
            <a:avLst/>
          </a:prstGeom>
          <a:ln xmlns:a="http://schemas.openxmlformats.org/drawingml/2006/main" w="47625">
            <a:solidFill>
              <a:srgbClr val="F57748"/>
            </a:solidFill>
            <a:prstDash val="solid"/>
          </a:ln>
        </p:spPr>
      </p:cxnSp>
      <p:cxnSp>
        <p:nvCxnSpPr>
          <p:cNvPr id="73" name=""/>
          <p:cNvCxnSpPr/>
          <p:nvPr/>
        </p:nvCxnSpPr>
        <p:spPr>
          <a:xfrm xmlns:a="http://schemas.openxmlformats.org/drawingml/2006/main">
            <a:off x="3495675" y="3257818"/>
            <a:ext cx="200025" cy="8349"/>
          </a:xfrm>
          <a:prstGeom xmlns:a="http://schemas.openxmlformats.org/drawingml/2006/main" prst="straightConnector1">
            <a:avLst/>
          </a:prstGeom>
          <a:ln xmlns:a="http://schemas.openxmlformats.org/drawingml/2006/main" w="47625">
            <a:solidFill>
              <a:srgbClr val="F57748"/>
            </a:solidFill>
            <a:prstDash val="solid"/>
          </a:ln>
        </p:spPr>
      </p:cxnSp>
      <p:cxnSp>
        <p:nvCxnSpPr>
          <p:cNvPr id="74" name=""/>
          <p:cNvCxnSpPr/>
          <p:nvPr/>
        </p:nvCxnSpPr>
        <p:spPr>
          <a:xfrm xmlns:a="http://schemas.openxmlformats.org/drawingml/2006/main">
            <a:off x="3695700" y="3266167"/>
            <a:ext cx="200025" cy="7007"/>
          </a:xfrm>
          <a:prstGeom xmlns:a="http://schemas.openxmlformats.org/drawingml/2006/main" prst="straightConnector1">
            <a:avLst/>
          </a:prstGeom>
          <a:ln xmlns:a="http://schemas.openxmlformats.org/drawingml/2006/main" w="47625">
            <a:solidFill>
              <a:srgbClr val="F57748"/>
            </a:solidFill>
            <a:prstDash val="solid"/>
          </a:ln>
        </p:spPr>
      </p:cxnSp>
      <p:cxnSp>
        <p:nvCxnSpPr>
          <p:cNvPr id="75" name=""/>
          <p:cNvCxnSpPr/>
          <p:nvPr/>
        </p:nvCxnSpPr>
        <p:spPr>
          <a:xfrm xmlns:a="http://schemas.openxmlformats.org/drawingml/2006/main">
            <a:off x="3895725" y="3273174"/>
            <a:ext cx="200025" cy="5904"/>
          </a:xfrm>
          <a:prstGeom xmlns:a="http://schemas.openxmlformats.org/drawingml/2006/main" prst="straightConnector1">
            <a:avLst/>
          </a:prstGeom>
          <a:ln xmlns:a="http://schemas.openxmlformats.org/drawingml/2006/main" w="47625">
            <a:solidFill>
              <a:srgbClr val="F57748"/>
            </a:solidFill>
            <a:prstDash val="solid"/>
          </a:ln>
        </p:spPr>
      </p:cxnSp>
      <p:cxnSp>
        <p:nvCxnSpPr>
          <p:cNvPr id="76" name=""/>
          <p:cNvCxnSpPr/>
          <p:nvPr/>
        </p:nvCxnSpPr>
        <p:spPr>
          <a:xfrm xmlns:a="http://schemas.openxmlformats.org/drawingml/2006/main">
            <a:off x="4095750" y="3279077"/>
            <a:ext cx="200025" cy="4992"/>
          </a:xfrm>
          <a:prstGeom xmlns:a="http://schemas.openxmlformats.org/drawingml/2006/main" prst="straightConnector1">
            <a:avLst/>
          </a:prstGeom>
          <a:ln xmlns:a="http://schemas.openxmlformats.org/drawingml/2006/main" w="47625">
            <a:solidFill>
              <a:srgbClr val="F57748"/>
            </a:solidFill>
            <a:prstDash val="solid"/>
          </a:ln>
        </p:spPr>
      </p:cxnSp>
      <p:cxnSp>
        <p:nvCxnSpPr>
          <p:cNvPr id="77" name=""/>
          <p:cNvCxnSpPr/>
          <p:nvPr/>
        </p:nvCxnSpPr>
        <p:spPr>
          <a:xfrm xmlns:a="http://schemas.openxmlformats.org/drawingml/2006/main">
            <a:off x="4295775" y="3284069"/>
            <a:ext cx="200025" cy="4234"/>
          </a:xfrm>
          <a:prstGeom xmlns:a="http://schemas.openxmlformats.org/drawingml/2006/main" prst="straightConnector1">
            <a:avLst/>
          </a:prstGeom>
          <a:ln xmlns:a="http://schemas.openxmlformats.org/drawingml/2006/main" w="47625">
            <a:solidFill>
              <a:srgbClr val="F57748"/>
            </a:solidFill>
            <a:prstDash val="solid"/>
          </a:ln>
        </p:spPr>
      </p:cxnSp>
      <p:cxnSp>
        <p:nvCxnSpPr>
          <p:cNvPr id="78" name=""/>
          <p:cNvCxnSpPr/>
          <p:nvPr/>
        </p:nvCxnSpPr>
        <p:spPr>
          <a:xfrm xmlns:a="http://schemas.openxmlformats.org/drawingml/2006/main">
            <a:off x="4495800" y="3288303"/>
            <a:ext cx="200025" cy="3602"/>
          </a:xfrm>
          <a:prstGeom xmlns:a="http://schemas.openxmlformats.org/drawingml/2006/main" prst="straightConnector1">
            <a:avLst/>
          </a:prstGeom>
          <a:ln xmlns:a="http://schemas.openxmlformats.org/drawingml/2006/main" w="47625">
            <a:solidFill>
              <a:srgbClr val="F57748"/>
            </a:solidFill>
            <a:prstDash val="solid"/>
          </a:ln>
        </p:spPr>
      </p:cxnSp>
      <p:cxnSp>
        <p:nvCxnSpPr>
          <p:cNvPr id="79" name=""/>
          <p:cNvCxnSpPr/>
          <p:nvPr/>
        </p:nvCxnSpPr>
        <p:spPr>
          <a:xfrm xmlns:a="http://schemas.openxmlformats.org/drawingml/2006/main">
            <a:off x="4695825" y="3291905"/>
            <a:ext cx="200025" cy="3073"/>
          </a:xfrm>
          <a:prstGeom xmlns:a="http://schemas.openxmlformats.org/drawingml/2006/main" prst="straightConnector1">
            <a:avLst/>
          </a:prstGeom>
          <a:ln xmlns:a="http://schemas.openxmlformats.org/drawingml/2006/main" w="47625">
            <a:solidFill>
              <a:srgbClr val="F57748"/>
            </a:solidFill>
            <a:prstDash val="solid"/>
          </a:ln>
        </p:spPr>
      </p:cxnSp>
      <p:cxnSp>
        <p:nvCxnSpPr>
          <p:cNvPr id="80" name=""/>
          <p:cNvCxnSpPr/>
          <p:nvPr/>
        </p:nvCxnSpPr>
        <p:spPr>
          <a:xfrm xmlns:a="http://schemas.openxmlformats.org/drawingml/2006/main">
            <a:off x="4895850" y="3294977"/>
            <a:ext cx="200025" cy="2628"/>
          </a:xfrm>
          <a:prstGeom xmlns:a="http://schemas.openxmlformats.org/drawingml/2006/main" prst="straightConnector1">
            <a:avLst/>
          </a:prstGeom>
          <a:ln xmlns:a="http://schemas.openxmlformats.org/drawingml/2006/main" w="47625">
            <a:solidFill>
              <a:srgbClr val="F57748"/>
            </a:solidFill>
            <a:prstDash val="solid"/>
          </a:ln>
        </p:spPr>
      </p:cxnSp>
      <p:cxnSp>
        <p:nvCxnSpPr>
          <p:cNvPr id="81" name=""/>
          <p:cNvCxnSpPr/>
          <p:nvPr/>
        </p:nvCxnSpPr>
        <p:spPr>
          <a:xfrm xmlns:a="http://schemas.openxmlformats.org/drawingml/2006/main">
            <a:off x="5095875" y="3297605"/>
            <a:ext cx="200025" cy="2253"/>
          </a:xfrm>
          <a:prstGeom xmlns:a="http://schemas.openxmlformats.org/drawingml/2006/main" prst="straightConnector1">
            <a:avLst/>
          </a:prstGeom>
          <a:ln xmlns:a="http://schemas.openxmlformats.org/drawingml/2006/main" w="47625">
            <a:solidFill>
              <a:srgbClr val="F57748"/>
            </a:solidFill>
            <a:prstDash val="solid"/>
          </a:ln>
        </p:spPr>
      </p:cxnSp>
      <p:cxnSp>
        <p:nvCxnSpPr>
          <p:cNvPr id="82" name=""/>
          <p:cNvCxnSpPr/>
          <p:nvPr/>
        </p:nvCxnSpPr>
        <p:spPr>
          <a:xfrm xmlns:a="http://schemas.openxmlformats.org/drawingml/2006/main">
            <a:off x="5295900" y="3299858"/>
            <a:ext cx="200025" cy="1935"/>
          </a:xfrm>
          <a:prstGeom xmlns:a="http://schemas.openxmlformats.org/drawingml/2006/main" prst="straightConnector1">
            <a:avLst/>
          </a:prstGeom>
          <a:ln xmlns:a="http://schemas.openxmlformats.org/drawingml/2006/main" w="47625">
            <a:solidFill>
              <a:srgbClr val="F57748"/>
            </a:solidFill>
            <a:prstDash val="solid"/>
          </a:ln>
        </p:spPr>
      </p:cxnSp>
      <p:cxnSp>
        <p:nvCxnSpPr>
          <p:cNvPr id="83" name=""/>
          <p:cNvCxnSpPr/>
          <p:nvPr/>
        </p:nvCxnSpPr>
        <p:spPr>
          <a:xfrm xmlns:a="http://schemas.openxmlformats.org/drawingml/2006/main">
            <a:off x="5495925" y="3301793"/>
            <a:ext cx="200025" cy="1666"/>
          </a:xfrm>
          <a:prstGeom xmlns:a="http://schemas.openxmlformats.org/drawingml/2006/main" prst="straightConnector1">
            <a:avLst/>
          </a:prstGeom>
          <a:ln xmlns:a="http://schemas.openxmlformats.org/drawingml/2006/main" w="47625">
            <a:solidFill>
              <a:srgbClr val="F57748"/>
            </a:solidFill>
            <a:prstDash val="solid"/>
          </a:ln>
        </p:spPr>
      </p:cxnSp>
      <p:cxnSp>
        <p:nvCxnSpPr>
          <p:cNvPr id="84" name=""/>
          <p:cNvCxnSpPr/>
          <p:nvPr/>
        </p:nvCxnSpPr>
        <p:spPr>
          <a:xfrm xmlns:a="http://schemas.openxmlformats.org/drawingml/2006/main">
            <a:off x="5695950" y="3303459"/>
            <a:ext cx="200025" cy="1437"/>
          </a:xfrm>
          <a:prstGeom xmlns:a="http://schemas.openxmlformats.org/drawingml/2006/main" prst="straightConnector1">
            <a:avLst/>
          </a:prstGeom>
          <a:ln xmlns:a="http://schemas.openxmlformats.org/drawingml/2006/main" w="47625">
            <a:solidFill>
              <a:srgbClr val="F57748"/>
            </a:solidFill>
            <a:prstDash val="solid"/>
          </a:ln>
        </p:spPr>
      </p:cxnSp>
      <p:cxnSp>
        <p:nvCxnSpPr>
          <p:cNvPr id="85" name=""/>
          <p:cNvCxnSpPr/>
          <p:nvPr/>
        </p:nvCxnSpPr>
        <p:spPr>
          <a:xfrm xmlns:a="http://schemas.openxmlformats.org/drawingml/2006/main">
            <a:off x="5895975" y="3304895"/>
            <a:ext cx="200025" cy="1242"/>
          </a:xfrm>
          <a:prstGeom xmlns:a="http://schemas.openxmlformats.org/drawingml/2006/main" prst="straightConnector1">
            <a:avLst/>
          </a:prstGeom>
          <a:ln xmlns:a="http://schemas.openxmlformats.org/drawingml/2006/main" w="47625">
            <a:solidFill>
              <a:srgbClr val="F57748"/>
            </a:solidFill>
            <a:prstDash val="solid"/>
          </a:ln>
        </p:spPr>
      </p:cxnSp>
      <p:cxnSp>
        <p:nvCxnSpPr>
          <p:cNvPr id="86" name=""/>
          <p:cNvCxnSpPr/>
          <p:nvPr/>
        </p:nvCxnSpPr>
        <p:spPr>
          <a:xfrm xmlns:a="http://schemas.openxmlformats.org/drawingml/2006/main">
            <a:off x="6096000" y="3306137"/>
            <a:ext cx="200025" cy="1075"/>
          </a:xfrm>
          <a:prstGeom xmlns:a="http://schemas.openxmlformats.org/drawingml/2006/main" prst="straightConnector1">
            <a:avLst/>
          </a:prstGeom>
          <a:ln xmlns:a="http://schemas.openxmlformats.org/drawingml/2006/main" w="47625">
            <a:solidFill>
              <a:srgbClr val="F57748"/>
            </a:solidFill>
            <a:prstDash val="solid"/>
          </a:ln>
        </p:spPr>
      </p:cxnSp>
      <p:cxnSp>
        <p:nvCxnSpPr>
          <p:cNvPr id="87" name=""/>
          <p:cNvCxnSpPr/>
          <p:nvPr/>
        </p:nvCxnSpPr>
        <p:spPr>
          <a:xfrm xmlns:a="http://schemas.openxmlformats.org/drawingml/2006/main">
            <a:off x="6296025" y="3307212"/>
            <a:ext cx="200025" cy="932"/>
          </a:xfrm>
          <a:prstGeom xmlns:a="http://schemas.openxmlformats.org/drawingml/2006/main" prst="straightConnector1">
            <a:avLst/>
          </a:prstGeom>
          <a:ln xmlns:a="http://schemas.openxmlformats.org/drawingml/2006/main" w="47625">
            <a:solidFill>
              <a:srgbClr val="F57748"/>
            </a:solidFill>
            <a:prstDash val="solid"/>
          </a:ln>
        </p:spPr>
      </p:cxnSp>
      <p:cxnSp>
        <p:nvCxnSpPr>
          <p:cNvPr id="88" name=""/>
          <p:cNvCxnSpPr/>
          <p:nvPr/>
        </p:nvCxnSpPr>
        <p:spPr>
          <a:xfrm xmlns:a="http://schemas.openxmlformats.org/drawingml/2006/main">
            <a:off x="6496050" y="3308143"/>
            <a:ext cx="200025" cy="809"/>
          </a:xfrm>
          <a:prstGeom xmlns:a="http://schemas.openxmlformats.org/drawingml/2006/main" prst="straightConnector1">
            <a:avLst/>
          </a:prstGeom>
          <a:ln xmlns:a="http://schemas.openxmlformats.org/drawingml/2006/main" w="47625">
            <a:solidFill>
              <a:srgbClr val="F57748"/>
            </a:solidFill>
            <a:prstDash val="solid"/>
          </a:ln>
        </p:spPr>
      </p:cxnSp>
      <p:cxnSp>
        <p:nvCxnSpPr>
          <p:cNvPr id="89" name=""/>
          <p:cNvCxnSpPr/>
          <p:nvPr/>
        </p:nvCxnSpPr>
        <p:spPr>
          <a:xfrm xmlns:a="http://schemas.openxmlformats.org/drawingml/2006/main">
            <a:off x="6696075" y="3308952"/>
            <a:ext cx="200025" cy="703"/>
          </a:xfrm>
          <a:prstGeom xmlns:a="http://schemas.openxmlformats.org/drawingml/2006/main" prst="straightConnector1">
            <a:avLst/>
          </a:prstGeom>
          <a:ln xmlns:a="http://schemas.openxmlformats.org/drawingml/2006/main" w="47625">
            <a:solidFill>
              <a:srgbClr val="F57748"/>
            </a:solidFill>
            <a:prstDash val="solid"/>
          </a:ln>
        </p:spPr>
      </p:cxnSp>
      <p:cxnSp>
        <p:nvCxnSpPr>
          <p:cNvPr id="90" name=""/>
          <p:cNvCxnSpPr/>
          <p:nvPr/>
        </p:nvCxnSpPr>
        <p:spPr>
          <a:xfrm xmlns:a="http://schemas.openxmlformats.org/drawingml/2006/main">
            <a:off x="895350" y="3314700"/>
            <a:ext cx="6000750" cy="0"/>
          </a:xfrm>
          <a:prstGeom xmlns:a="http://schemas.openxmlformats.org/drawingml/2006/main" prst="straightConnector1">
            <a:avLst/>
          </a:prstGeom>
          <a:ln xmlns:a="http://schemas.openxmlformats.org/drawingml/2006/main" w="19050">
            <a:solidFill>
              <a:srgbClr val="B8BCC4"/>
            </a:solidFill>
            <a:prstDash val="dash"/>
          </a:ln>
        </p:spPr>
      </p:cxnSp>
      <p:sp>
        <p:nvSpPr>
          <p:cNvPr id="41" name="">
            <a:extLst xmlns:a="http://schemas.openxmlformats.org/drawingml/2006/main">
              <a:ext uri="{FF2B5EF4-FFF2-40B4-BE49-F238E27FC236}">
                <a16:creationId xmlns:a16="http://schemas.microsoft.com/office/drawing/2014/main" id="{8E8ECB7A-6FAD-4C04-9BBD-65904E50C27E}"/>
              </a:ext>
            </a:extLst>
          </p:cNvPr>
          <p:cNvSpPr>
            <a:spLocks xmlns:a="http://schemas.openxmlformats.org/drawingml/2006/main" noGrp="1"/>
          </p:cNvSpPr>
          <p:nvPr/>
        </p:nvSpPr>
        <p:spPr>
          <a:xfrm xmlns:a="http://schemas.openxmlformats.org/drawingml/2006/main">
            <a:off x="4991100" y="440055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350" b="0" i="0">
                <a:solidFill>
                  <a:srgbClr val="52616B"/>
                </a:solidFill>
                <a:latin typeface="Helvetica Neue"/>
                <a:ea typeface="Helvetica Neue"/>
                <a:cs typeface="Helvetica Neue"/>
              </a:defRPr>
            </a:pPr>
            <a:r>
              <a:rPr sz="1350" b="0" i="0">
                <a:solidFill>
                  <a:srgbClr val="52616B"/>
                </a:solidFill>
                <a:latin typeface="Helvetica Neue"/>
                <a:ea typeface="Helvetica Neue"/>
                <a:cs typeface="Helvetica Neue"/>
              </a:rPr>
              <a:t>high-speed value</a:t>
            </a:r>
          </a:p>
        </p:txBody>
      </p:sp>
      <p:sp>
        <p:nvSpPr>
          <p:cNvPr id="42" name="">
            <a:extLst xmlns:a="http://schemas.openxmlformats.org/drawingml/2006/main">
              <a:ext uri="{FF2B5EF4-FFF2-40B4-BE49-F238E27FC236}">
                <a16:creationId xmlns:a16="http://schemas.microsoft.com/office/drawing/2014/main" id="{D4EAE850-1C1A-43D8-B567-6331F468FF8B}"/>
              </a:ext>
            </a:extLst>
          </p:cNvPr>
          <p:cNvSpPr>
            <a:spLocks xmlns:a="http://schemas.openxmlformats.org/drawingml/2006/main" noGrp="1"/>
          </p:cNvSpPr>
          <p:nvPr/>
        </p:nvSpPr>
        <p:spPr>
          <a:xfrm xmlns:a="http://schemas.openxmlformats.org/drawingml/2006/main">
            <a:off x="7524750" y="2143125"/>
            <a:ext cx="3848100" cy="3162300"/>
          </a:xfrm>
          <a:prstGeom xmlns:a="http://schemas.openxmlformats.org/drawingml/2006/main" prst="roundRect">
            <a:avLst>
              <a:gd name="adj" fmla="val 2410"/>
            </a:avLst>
          </a:prstGeom>
          <a:solidFill xmlns:a="http://schemas.openxmlformats.org/drawingml/2006/main">
            <a:srgbClr val="FCE8D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6CEBA2FB-DC80-43A2-838D-29B5A1FC4F4F}"/>
              </a:ext>
            </a:extLst>
          </p:cNvPr>
          <p:cNvSpPr>
            <a:spLocks xmlns:a="http://schemas.openxmlformats.org/drawingml/2006/main" noGrp="1"/>
          </p:cNvSpPr>
          <p:nvPr/>
        </p:nvSpPr>
        <p:spPr>
          <a:xfrm xmlns:a="http://schemas.openxmlformats.org/drawingml/2006/main">
            <a:off x="7848600" y="2495550"/>
            <a:ext cx="266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111111"/>
                </a:solidFill>
                <a:latin typeface="Helvetica Neue"/>
                <a:ea typeface="Helvetica Neue"/>
                <a:cs typeface="Helvetica Neue"/>
              </a:defRPr>
            </a:pPr>
            <a:r>
              <a:rPr sz="2550" b="1" i="0">
                <a:solidFill>
                  <a:srgbClr val="111111"/>
                </a:solidFill>
                <a:latin typeface="Helvetica Neue"/>
                <a:ea typeface="Helvetica Neue"/>
                <a:cs typeface="Helvetica Neue"/>
              </a:rPr>
              <a:t>Why it works</a:t>
            </a:r>
          </a:p>
        </p:txBody>
      </p:sp>
      <p:sp>
        <p:nvSpPr>
          <p:cNvPr id="44" name="">
            <a:extLst xmlns:a="http://schemas.openxmlformats.org/drawingml/2006/main">
              <a:ext uri="{FF2B5EF4-FFF2-40B4-BE49-F238E27FC236}">
                <a16:creationId xmlns:a16="http://schemas.microsoft.com/office/drawing/2014/main" id="{65C9995D-5FB7-4CA2-AF08-B248BFBF7097}"/>
              </a:ext>
            </a:extLst>
          </p:cNvPr>
          <p:cNvSpPr>
            <a:spLocks xmlns:a="http://schemas.openxmlformats.org/drawingml/2006/main" noGrp="1"/>
          </p:cNvSpPr>
          <p:nvPr/>
        </p:nvSpPr>
        <p:spPr>
          <a:xfrm xmlns:a="http://schemas.openxmlformats.org/drawingml/2006/main">
            <a:off x="7867650" y="32575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2C5CCD36-56BE-4A29-8F0C-B268F44F9E24}"/>
              </a:ext>
            </a:extLst>
          </p:cNvPr>
          <p:cNvSpPr>
            <a:spLocks xmlns:a="http://schemas.openxmlformats.org/drawingml/2006/main" noGrp="1"/>
          </p:cNvSpPr>
          <p:nvPr/>
        </p:nvSpPr>
        <p:spPr>
          <a:xfrm xmlns:a="http://schemas.openxmlformats.org/drawingml/2006/main">
            <a:off x="8115300" y="31813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l">
              <a:lnSpc>
                <a:spcPct val="102000"/>
              </a:lnSpc>
              <a:buNone/>
              <a:defRPr sz="1575" b="0" i="0">
                <a:solidFill>
                  <a:srgbClr val="111111"/>
                </a:solidFill>
                <a:latin typeface="Helvetica Neue"/>
                <a:ea typeface="Helvetica Neue"/>
                <a:cs typeface="Helvetica Neue"/>
              </a:defRPr>
            </a:pPr>
            <a:r>
              <a:rPr sz="1575" b="0" i="0">
                <a:solidFill>
                  <a:srgbClr val="111111"/>
                </a:solidFill>
                <a:latin typeface="Helvetica Neue"/>
                <a:ea typeface="Helvetica Neue"/>
                <a:cs typeface="Helvetica Neue"/>
              </a:rPr>
              <a:t>Dissipation remains at ordinary collision speeds.</a:t>
            </a:r>
          </a:p>
        </p:txBody>
      </p:sp>
      <p:sp>
        <p:nvSpPr>
          <p:cNvPr id="46" name="">
            <a:extLst xmlns:a="http://schemas.openxmlformats.org/drawingml/2006/main">
              <a:ext uri="{FF2B5EF4-FFF2-40B4-BE49-F238E27FC236}">
                <a16:creationId xmlns:a16="http://schemas.microsoft.com/office/drawing/2014/main" id="{F2782737-4CF4-4FB7-80D6-167DCC5526D0}"/>
              </a:ext>
            </a:extLst>
          </p:cNvPr>
          <p:cNvSpPr>
            <a:spLocks xmlns:a="http://schemas.openxmlformats.org/drawingml/2006/main" noGrp="1"/>
          </p:cNvSpPr>
          <p:nvPr/>
        </p:nvSpPr>
        <p:spPr>
          <a:xfrm xmlns:a="http://schemas.openxmlformats.org/drawingml/2006/main">
            <a:off x="7867650" y="384810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47" name="">
            <a:extLst xmlns:a="http://schemas.openxmlformats.org/drawingml/2006/main">
              <a:ext uri="{FF2B5EF4-FFF2-40B4-BE49-F238E27FC236}">
                <a16:creationId xmlns:a16="http://schemas.microsoft.com/office/drawing/2014/main" id="{C784859F-5A7E-4BFF-A194-93F4A9FD75AE}"/>
              </a:ext>
            </a:extLst>
          </p:cNvPr>
          <p:cNvSpPr>
            <a:spLocks xmlns:a="http://schemas.openxmlformats.org/drawingml/2006/main" noGrp="1"/>
          </p:cNvSpPr>
          <p:nvPr/>
        </p:nvSpPr>
        <p:spPr>
          <a:xfrm xmlns:a="http://schemas.openxmlformats.org/drawingml/2006/main">
            <a:off x="8115300" y="377190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l">
              <a:lnSpc>
                <a:spcPct val="102000"/>
              </a:lnSpc>
              <a:buNone/>
              <a:defRPr sz="1575" b="0" i="0">
                <a:solidFill>
                  <a:srgbClr val="111111"/>
                </a:solidFill>
                <a:latin typeface="Helvetica Neue"/>
                <a:ea typeface="Helvetica Neue"/>
                <a:cs typeface="Helvetica Neue"/>
              </a:defRPr>
            </a:pPr>
            <a:r>
              <a:rPr sz="1575" b="0" i="0">
                <a:solidFill>
                  <a:srgbClr val="111111"/>
                </a:solidFill>
                <a:latin typeface="Helvetica Neue"/>
                <a:ea typeface="Helvetica Neue"/>
                <a:cs typeface="Helvetica Neue"/>
              </a:rPr>
              <a:t>Near-zero-speed impacts stop draining energy geometrically.</a:t>
            </a:r>
          </a:p>
        </p:txBody>
      </p:sp>
      <p:sp>
        <p:nvSpPr>
          <p:cNvPr id="48" name="">
            <a:extLst xmlns:a="http://schemas.openxmlformats.org/drawingml/2006/main">
              <a:ext uri="{FF2B5EF4-FFF2-40B4-BE49-F238E27FC236}">
                <a16:creationId xmlns:a16="http://schemas.microsoft.com/office/drawing/2014/main" id="{AEF71902-468F-44AC-A9C7-6921D1BA6504}"/>
              </a:ext>
            </a:extLst>
          </p:cNvPr>
          <p:cNvSpPr>
            <a:spLocks xmlns:a="http://schemas.openxmlformats.org/drawingml/2006/main" noGrp="1"/>
          </p:cNvSpPr>
          <p:nvPr/>
        </p:nvSpPr>
        <p:spPr>
          <a:xfrm xmlns:a="http://schemas.openxmlformats.org/drawingml/2006/main">
            <a:off x="7867650" y="44386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49" name="">
            <a:extLst xmlns:a="http://schemas.openxmlformats.org/drawingml/2006/main">
              <a:ext uri="{FF2B5EF4-FFF2-40B4-BE49-F238E27FC236}">
                <a16:creationId xmlns:a16="http://schemas.microsoft.com/office/drawing/2014/main" id="{22408094-F09F-4BF0-A77A-6F4EB467EA8E}"/>
              </a:ext>
            </a:extLst>
          </p:cNvPr>
          <p:cNvSpPr>
            <a:spLocks xmlns:a="http://schemas.openxmlformats.org/drawingml/2006/main" noGrp="1"/>
          </p:cNvSpPr>
          <p:nvPr/>
        </p:nvSpPr>
        <p:spPr>
          <a:xfrm xmlns:a="http://schemas.openxmlformats.org/drawingml/2006/main">
            <a:off x="8115300" y="4362450"/>
            <a:ext cx="2800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71"/>
          </a:bodyPr>
          <a:lstStyle xmlns:a="http://schemas.openxmlformats.org/drawingml/2006/main"/>
          <a:p xmlns:a="http://schemas.openxmlformats.org/drawingml/2006/main">
            <a:pPr algn="l">
              <a:lnSpc>
                <a:spcPct val="102000"/>
              </a:lnSpc>
              <a:buNone/>
              <a:defRPr sz="1575" b="0" i="0">
                <a:solidFill>
                  <a:srgbClr val="111111"/>
                </a:solidFill>
                <a:latin typeface="Helvetica Neue"/>
                <a:ea typeface="Helvetica Neue"/>
                <a:cs typeface="Helvetica Neue"/>
              </a:defRPr>
            </a:pPr>
            <a:r>
              <a:rPr sz="1575" b="0" i="0">
                <a:solidFill>
                  <a:srgbClr val="111111"/>
                </a:solidFill>
                <a:latin typeface="Helvetica Neue"/>
                <a:ea typeface="Helvetica Neue"/>
                <a:cs typeface="Helvetica Neue"/>
              </a:rPr>
              <a:t>The event clock can continue to advance.</a:t>
            </a:r>
          </a:p>
        </p:txBody>
      </p:sp>
      <p:sp>
        <p:nvSpPr>
          <p:cNvPr id="50" name="">
            <a:extLst xmlns:a="http://schemas.openxmlformats.org/drawingml/2006/main">
              <a:ext uri="{FF2B5EF4-FFF2-40B4-BE49-F238E27FC236}">
                <a16:creationId xmlns:a16="http://schemas.microsoft.com/office/drawing/2014/main" id="{4EE163E7-1A6D-46B7-94B6-FD78B3D4F54F}"/>
              </a:ext>
            </a:extLst>
          </p:cNvPr>
          <p:cNvSpPr>
            <a:spLocks xmlns:a="http://schemas.openxmlformats.org/drawingml/2006/main" noGrp="1"/>
          </p:cNvSpPr>
          <p:nvPr/>
        </p:nvSpPr>
        <p:spPr>
          <a:xfrm xmlns:a="http://schemas.openxmlformats.org/drawingml/2006/main">
            <a:off x="7639050" y="5562600"/>
            <a:ext cx="36195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575" b="1" i="0">
                <a:solidFill>
                  <a:srgbClr val="F57748"/>
                </a:solidFill>
                <a:latin typeface="Helvetica Neue"/>
                <a:ea typeface="Helvetica Neue"/>
                <a:cs typeface="Helvetica Neue"/>
              </a:defRPr>
            </a:pPr>
            <a:r>
              <a:rPr sz="1575" b="1" i="0">
                <a:solidFill>
                  <a:srgbClr val="F57748"/>
                </a:solidFill>
                <a:latin typeface="Helvetica Neue"/>
                <a:ea typeface="Helvetica Neue"/>
                <a:cs typeface="Helvetica Neue"/>
              </a:rPr>
              <a:t>This is a model of material behavior, not an arbitrary timeout.</a:t>
            </a:r>
          </a:p>
        </p:txBody>
      </p:sp>
    </p:spTree>
    <p:extLst>
      <p:ext uri="{BB962C8B-B14F-4D97-AF65-F5344CB8AC3E}">
        <p14:creationId xmlns:p14="http://schemas.microsoft.com/office/powerpoint/2010/main" val="1630517081"/>
      </p:ext>
    </p:extLst>
  </p:cSld>
</p:sld>
</file>

<file path=ppt/slides/slide14.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93F65FC3-6761-44A8-B35C-63D397C13464}"/>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FROM DEMO TO BENCHMARK</a:t>
            </a:r>
          </a:p>
        </p:txBody>
      </p:sp>
      <p:sp>
        <p:nvSpPr>
          <p:cNvPr id="2" name="">
            <a:extLst xmlns:a="http://schemas.openxmlformats.org/drawingml/2006/main">
              <a:ext uri="{FF2B5EF4-FFF2-40B4-BE49-F238E27FC236}">
                <a16:creationId xmlns:a16="http://schemas.microsoft.com/office/drawing/2014/main" id="{077E8F9F-9486-429C-BEC5-0C2E3D289EB4}"/>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244"/>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A single Fable result would be entertaining, not informative.</a:t>
            </a:r>
          </a:p>
        </p:txBody>
      </p:sp>
      <p:sp>
        <p:nvSpPr>
          <p:cNvPr id="3" name="">
            <a:extLst xmlns:a="http://schemas.openxmlformats.org/drawingml/2006/main">
              <a:ext uri="{FF2B5EF4-FFF2-40B4-BE49-F238E27FC236}">
                <a16:creationId xmlns:a16="http://schemas.microsoft.com/office/drawing/2014/main" id="{6E57A7B4-2294-483F-AE60-B06EC27B1E96}"/>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14</a:t>
            </a:r>
          </a:p>
        </p:txBody>
      </p:sp>
      <p:sp>
        <p:nvSpPr>
          <p:cNvPr id="4" name="">
            <a:extLst xmlns:a="http://schemas.openxmlformats.org/drawingml/2006/main">
              <a:ext uri="{FF2B5EF4-FFF2-40B4-BE49-F238E27FC236}">
                <a16:creationId xmlns:a16="http://schemas.microsoft.com/office/drawing/2014/main" id="{4413B5B3-04C2-4CE6-88E5-BE650F57E8FB}"/>
              </a:ext>
            </a:extLst>
          </p:cNvPr>
          <p:cNvSpPr>
            <a:spLocks xmlns:a="http://schemas.openxmlformats.org/drawingml/2006/main" noGrp="1"/>
          </p:cNvSpPr>
          <p:nvPr/>
        </p:nvSpPr>
        <p:spPr>
          <a:xfrm xmlns:a="http://schemas.openxmlformats.org/drawingml/2006/main">
            <a:off x="476250" y="1619250"/>
            <a:ext cx="4095750" cy="3714750"/>
          </a:xfrm>
          <a:prstGeom xmlns:a="http://schemas.openxmlformats.org/drawingml/2006/main" prst="roundRect">
            <a:avLst>
              <a:gd name="adj" fmla="val 2051"/>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EE3DA8D-1CBA-447D-AD60-BC76AA5A30CB}"/>
              </a:ext>
            </a:extLst>
          </p:cNvPr>
          <p:cNvSpPr>
            <a:spLocks xmlns:a="http://schemas.openxmlformats.org/drawingml/2006/main" noGrp="1"/>
          </p:cNvSpPr>
          <p:nvPr/>
        </p:nvSpPr>
        <p:spPr>
          <a:xfrm xmlns:a="http://schemas.openxmlformats.org/drawingml/2006/main">
            <a:off x="800100" y="2000250"/>
            <a:ext cx="2286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700" b="1" i="0">
                <a:solidFill>
                  <a:srgbClr val="111111"/>
                </a:solidFill>
                <a:latin typeface="Helvetica Neue"/>
                <a:ea typeface="Helvetica Neue"/>
                <a:cs typeface="Helvetica Neue"/>
              </a:defRPr>
            </a:pPr>
            <a:r>
              <a:rPr sz="2700" b="1" i="0">
                <a:solidFill>
                  <a:srgbClr val="111111"/>
                </a:solidFill>
                <a:latin typeface="Helvetica Neue"/>
                <a:ea typeface="Helvetica Neue"/>
                <a:cs typeface="Helvetica Neue"/>
              </a:rPr>
              <a:t>One run</a:t>
            </a:r>
          </a:p>
        </p:txBody>
      </p:sp>
      <p:sp>
        <p:nvSpPr>
          <p:cNvPr id="6" name="">
            <a:extLst xmlns:a="http://schemas.openxmlformats.org/drawingml/2006/main">
              <a:ext uri="{FF2B5EF4-FFF2-40B4-BE49-F238E27FC236}">
                <a16:creationId xmlns:a16="http://schemas.microsoft.com/office/drawing/2014/main" id="{D27959BB-42E1-4A32-A336-9F809D28B51A}"/>
              </a:ext>
            </a:extLst>
          </p:cNvPr>
          <p:cNvSpPr>
            <a:spLocks xmlns:a="http://schemas.openxmlformats.org/drawingml/2006/main" noGrp="1"/>
          </p:cNvSpPr>
          <p:nvPr/>
        </p:nvSpPr>
        <p:spPr>
          <a:xfrm xmlns:a="http://schemas.openxmlformats.org/drawingml/2006/main">
            <a:off x="819150" y="2800350"/>
            <a:ext cx="3238500" cy="1200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8000"/>
              </a:lnSpc>
              <a:buNone/>
              <a:defRPr sz="2175" b="0" i="1">
                <a:solidFill>
                  <a:srgbClr val="12364A"/>
                </a:solidFill>
                <a:latin typeface="Helvetica Neue"/>
                <a:ea typeface="Helvetica Neue"/>
                <a:cs typeface="Helvetica Neue"/>
              </a:defRPr>
            </a:pPr>
            <a:r>
              <a:rPr sz="2175" b="0" i="1">
                <a:solidFill>
                  <a:srgbClr val="12364A"/>
                </a:solidFill>
                <a:latin typeface="Helvetica Neue"/>
                <a:ea typeface="Helvetica Neue"/>
                <a:cs typeface="Helvetica Neue"/>
              </a:rPr>
              <a:t>“Fable made something that looks like granular patterns.”</a:t>
            </a:r>
          </a:p>
        </p:txBody>
      </p:sp>
      <p:sp>
        <p:nvSpPr>
          <p:cNvPr id="7" name="">
            <a:extLst xmlns:a="http://schemas.openxmlformats.org/drawingml/2006/main">
              <a:ext uri="{FF2B5EF4-FFF2-40B4-BE49-F238E27FC236}">
                <a16:creationId xmlns:a16="http://schemas.microsoft.com/office/drawing/2014/main" id="{1202CB80-2C76-4FF9-9180-A86BC6A0D5EB}"/>
              </a:ext>
            </a:extLst>
          </p:cNvPr>
          <p:cNvSpPr>
            <a:spLocks xmlns:a="http://schemas.openxmlformats.org/drawingml/2006/main" noGrp="1"/>
          </p:cNvSpPr>
          <p:nvPr/>
        </p:nvSpPr>
        <p:spPr>
          <a:xfrm xmlns:a="http://schemas.openxmlformats.org/drawingml/2006/main">
            <a:off x="819150" y="46101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52616B"/>
                </a:solidFill>
                <a:latin typeface="Helvetica Neue"/>
                <a:ea typeface="Helvetica Neue"/>
                <a:cs typeface="Helvetica Neue"/>
              </a:defRPr>
            </a:pPr>
            <a:r>
              <a:rPr sz="1725" b="1" i="0">
                <a:solidFill>
                  <a:srgbClr val="52616B"/>
                </a:solidFill>
                <a:latin typeface="Helvetica Neue"/>
                <a:ea typeface="Helvetica Neue"/>
                <a:cs typeface="Helvetica Neue"/>
              </a:rPr>
              <a:t>Interesting anecdote</a:t>
            </a:r>
          </a:p>
        </p:txBody>
      </p:sp>
      <p:sp>
        <p:nvSpPr>
          <p:cNvPr id="8" name="">
            <a:extLst xmlns:a="http://schemas.openxmlformats.org/drawingml/2006/main">
              <a:ext uri="{FF2B5EF4-FFF2-40B4-BE49-F238E27FC236}">
                <a16:creationId xmlns:a16="http://schemas.microsoft.com/office/drawing/2014/main" id="{1AC0A73D-4107-4CD1-882C-E1AAE76895CF}"/>
              </a:ext>
            </a:extLst>
          </p:cNvPr>
          <p:cNvSpPr>
            <a:spLocks xmlns:a="http://schemas.openxmlformats.org/drawingml/2006/main" noGrp="1"/>
          </p:cNvSpPr>
          <p:nvPr/>
        </p:nvSpPr>
        <p:spPr>
          <a:xfrm xmlns:a="http://schemas.openxmlformats.org/drawingml/2006/main">
            <a:off x="4838700" y="3143250"/>
            <a:ext cx="1123950" cy="419100"/>
          </a:xfrm>
          <a:prstGeom xmlns:a="http://schemas.openxmlformats.org/drawingml/2006/main" prst="rightArrow">
            <a:avLst/>
          </a:prstGeom>
          <a:solidFill xmlns:a="http://schemas.openxmlformats.org/drawingml/2006/main">
            <a:srgbClr val="F57748"/>
          </a:solidFill>
          <a:ln xmlns:a="http://schemas.openxmlformats.org/drawingml/2006/main" w="9525">
            <a:solidFill>
              <a:srgbClr val="F57748"/>
            </a:solidFill>
            <a:prstDash val="solid"/>
          </a:ln>
        </p:spPr>
      </p:sp>
      <p:sp>
        <p:nvSpPr>
          <p:cNvPr id="9" name="">
            <a:extLst xmlns:a="http://schemas.openxmlformats.org/drawingml/2006/main">
              <a:ext uri="{FF2B5EF4-FFF2-40B4-BE49-F238E27FC236}">
                <a16:creationId xmlns:a16="http://schemas.microsoft.com/office/drawing/2014/main" id="{41E87E41-8E7E-4F8B-9B12-470317EBCD07}"/>
              </a:ext>
            </a:extLst>
          </p:cNvPr>
          <p:cNvSpPr>
            <a:spLocks xmlns:a="http://schemas.openxmlformats.org/drawingml/2006/main" noGrp="1"/>
          </p:cNvSpPr>
          <p:nvPr/>
        </p:nvSpPr>
        <p:spPr>
          <a:xfrm xmlns:a="http://schemas.openxmlformats.org/drawingml/2006/main">
            <a:off x="6305550" y="1619250"/>
            <a:ext cx="5410200" cy="3714750"/>
          </a:xfrm>
          <a:prstGeom xmlns:a="http://schemas.openxmlformats.org/drawingml/2006/main" prst="roundRect">
            <a:avLst>
              <a:gd name="adj" fmla="val 2051"/>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0182C967-5A61-4882-8949-890996D4C446}"/>
              </a:ext>
            </a:extLst>
          </p:cNvPr>
          <p:cNvSpPr>
            <a:spLocks xmlns:a="http://schemas.openxmlformats.org/drawingml/2006/main" noGrp="1"/>
          </p:cNvSpPr>
          <p:nvPr/>
        </p:nvSpPr>
        <p:spPr>
          <a:xfrm xmlns:a="http://schemas.openxmlformats.org/drawingml/2006/main">
            <a:off x="6648450" y="200025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700" b="1" i="0">
                <a:solidFill>
                  <a:srgbClr val="111111"/>
                </a:solidFill>
                <a:latin typeface="Helvetica Neue"/>
                <a:ea typeface="Helvetica Neue"/>
                <a:cs typeface="Helvetica Neue"/>
              </a:defRPr>
            </a:pPr>
            <a:r>
              <a:rPr sz="2700" b="1" i="0">
                <a:solidFill>
                  <a:srgbClr val="111111"/>
                </a:solidFill>
                <a:latin typeface="Helvetica Neue"/>
                <a:ea typeface="Helvetica Neue"/>
                <a:cs typeface="Helvetica Neue"/>
              </a:rPr>
              <a:t>Controlled comparison</a:t>
            </a:r>
          </a:p>
        </p:txBody>
      </p:sp>
      <p:sp>
        <p:nvSpPr>
          <p:cNvPr id="11" name="">
            <a:extLst xmlns:a="http://schemas.openxmlformats.org/drawingml/2006/main">
              <a:ext uri="{FF2B5EF4-FFF2-40B4-BE49-F238E27FC236}">
                <a16:creationId xmlns:a16="http://schemas.microsoft.com/office/drawing/2014/main" id="{7F44E3A8-0398-4F6A-97BB-B32BAAC2E68B}"/>
              </a:ext>
            </a:extLst>
          </p:cNvPr>
          <p:cNvSpPr>
            <a:spLocks xmlns:a="http://schemas.openxmlformats.org/drawingml/2006/main" noGrp="1"/>
          </p:cNvSpPr>
          <p:nvPr/>
        </p:nvSpPr>
        <p:spPr>
          <a:xfrm xmlns:a="http://schemas.openxmlformats.org/drawingml/2006/main">
            <a:off x="6705600" y="28765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79818E3-8B11-4BD6-841A-0140F7EBC3BA}"/>
              </a:ext>
            </a:extLst>
          </p:cNvPr>
          <p:cNvSpPr>
            <a:spLocks xmlns:a="http://schemas.openxmlformats.org/drawingml/2006/main" noGrp="1"/>
          </p:cNvSpPr>
          <p:nvPr/>
        </p:nvSpPr>
        <p:spPr>
          <a:xfrm xmlns:a="http://schemas.openxmlformats.org/drawingml/2006/main">
            <a:off x="6953250" y="280035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Same paper and prompt</a:t>
            </a:r>
          </a:p>
        </p:txBody>
      </p:sp>
      <p:sp>
        <p:nvSpPr>
          <p:cNvPr id="13" name="">
            <a:extLst xmlns:a="http://schemas.openxmlformats.org/drawingml/2006/main">
              <a:ext uri="{FF2B5EF4-FFF2-40B4-BE49-F238E27FC236}">
                <a16:creationId xmlns:a16="http://schemas.microsoft.com/office/drawing/2014/main" id="{1E843995-D0A1-484C-B632-0042F1CD3DEB}"/>
              </a:ext>
            </a:extLst>
          </p:cNvPr>
          <p:cNvSpPr>
            <a:spLocks xmlns:a="http://schemas.openxmlformats.org/drawingml/2006/main" noGrp="1"/>
          </p:cNvSpPr>
          <p:nvPr/>
        </p:nvSpPr>
        <p:spPr>
          <a:xfrm xmlns:a="http://schemas.openxmlformats.org/drawingml/2006/main">
            <a:off x="6705600" y="331470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5DC2DF2E-5CB8-4A85-9BE5-3947CD9BE324}"/>
              </a:ext>
            </a:extLst>
          </p:cNvPr>
          <p:cNvSpPr>
            <a:spLocks xmlns:a="http://schemas.openxmlformats.org/drawingml/2006/main" noGrp="1"/>
          </p:cNvSpPr>
          <p:nvPr/>
        </p:nvSpPr>
        <p:spPr>
          <a:xfrm xmlns:a="http://schemas.openxmlformats.org/drawingml/2006/main">
            <a:off x="6953250" y="323850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Same tools and compute envelope</a:t>
            </a:r>
          </a:p>
        </p:txBody>
      </p:sp>
      <p:sp>
        <p:nvSpPr>
          <p:cNvPr id="15" name="">
            <a:extLst xmlns:a="http://schemas.openxmlformats.org/drawingml/2006/main">
              <a:ext uri="{FF2B5EF4-FFF2-40B4-BE49-F238E27FC236}">
                <a16:creationId xmlns:a16="http://schemas.microsoft.com/office/drawing/2014/main" id="{3EE4BEC7-2A26-43A8-B07B-3BC1BA7F14E9}"/>
              </a:ext>
            </a:extLst>
          </p:cNvPr>
          <p:cNvSpPr>
            <a:spLocks xmlns:a="http://schemas.openxmlformats.org/drawingml/2006/main" noGrp="1"/>
          </p:cNvSpPr>
          <p:nvPr/>
        </p:nvSpPr>
        <p:spPr>
          <a:xfrm xmlns:a="http://schemas.openxmlformats.org/drawingml/2006/main">
            <a:off x="6705600" y="37528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3899399-3DA4-46F4-8775-B179B5B9BB55}"/>
              </a:ext>
            </a:extLst>
          </p:cNvPr>
          <p:cNvSpPr>
            <a:spLocks xmlns:a="http://schemas.openxmlformats.org/drawingml/2006/main" noGrp="1"/>
          </p:cNvSpPr>
          <p:nvPr/>
        </p:nvSpPr>
        <p:spPr>
          <a:xfrm xmlns:a="http://schemas.openxmlformats.org/drawingml/2006/main">
            <a:off x="6953250" y="367665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Same output contract</a:t>
            </a:r>
          </a:p>
        </p:txBody>
      </p:sp>
      <p:sp>
        <p:nvSpPr>
          <p:cNvPr id="17" name="">
            <a:extLst xmlns:a="http://schemas.openxmlformats.org/drawingml/2006/main">
              <a:ext uri="{FF2B5EF4-FFF2-40B4-BE49-F238E27FC236}">
                <a16:creationId xmlns:a16="http://schemas.microsoft.com/office/drawing/2014/main" id="{EA9DD369-828D-49F3-8C04-320765B0E7EA}"/>
              </a:ext>
            </a:extLst>
          </p:cNvPr>
          <p:cNvSpPr>
            <a:spLocks xmlns:a="http://schemas.openxmlformats.org/drawingml/2006/main" noGrp="1"/>
          </p:cNvSpPr>
          <p:nvPr/>
        </p:nvSpPr>
        <p:spPr>
          <a:xfrm xmlns:a="http://schemas.openxmlformats.org/drawingml/2006/main">
            <a:off x="6705600" y="419100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6BA520-9D4B-49B3-9553-42EF5647C746}"/>
              </a:ext>
            </a:extLst>
          </p:cNvPr>
          <p:cNvSpPr>
            <a:spLocks xmlns:a="http://schemas.openxmlformats.org/drawingml/2006/main" noGrp="1"/>
          </p:cNvSpPr>
          <p:nvPr/>
        </p:nvSpPr>
        <p:spPr>
          <a:xfrm xmlns:a="http://schemas.openxmlformats.org/drawingml/2006/main">
            <a:off x="6953250" y="411480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Same deterministic evaluator</a:t>
            </a:r>
          </a:p>
        </p:txBody>
      </p:sp>
      <p:sp>
        <p:nvSpPr>
          <p:cNvPr id="19" name="">
            <a:extLst xmlns:a="http://schemas.openxmlformats.org/drawingml/2006/main">
              <a:ext uri="{FF2B5EF4-FFF2-40B4-BE49-F238E27FC236}">
                <a16:creationId xmlns:a16="http://schemas.microsoft.com/office/drawing/2014/main" id="{908EC8B2-781A-48BD-B7C0-58C3534671D9}"/>
              </a:ext>
            </a:extLst>
          </p:cNvPr>
          <p:cNvSpPr>
            <a:spLocks xmlns:a="http://schemas.openxmlformats.org/drawingml/2006/main" noGrp="1"/>
          </p:cNvSpPr>
          <p:nvPr/>
        </p:nvSpPr>
        <p:spPr>
          <a:xfrm xmlns:a="http://schemas.openxmlformats.org/drawingml/2006/main">
            <a:off x="6705600" y="46291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6B2FC5BA-8085-42BD-906B-AABA71E2A372}"/>
              </a:ext>
            </a:extLst>
          </p:cNvPr>
          <p:cNvSpPr>
            <a:spLocks xmlns:a="http://schemas.openxmlformats.org/drawingml/2006/main" noGrp="1"/>
          </p:cNvSpPr>
          <p:nvPr/>
        </p:nvSpPr>
        <p:spPr>
          <a:xfrm xmlns:a="http://schemas.openxmlformats.org/drawingml/2006/main">
            <a:off x="6953250" y="4552950"/>
            <a:ext cx="3924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0" i="0">
                <a:solidFill>
                  <a:srgbClr val="111111"/>
                </a:solidFill>
                <a:latin typeface="Helvetica Neue"/>
                <a:ea typeface="Helvetica Neue"/>
                <a:cs typeface="Helvetica Neue"/>
              </a:defRPr>
            </a:pPr>
            <a:r>
              <a:rPr sz="1800" b="0" i="0">
                <a:solidFill>
                  <a:srgbClr val="111111"/>
                </a:solidFill>
                <a:latin typeface="Helvetica Neue"/>
                <a:ea typeface="Helvetica Neue"/>
                <a:cs typeface="Helvetica Neue"/>
              </a:rPr>
              <a:t>Same qualitative code review</a:t>
            </a:r>
          </a:p>
        </p:txBody>
      </p:sp>
      <p:sp>
        <p:nvSpPr>
          <p:cNvPr id="21" name="">
            <a:extLst xmlns:a="http://schemas.openxmlformats.org/drawingml/2006/main">
              <a:ext uri="{FF2B5EF4-FFF2-40B4-BE49-F238E27FC236}">
                <a16:creationId xmlns:a16="http://schemas.microsoft.com/office/drawing/2014/main" id="{B4E0714D-BAFA-4E68-B0DA-E534B41B469F}"/>
              </a:ext>
            </a:extLst>
          </p:cNvPr>
          <p:cNvSpPr>
            <a:spLocks xmlns:a="http://schemas.openxmlformats.org/drawingml/2006/main" noGrp="1"/>
          </p:cNvSpPr>
          <p:nvPr/>
        </p:nvSpPr>
        <p:spPr>
          <a:xfrm xmlns:a="http://schemas.openxmlformats.org/drawingml/2006/main">
            <a:off x="6705600" y="4972050"/>
            <a:ext cx="4171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3D8DFF"/>
                </a:solidFill>
                <a:latin typeface="Helvetica Neue"/>
                <a:ea typeface="Helvetica Neue"/>
                <a:cs typeface="Helvetica Neue"/>
              </a:defRPr>
            </a:pPr>
            <a:r>
              <a:rPr sz="1725" b="1" i="0">
                <a:solidFill>
                  <a:srgbClr val="3D8DFF"/>
                </a:solidFill>
                <a:latin typeface="Helvetica Neue"/>
                <a:ea typeface="Helvetica Neue"/>
                <a:cs typeface="Helvetica Neue"/>
              </a:rPr>
              <a:t>Evidence about model behavior</a:t>
            </a:r>
          </a:p>
        </p:txBody>
      </p:sp>
    </p:spTree>
    <p:extLst>
      <p:ext uri="{BB962C8B-B14F-4D97-AF65-F5344CB8AC3E}">
        <p14:creationId xmlns:p14="http://schemas.microsoft.com/office/powerpoint/2010/main" val="481331595"/>
      </p:ext>
    </p:extLst>
  </p:cSld>
</p:sld>
</file>

<file path=ppt/slides/slide15.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BDE264F-BDEE-4B62-B655-AF30216B5B1D}"/>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A SECOND QUESTION</a:t>
            </a:r>
          </a:p>
        </p:txBody>
      </p:sp>
      <p:sp>
        <p:nvSpPr>
          <p:cNvPr id="2" name="">
            <a:extLst xmlns:a="http://schemas.openxmlformats.org/drawingml/2006/main">
              <a:ext uri="{FF2B5EF4-FFF2-40B4-BE49-F238E27FC236}">
                <a16:creationId xmlns:a16="http://schemas.microsoft.com/office/drawing/2014/main" id="{8CCE1890-1E5D-400C-93F4-963343376D70}"/>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174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More reasoning effort may help—or produce elaborate wrong turns.</a:t>
            </a:r>
          </a:p>
        </p:txBody>
      </p:sp>
      <p:sp>
        <p:nvSpPr>
          <p:cNvPr id="3" name="">
            <a:extLst xmlns:a="http://schemas.openxmlformats.org/drawingml/2006/main">
              <a:ext uri="{FF2B5EF4-FFF2-40B4-BE49-F238E27FC236}">
                <a16:creationId xmlns:a16="http://schemas.microsoft.com/office/drawing/2014/main" id="{10A682EB-532F-42CA-BDEE-AAE7199FB372}"/>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15</a:t>
            </a:r>
          </a:p>
        </p:txBody>
      </p:sp>
      <p:sp>
        <p:nvSpPr>
          <p:cNvPr id="4" name="">
            <a:extLst xmlns:a="http://schemas.openxmlformats.org/drawingml/2006/main">
              <a:ext uri="{FF2B5EF4-FFF2-40B4-BE49-F238E27FC236}">
                <a16:creationId xmlns:a16="http://schemas.microsoft.com/office/drawing/2014/main" id="{BC6FD748-FC5A-451D-8874-3198211B3409}"/>
              </a:ext>
            </a:extLst>
          </p:cNvPr>
          <p:cNvSpPr>
            <a:spLocks xmlns:a="http://schemas.openxmlformats.org/drawingml/2006/main" noGrp="1"/>
          </p:cNvSpPr>
          <p:nvPr/>
        </p:nvSpPr>
        <p:spPr>
          <a:xfrm xmlns:a="http://schemas.openxmlformats.org/drawingml/2006/main">
            <a:off x="876300" y="4114800"/>
            <a:ext cx="2571750" cy="1238250"/>
          </a:xfrm>
          <a:prstGeom xmlns:a="http://schemas.openxmlformats.org/drawingml/2006/main" prst="roundRect">
            <a:avLst>
              <a:gd name="adj" fmla="val 6154"/>
            </a:avLst>
          </a:prstGeom>
          <a:solidFill xmlns:a="http://schemas.openxmlformats.org/drawingml/2006/main">
            <a:srgbClr val="BBDDF1"/>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67F8B83-2F13-47E9-A4B3-10D773C37DC3}"/>
              </a:ext>
            </a:extLst>
          </p:cNvPr>
          <p:cNvSpPr>
            <a:spLocks xmlns:a="http://schemas.openxmlformats.org/drawingml/2006/main" noGrp="1"/>
          </p:cNvSpPr>
          <p:nvPr/>
        </p:nvSpPr>
        <p:spPr>
          <a:xfrm xmlns:a="http://schemas.openxmlformats.org/drawingml/2006/main">
            <a:off x="1066800" y="43434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LOW</a:t>
            </a:r>
          </a:p>
        </p:txBody>
      </p:sp>
      <p:sp>
        <p:nvSpPr>
          <p:cNvPr id="6" name="">
            <a:extLst xmlns:a="http://schemas.openxmlformats.org/drawingml/2006/main">
              <a:ext uri="{FF2B5EF4-FFF2-40B4-BE49-F238E27FC236}">
                <a16:creationId xmlns:a16="http://schemas.microsoft.com/office/drawing/2014/main" id="{A03450D9-64FB-42FA-ABB9-5F7A257EBED5}"/>
              </a:ext>
            </a:extLst>
          </p:cNvPr>
          <p:cNvSpPr>
            <a:spLocks xmlns:a="http://schemas.openxmlformats.org/drawingml/2006/main" noGrp="1"/>
          </p:cNvSpPr>
          <p:nvPr/>
        </p:nvSpPr>
        <p:spPr>
          <a:xfrm xmlns:a="http://schemas.openxmlformats.org/drawingml/2006/main">
            <a:off x="1066800" y="48387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63776"/>
          </a:bodyPr>
          <a:lstStyle xmlns:a="http://schemas.openxmlformats.org/drawingml/2006/main"/>
          <a:p xmlns:a="http://schemas.openxmlformats.org/drawingml/2006/main">
            <a:pPr algn="l">
              <a:lnSpc>
                <a:spcPct val="112000"/>
              </a:lnSpc>
              <a:buNone/>
              <a:defRPr sz="1575" b="0" i="0">
                <a:solidFill>
                  <a:srgbClr val="12364A"/>
                </a:solidFill>
                <a:latin typeface="Helvetica Neue"/>
                <a:ea typeface="Helvetica Neue"/>
                <a:cs typeface="Helvetica Neue"/>
              </a:defRPr>
            </a:pPr>
            <a:r>
              <a:rPr sz="1575" b="0" i="0">
                <a:solidFill>
                  <a:srgbClr val="12364A"/>
                </a:solidFill>
                <a:latin typeface="Helvetica Neue"/>
                <a:ea typeface="Helvetica Neue"/>
                <a:cs typeface="Helvetica Neue"/>
              </a:rPr>
              <a:t>Moves quickly.</a:t>
            </a:r>
          </a:p>
          <a:p xmlns:a="http://schemas.openxmlformats.org/drawingml/2006/main">
            <a:pPr algn="l">
              <a:lnSpc>
                <a:spcPct val="112000"/>
              </a:lnSpc>
              <a:buNone/>
              <a:defRPr sz="1575" b="0" i="0">
                <a:solidFill>
                  <a:srgbClr val="12364A"/>
                </a:solidFill>
                <a:latin typeface="Helvetica Neue"/>
                <a:ea typeface="Helvetica Neue"/>
                <a:cs typeface="Helvetica Neue"/>
              </a:defRPr>
            </a:pPr>
            <a:r>
              <a:rPr sz="1575" b="0" i="0">
                <a:solidFill>
                  <a:srgbClr val="12364A"/>
                </a:solidFill>
                <a:latin typeface="Helvetica Neue"/>
                <a:ea typeface="Helvetica Neue"/>
                <a:cs typeface="Helvetica Neue"/>
              </a:rPr>
              <a:t>May miss the algorithm.</a:t>
            </a:r>
          </a:p>
        </p:txBody>
      </p:sp>
      <p:sp>
        <p:nvSpPr>
          <p:cNvPr id="7" name="">
            <a:extLst xmlns:a="http://schemas.openxmlformats.org/drawingml/2006/main">
              <a:ext uri="{FF2B5EF4-FFF2-40B4-BE49-F238E27FC236}">
                <a16:creationId xmlns:a16="http://schemas.microsoft.com/office/drawing/2014/main" id="{6D40D2B8-59EE-4FC4-AB2F-3F125F7CA39D}"/>
              </a:ext>
            </a:extLst>
          </p:cNvPr>
          <p:cNvSpPr>
            <a:spLocks xmlns:a="http://schemas.openxmlformats.org/drawingml/2006/main" noGrp="1"/>
          </p:cNvSpPr>
          <p:nvPr/>
        </p:nvSpPr>
        <p:spPr>
          <a:xfrm xmlns:a="http://schemas.openxmlformats.org/drawingml/2006/main">
            <a:off x="4095750" y="3162300"/>
            <a:ext cx="2571750" cy="2190750"/>
          </a:xfrm>
          <a:prstGeom xmlns:a="http://schemas.openxmlformats.org/drawingml/2006/main" prst="roundRect">
            <a:avLst>
              <a:gd name="adj" fmla="val 3478"/>
            </a:avLst>
          </a:prstGeom>
          <a:solidFill xmlns:a="http://schemas.openxmlformats.org/drawingml/2006/main">
            <a:srgbClr val="6DCBF4"/>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54D8862-BF85-4372-A298-DF2BDA064103}"/>
              </a:ext>
            </a:extLst>
          </p:cNvPr>
          <p:cNvSpPr>
            <a:spLocks xmlns:a="http://schemas.openxmlformats.org/drawingml/2006/main" noGrp="1"/>
          </p:cNvSpPr>
          <p:nvPr/>
        </p:nvSpPr>
        <p:spPr>
          <a:xfrm xmlns:a="http://schemas.openxmlformats.org/drawingml/2006/main">
            <a:off x="4286250" y="339090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HIGH</a:t>
            </a:r>
          </a:p>
        </p:txBody>
      </p:sp>
      <p:sp>
        <p:nvSpPr>
          <p:cNvPr id="9" name="">
            <a:extLst xmlns:a="http://schemas.openxmlformats.org/drawingml/2006/main">
              <a:ext uri="{FF2B5EF4-FFF2-40B4-BE49-F238E27FC236}">
                <a16:creationId xmlns:a16="http://schemas.microsoft.com/office/drawing/2014/main" id="{5639816E-DCDA-4F69-9362-5B4B5BF91829}"/>
              </a:ext>
            </a:extLst>
          </p:cNvPr>
          <p:cNvSpPr>
            <a:spLocks xmlns:a="http://schemas.openxmlformats.org/drawingml/2006/main" noGrp="1"/>
          </p:cNvSpPr>
          <p:nvPr/>
        </p:nvSpPr>
        <p:spPr>
          <a:xfrm xmlns:a="http://schemas.openxmlformats.org/drawingml/2006/main">
            <a:off x="4286250" y="3886200"/>
            <a:ext cx="21907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12364A"/>
                </a:solidFill>
                <a:latin typeface="Helvetica Neue"/>
                <a:ea typeface="Helvetica Neue"/>
                <a:cs typeface="Helvetica Neue"/>
              </a:defRPr>
            </a:pPr>
            <a:r>
              <a:rPr sz="1575" b="0" i="0">
                <a:solidFill>
                  <a:srgbClr val="12364A"/>
                </a:solidFill>
                <a:latin typeface="Helvetica Neue"/>
                <a:ea typeface="Helvetica Neue"/>
                <a:cs typeface="Helvetica Neue"/>
              </a:rPr>
              <a:t>More exploration.</a:t>
            </a:r>
          </a:p>
          <a:p xmlns:a="http://schemas.openxmlformats.org/drawingml/2006/main">
            <a:pPr algn="l">
              <a:lnSpc>
                <a:spcPct val="112000"/>
              </a:lnSpc>
              <a:buNone/>
              <a:defRPr sz="1575" b="0" i="0">
                <a:solidFill>
                  <a:srgbClr val="12364A"/>
                </a:solidFill>
                <a:latin typeface="Helvetica Neue"/>
                <a:ea typeface="Helvetica Neue"/>
                <a:cs typeface="Helvetica Neue"/>
              </a:defRPr>
            </a:pPr>
            <a:r>
              <a:rPr sz="1575" b="0" i="0">
                <a:solidFill>
                  <a:srgbClr val="12364A"/>
                </a:solidFill>
                <a:latin typeface="Helvetica Neue"/>
                <a:ea typeface="Helvetica Neue"/>
                <a:cs typeface="Helvetica Neue"/>
              </a:rPr>
              <a:t>Potentially better reconstruction.</a:t>
            </a:r>
          </a:p>
        </p:txBody>
      </p:sp>
      <p:sp>
        <p:nvSpPr>
          <p:cNvPr id="10" name="">
            <a:extLst xmlns:a="http://schemas.openxmlformats.org/drawingml/2006/main">
              <a:ext uri="{FF2B5EF4-FFF2-40B4-BE49-F238E27FC236}">
                <a16:creationId xmlns:a16="http://schemas.microsoft.com/office/drawing/2014/main" id="{A5937807-0B09-4A09-97EC-1427EAAB6AAB}"/>
              </a:ext>
            </a:extLst>
          </p:cNvPr>
          <p:cNvSpPr>
            <a:spLocks xmlns:a="http://schemas.openxmlformats.org/drawingml/2006/main" noGrp="1"/>
          </p:cNvSpPr>
          <p:nvPr/>
        </p:nvSpPr>
        <p:spPr>
          <a:xfrm xmlns:a="http://schemas.openxmlformats.org/drawingml/2006/main">
            <a:off x="7315200" y="2114550"/>
            <a:ext cx="2571750" cy="3238500"/>
          </a:xfrm>
          <a:prstGeom xmlns:a="http://schemas.openxmlformats.org/drawingml/2006/main" prst="roundRect">
            <a:avLst>
              <a:gd name="adj" fmla="val 2963"/>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5B6EE9CF-7883-41AE-AEDC-905860D099DD}"/>
              </a:ext>
            </a:extLst>
          </p:cNvPr>
          <p:cNvSpPr>
            <a:spLocks xmlns:a="http://schemas.openxmlformats.org/drawingml/2006/main" noGrp="1"/>
          </p:cNvSpPr>
          <p:nvPr/>
        </p:nvSpPr>
        <p:spPr>
          <a:xfrm xmlns:a="http://schemas.openxmlformats.org/drawingml/2006/main">
            <a:off x="7505700" y="2343150"/>
            <a:ext cx="2190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FFFFFF"/>
                </a:solidFill>
                <a:latin typeface="Helvetica Neue"/>
                <a:ea typeface="Helvetica Neue"/>
                <a:cs typeface="Helvetica Neue"/>
              </a:defRPr>
            </a:pPr>
            <a:r>
              <a:rPr sz="2025" b="1" i="0">
                <a:solidFill>
                  <a:srgbClr val="FFFFFF"/>
                </a:solidFill>
                <a:latin typeface="Helvetica Neue"/>
                <a:ea typeface="Helvetica Neue"/>
                <a:cs typeface="Helvetica Neue"/>
              </a:rPr>
              <a:t>XHIGH / MAX</a:t>
            </a:r>
          </a:p>
        </p:txBody>
      </p:sp>
      <p:sp>
        <p:nvSpPr>
          <p:cNvPr id="12" name="">
            <a:extLst xmlns:a="http://schemas.openxmlformats.org/drawingml/2006/main">
              <a:ext uri="{FF2B5EF4-FFF2-40B4-BE49-F238E27FC236}">
                <a16:creationId xmlns:a16="http://schemas.microsoft.com/office/drawing/2014/main" id="{FC94A9B6-040B-4660-A08D-30557075AC3D}"/>
              </a:ext>
            </a:extLst>
          </p:cNvPr>
          <p:cNvSpPr>
            <a:spLocks xmlns:a="http://schemas.openxmlformats.org/drawingml/2006/main" noGrp="1"/>
          </p:cNvSpPr>
          <p:nvPr/>
        </p:nvSpPr>
        <p:spPr>
          <a:xfrm xmlns:a="http://schemas.openxmlformats.org/drawingml/2006/main">
            <a:off x="7505700" y="2838450"/>
            <a:ext cx="2190750" cy="2343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E4F4FB"/>
                </a:solidFill>
                <a:latin typeface="Helvetica Neue"/>
                <a:ea typeface="Helvetica Neue"/>
                <a:cs typeface="Helvetica Neue"/>
              </a:defRPr>
            </a:pPr>
            <a:r>
              <a:rPr sz="1575" b="0" i="0">
                <a:solidFill>
                  <a:srgbClr val="E4F4FB"/>
                </a:solidFill>
                <a:latin typeface="Helvetica Neue"/>
                <a:ea typeface="Helvetica Neue"/>
                <a:cs typeface="Helvetica Neue"/>
              </a:rPr>
              <a:t>More time and context.</a:t>
            </a:r>
          </a:p>
          <a:p xmlns:a="http://schemas.openxmlformats.org/drawingml/2006/main">
            <a:pPr algn="l">
              <a:lnSpc>
                <a:spcPct val="112000"/>
              </a:lnSpc>
              <a:buNone/>
              <a:defRPr sz="1575" b="0" i="0">
                <a:solidFill>
                  <a:srgbClr val="E4F4FB"/>
                </a:solidFill>
                <a:latin typeface="Helvetica Neue"/>
                <a:ea typeface="Helvetica Neue"/>
                <a:cs typeface="Helvetica Neue"/>
              </a:defRPr>
            </a:pPr>
            <a:r>
              <a:rPr sz="1575" b="0" i="0">
                <a:solidFill>
                  <a:srgbClr val="E4F4FB"/>
                </a:solidFill>
                <a:latin typeface="Helvetica Neue"/>
                <a:ea typeface="Helvetica Neue"/>
                <a:cs typeface="Helvetica Neue"/>
              </a:rPr>
              <a:t>Also more opportunity to rationalize a bad approach.</a:t>
            </a:r>
          </a:p>
        </p:txBody>
      </p:sp>
      <p:sp>
        <p:nvSpPr>
          <p:cNvPr id="13" name="">
            <a:extLst xmlns:a="http://schemas.openxmlformats.org/drawingml/2006/main">
              <a:ext uri="{FF2B5EF4-FFF2-40B4-BE49-F238E27FC236}">
                <a16:creationId xmlns:a16="http://schemas.microsoft.com/office/drawing/2014/main" id="{0BC9BC13-48E7-4DAB-B4DA-D83DA60833C7}"/>
              </a:ext>
            </a:extLst>
          </p:cNvPr>
          <p:cNvSpPr>
            <a:spLocks xmlns:a="http://schemas.openxmlformats.org/drawingml/2006/main" noGrp="1"/>
          </p:cNvSpPr>
          <p:nvPr/>
        </p:nvSpPr>
        <p:spPr>
          <a:xfrm xmlns:a="http://schemas.openxmlformats.org/drawingml/2006/main">
            <a:off x="933450" y="5857875"/>
            <a:ext cx="904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00" b="1" i="0">
                <a:solidFill>
                  <a:srgbClr val="111111"/>
                </a:solidFill>
                <a:latin typeface="Helvetica Neue"/>
                <a:ea typeface="Helvetica Neue"/>
                <a:cs typeface="Helvetica Neue"/>
              </a:defRPr>
            </a:pPr>
            <a:r>
              <a:rPr sz="2100" b="1" i="0">
                <a:solidFill>
                  <a:srgbClr val="111111"/>
                </a:solidFill>
                <a:latin typeface="Helvetica Neue"/>
                <a:ea typeface="Helvetica Neue"/>
                <a:cs typeface="Helvetica Neue"/>
              </a:rPr>
              <a:t>This is an empirical question, not a slogan about model quality.</a:t>
            </a:r>
          </a:p>
        </p:txBody>
      </p:sp>
    </p:spTree>
    <p:extLst>
      <p:ext uri="{BB962C8B-B14F-4D97-AF65-F5344CB8AC3E}">
        <p14:creationId xmlns:p14="http://schemas.microsoft.com/office/powerpoint/2010/main" val="2044898824"/>
      </p:ext>
    </p:extLst>
  </p:cSld>
</p:sld>
</file>

<file path=ppt/slides/slide16.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92D28564-8F18-419A-A53B-68D4A8B511AD}"/>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CAMPAIGN</a:t>
            </a:r>
          </a:p>
        </p:txBody>
      </p:sp>
      <p:sp>
        <p:nvSpPr>
          <p:cNvPr id="2" name="">
            <a:extLst xmlns:a="http://schemas.openxmlformats.org/drawingml/2006/main">
              <a:ext uri="{FF2B5EF4-FFF2-40B4-BE49-F238E27FC236}">
                <a16:creationId xmlns:a16="http://schemas.microsoft.com/office/drawing/2014/main" id="{734BD0C1-190B-4802-9E01-7CE2BC973937}"/>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087"/>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So we threw the kitchen sink at one consistent challenge.</a:t>
            </a:r>
          </a:p>
        </p:txBody>
      </p:sp>
      <p:sp>
        <p:nvSpPr>
          <p:cNvPr id="3" name="">
            <a:extLst xmlns:a="http://schemas.openxmlformats.org/drawingml/2006/main">
              <a:ext uri="{FF2B5EF4-FFF2-40B4-BE49-F238E27FC236}">
                <a16:creationId xmlns:a16="http://schemas.microsoft.com/office/drawing/2014/main" id="{B1D55EB6-ACAA-4C81-AEE8-A1BD1DAFFA07}"/>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16</a:t>
            </a:r>
          </a:p>
        </p:txBody>
      </p:sp>
      <p:sp>
        <p:nvSpPr>
          <p:cNvPr id="4" name="">
            <a:extLst xmlns:a="http://schemas.openxmlformats.org/drawingml/2006/main">
              <a:ext uri="{FF2B5EF4-FFF2-40B4-BE49-F238E27FC236}">
                <a16:creationId xmlns:a16="http://schemas.microsoft.com/office/drawing/2014/main" id="{BD60019D-754F-48F1-AEE4-0174ED195607}"/>
              </a:ext>
            </a:extLst>
          </p:cNvPr>
          <p:cNvSpPr>
            <a:spLocks xmlns:a="http://schemas.openxmlformats.org/drawingml/2006/main" noGrp="1"/>
          </p:cNvSpPr>
          <p:nvPr/>
        </p:nvSpPr>
        <p:spPr>
          <a:xfrm xmlns:a="http://schemas.openxmlformats.org/drawingml/2006/main">
            <a:off x="400050" y="1447800"/>
            <a:ext cx="11391900" cy="4191000"/>
          </a:xfrm>
          <a:prstGeom xmlns:a="http://schemas.openxmlformats.org/drawingml/2006/main" prst="roundRect">
            <a:avLst>
              <a:gd name="adj" fmla="val 1818"/>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8BA335E-6BE4-4F2E-A173-F33C66D17AFA}"/>
              </a:ext>
            </a:extLst>
          </p:cNvPr>
          <p:cNvSpPr>
            <a:spLocks xmlns:a="http://schemas.openxmlformats.org/drawingml/2006/main" noGrp="1"/>
          </p:cNvSpPr>
          <p:nvPr/>
        </p:nvSpPr>
        <p:spPr>
          <a:xfrm xmlns:a="http://schemas.openxmlformats.org/drawingml/2006/main">
            <a:off x="742950" y="17335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3D8DFF"/>
                </a:solidFill>
                <a:latin typeface="Helvetica Neue"/>
                <a:ea typeface="Helvetica Neue"/>
                <a:cs typeface="Helvetica Neue"/>
              </a:defRPr>
            </a:pPr>
            <a:r>
              <a:rPr sz="1950" b="1" i="0">
                <a:solidFill>
                  <a:srgbClr val="3D8DFF"/>
                </a:solidFill>
                <a:latin typeface="Helvetica Neue"/>
                <a:ea typeface="Helvetica Neue"/>
                <a:cs typeface="Helvetica Neue"/>
              </a:rPr>
              <a:t>CODEX</a:t>
            </a:r>
          </a:p>
        </p:txBody>
      </p:sp>
      <p:sp>
        <p:nvSpPr>
          <p:cNvPr id="6" name="">
            <a:extLst xmlns:a="http://schemas.openxmlformats.org/drawingml/2006/main">
              <a:ext uri="{FF2B5EF4-FFF2-40B4-BE49-F238E27FC236}">
                <a16:creationId xmlns:a16="http://schemas.microsoft.com/office/drawing/2014/main" id="{DE39B369-7D85-447E-BA8C-E6F057C8D446}"/>
              </a:ext>
            </a:extLst>
          </p:cNvPr>
          <p:cNvSpPr>
            <a:spLocks xmlns:a="http://schemas.openxmlformats.org/drawingml/2006/main" noGrp="1"/>
          </p:cNvSpPr>
          <p:nvPr/>
        </p:nvSpPr>
        <p:spPr>
          <a:xfrm xmlns:a="http://schemas.openxmlformats.org/drawingml/2006/main">
            <a:off x="6572250" y="1733550"/>
            <a:ext cx="1524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950" b="1" i="0">
                <a:solidFill>
                  <a:srgbClr val="F57748"/>
                </a:solidFill>
                <a:latin typeface="Helvetica Neue"/>
                <a:ea typeface="Helvetica Neue"/>
                <a:cs typeface="Helvetica Neue"/>
              </a:defRPr>
            </a:pPr>
            <a:r>
              <a:rPr sz="1950" b="1" i="0">
                <a:solidFill>
                  <a:srgbClr val="F57748"/>
                </a:solidFill>
                <a:latin typeface="Helvetica Neue"/>
                <a:ea typeface="Helvetica Neue"/>
                <a:cs typeface="Helvetica Neue"/>
              </a:rPr>
              <a:t>CLAUDE</a:t>
            </a:r>
          </a:p>
        </p:txBody>
      </p:sp>
      <p:cxnSp>
        <p:nvCxnSpPr>
          <p:cNvPr id="42" name=""/>
          <p:cNvCxnSpPr/>
          <p:nvPr/>
        </p:nvCxnSpPr>
        <p:spPr>
          <a:xfrm xmlns:a="http://schemas.openxmlformats.org/drawingml/2006/main">
            <a:off x="6096000" y="1676400"/>
            <a:ext cx="0" cy="3619500"/>
          </a:xfrm>
          <a:prstGeom xmlns:a="http://schemas.openxmlformats.org/drawingml/2006/main" prst="straightConnector1">
            <a:avLst/>
          </a:prstGeom>
          <a:ln xmlns:a="http://schemas.openxmlformats.org/drawingml/2006/main" w="19050">
            <a:solidFill>
              <a:srgbClr val="B8BCC4"/>
            </a:solidFill>
            <a:prstDash val="solid"/>
          </a:ln>
        </p:spPr>
      </p:cxnSp>
      <p:sp>
        <p:nvSpPr>
          <p:cNvPr id="8" name="">
            <a:extLst xmlns:a="http://schemas.openxmlformats.org/drawingml/2006/main">
              <a:ext uri="{FF2B5EF4-FFF2-40B4-BE49-F238E27FC236}">
                <a16:creationId xmlns:a16="http://schemas.microsoft.com/office/drawing/2014/main" id="{1E139D93-CFD2-44FD-82D3-2CAA7A014732}"/>
              </a:ext>
            </a:extLst>
          </p:cNvPr>
          <p:cNvSpPr>
            <a:spLocks xmlns:a="http://schemas.openxmlformats.org/drawingml/2006/main" noGrp="1"/>
          </p:cNvSpPr>
          <p:nvPr/>
        </p:nvSpPr>
        <p:spPr>
          <a:xfrm xmlns:a="http://schemas.openxmlformats.org/drawingml/2006/main">
            <a:off x="742950" y="2324100"/>
            <a:ext cx="47625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BC617E4-69FD-42A3-9DF3-BEF7B7F0479F}"/>
              </a:ext>
            </a:extLst>
          </p:cNvPr>
          <p:cNvSpPr>
            <a:spLocks xmlns:a="http://schemas.openxmlformats.org/drawingml/2006/main" noGrp="1"/>
          </p:cNvSpPr>
          <p:nvPr/>
        </p:nvSpPr>
        <p:spPr>
          <a:xfrm xmlns:a="http://schemas.openxmlformats.org/drawingml/2006/main">
            <a:off x="933450" y="24193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5.6 Sol</a:t>
            </a:r>
          </a:p>
        </p:txBody>
      </p:sp>
      <p:sp>
        <p:nvSpPr>
          <p:cNvPr id="10" name="">
            <a:extLst xmlns:a="http://schemas.openxmlformats.org/drawingml/2006/main">
              <a:ext uri="{FF2B5EF4-FFF2-40B4-BE49-F238E27FC236}">
                <a16:creationId xmlns:a16="http://schemas.microsoft.com/office/drawing/2014/main" id="{B36A9776-DFA8-4C00-AC81-61546E590644}"/>
              </a:ext>
            </a:extLst>
          </p:cNvPr>
          <p:cNvSpPr>
            <a:spLocks xmlns:a="http://schemas.openxmlformats.org/drawingml/2006/main" noGrp="1"/>
          </p:cNvSpPr>
          <p:nvPr/>
        </p:nvSpPr>
        <p:spPr>
          <a:xfrm xmlns:a="http://schemas.openxmlformats.org/drawingml/2006/main">
            <a:off x="3219450" y="24193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xhigh</a:t>
            </a:r>
          </a:p>
        </p:txBody>
      </p:sp>
      <p:sp>
        <p:nvSpPr>
          <p:cNvPr id="11" name="">
            <a:extLst xmlns:a="http://schemas.openxmlformats.org/drawingml/2006/main">
              <a:ext uri="{FF2B5EF4-FFF2-40B4-BE49-F238E27FC236}">
                <a16:creationId xmlns:a16="http://schemas.microsoft.com/office/drawing/2014/main" id="{78FE1901-2142-47CC-9A77-0316728B8E8C}"/>
              </a:ext>
            </a:extLst>
          </p:cNvPr>
          <p:cNvSpPr>
            <a:spLocks xmlns:a="http://schemas.openxmlformats.org/drawingml/2006/main" noGrp="1"/>
          </p:cNvSpPr>
          <p:nvPr/>
        </p:nvSpPr>
        <p:spPr>
          <a:xfrm xmlns:a="http://schemas.openxmlformats.org/drawingml/2006/main">
            <a:off x="742950" y="2914650"/>
            <a:ext cx="47625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47C6B59-6F23-4073-9355-31E14FD3DE8B}"/>
              </a:ext>
            </a:extLst>
          </p:cNvPr>
          <p:cNvSpPr>
            <a:spLocks xmlns:a="http://schemas.openxmlformats.org/drawingml/2006/main" noGrp="1"/>
          </p:cNvSpPr>
          <p:nvPr/>
        </p:nvSpPr>
        <p:spPr>
          <a:xfrm xmlns:a="http://schemas.openxmlformats.org/drawingml/2006/main">
            <a:off x="933450" y="30099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5.6 Terra</a:t>
            </a:r>
          </a:p>
        </p:txBody>
      </p:sp>
      <p:sp>
        <p:nvSpPr>
          <p:cNvPr id="13" name="">
            <a:extLst xmlns:a="http://schemas.openxmlformats.org/drawingml/2006/main">
              <a:ext uri="{FF2B5EF4-FFF2-40B4-BE49-F238E27FC236}">
                <a16:creationId xmlns:a16="http://schemas.microsoft.com/office/drawing/2014/main" id="{FAF14953-6A44-4D9D-A40C-9E0334B84EE5}"/>
              </a:ext>
            </a:extLst>
          </p:cNvPr>
          <p:cNvSpPr>
            <a:spLocks xmlns:a="http://schemas.openxmlformats.org/drawingml/2006/main" noGrp="1"/>
          </p:cNvSpPr>
          <p:nvPr/>
        </p:nvSpPr>
        <p:spPr>
          <a:xfrm xmlns:a="http://schemas.openxmlformats.org/drawingml/2006/main">
            <a:off x="3219450" y="30099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xhigh</a:t>
            </a:r>
          </a:p>
        </p:txBody>
      </p:sp>
      <p:sp>
        <p:nvSpPr>
          <p:cNvPr id="14" name="">
            <a:extLst xmlns:a="http://schemas.openxmlformats.org/drawingml/2006/main">
              <a:ext uri="{FF2B5EF4-FFF2-40B4-BE49-F238E27FC236}">
                <a16:creationId xmlns:a16="http://schemas.microsoft.com/office/drawing/2014/main" id="{B1B26702-6C87-4B0B-A7BC-2DABD01AFCB4}"/>
              </a:ext>
            </a:extLst>
          </p:cNvPr>
          <p:cNvSpPr>
            <a:spLocks xmlns:a="http://schemas.openxmlformats.org/drawingml/2006/main" noGrp="1"/>
          </p:cNvSpPr>
          <p:nvPr/>
        </p:nvSpPr>
        <p:spPr>
          <a:xfrm xmlns:a="http://schemas.openxmlformats.org/drawingml/2006/main">
            <a:off x="742950" y="3505200"/>
            <a:ext cx="47625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874DED5-76F3-4369-B564-E21868F76222}"/>
              </a:ext>
            </a:extLst>
          </p:cNvPr>
          <p:cNvSpPr>
            <a:spLocks xmlns:a="http://schemas.openxmlformats.org/drawingml/2006/main" noGrp="1"/>
          </p:cNvSpPr>
          <p:nvPr/>
        </p:nvSpPr>
        <p:spPr>
          <a:xfrm xmlns:a="http://schemas.openxmlformats.org/drawingml/2006/main">
            <a:off x="933450" y="36004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5.6 Luna</a:t>
            </a:r>
          </a:p>
        </p:txBody>
      </p:sp>
      <p:sp>
        <p:nvSpPr>
          <p:cNvPr id="16" name="">
            <a:extLst xmlns:a="http://schemas.openxmlformats.org/drawingml/2006/main">
              <a:ext uri="{FF2B5EF4-FFF2-40B4-BE49-F238E27FC236}">
                <a16:creationId xmlns:a16="http://schemas.microsoft.com/office/drawing/2014/main" id="{8AE643C8-2CB5-46B6-9297-DC60F63F10EB}"/>
              </a:ext>
            </a:extLst>
          </p:cNvPr>
          <p:cNvSpPr>
            <a:spLocks xmlns:a="http://schemas.openxmlformats.org/drawingml/2006/main" noGrp="1"/>
          </p:cNvSpPr>
          <p:nvPr/>
        </p:nvSpPr>
        <p:spPr>
          <a:xfrm xmlns:a="http://schemas.openxmlformats.org/drawingml/2006/main">
            <a:off x="3219450" y="36004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xhigh</a:t>
            </a:r>
          </a:p>
        </p:txBody>
      </p:sp>
      <p:sp>
        <p:nvSpPr>
          <p:cNvPr id="17" name="">
            <a:extLst xmlns:a="http://schemas.openxmlformats.org/drawingml/2006/main">
              <a:ext uri="{FF2B5EF4-FFF2-40B4-BE49-F238E27FC236}">
                <a16:creationId xmlns:a16="http://schemas.microsoft.com/office/drawing/2014/main" id="{620B6189-8B70-4B54-A3C3-44713968C711}"/>
              </a:ext>
            </a:extLst>
          </p:cNvPr>
          <p:cNvSpPr>
            <a:spLocks xmlns:a="http://schemas.openxmlformats.org/drawingml/2006/main" noGrp="1"/>
          </p:cNvSpPr>
          <p:nvPr/>
        </p:nvSpPr>
        <p:spPr>
          <a:xfrm xmlns:a="http://schemas.openxmlformats.org/drawingml/2006/main">
            <a:off x="742950" y="4095750"/>
            <a:ext cx="47625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D7D2C29-72DB-4E23-9A6B-AEDCD594AE46}"/>
              </a:ext>
            </a:extLst>
          </p:cNvPr>
          <p:cNvSpPr>
            <a:spLocks xmlns:a="http://schemas.openxmlformats.org/drawingml/2006/main" noGrp="1"/>
          </p:cNvSpPr>
          <p:nvPr/>
        </p:nvSpPr>
        <p:spPr>
          <a:xfrm xmlns:a="http://schemas.openxmlformats.org/drawingml/2006/main">
            <a:off x="933450" y="419100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5.5</a:t>
            </a:r>
          </a:p>
        </p:txBody>
      </p:sp>
      <p:sp>
        <p:nvSpPr>
          <p:cNvPr id="19" name="">
            <a:extLst xmlns:a="http://schemas.openxmlformats.org/drawingml/2006/main">
              <a:ext uri="{FF2B5EF4-FFF2-40B4-BE49-F238E27FC236}">
                <a16:creationId xmlns:a16="http://schemas.microsoft.com/office/drawing/2014/main" id="{73FE2E9C-EAC3-4CF3-9B7C-295DC636D096}"/>
              </a:ext>
            </a:extLst>
          </p:cNvPr>
          <p:cNvSpPr>
            <a:spLocks xmlns:a="http://schemas.openxmlformats.org/drawingml/2006/main" noGrp="1"/>
          </p:cNvSpPr>
          <p:nvPr/>
        </p:nvSpPr>
        <p:spPr>
          <a:xfrm xmlns:a="http://schemas.openxmlformats.org/drawingml/2006/main">
            <a:off x="3219450" y="419100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xhigh</a:t>
            </a:r>
          </a:p>
        </p:txBody>
      </p:sp>
      <p:sp>
        <p:nvSpPr>
          <p:cNvPr id="20" name="">
            <a:extLst xmlns:a="http://schemas.openxmlformats.org/drawingml/2006/main">
              <a:ext uri="{FF2B5EF4-FFF2-40B4-BE49-F238E27FC236}">
                <a16:creationId xmlns:a16="http://schemas.microsoft.com/office/drawing/2014/main" id="{78FB7651-BE9A-4BDD-80C2-F97C495FC94E}"/>
              </a:ext>
            </a:extLst>
          </p:cNvPr>
          <p:cNvSpPr>
            <a:spLocks xmlns:a="http://schemas.openxmlformats.org/drawingml/2006/main" noGrp="1"/>
          </p:cNvSpPr>
          <p:nvPr/>
        </p:nvSpPr>
        <p:spPr>
          <a:xfrm xmlns:a="http://schemas.openxmlformats.org/drawingml/2006/main">
            <a:off x="742950" y="4686300"/>
            <a:ext cx="4762500" cy="438150"/>
          </a:xfrm>
          <a:prstGeom xmlns:a="http://schemas.openxmlformats.org/drawingml/2006/main" prst="roundRect">
            <a:avLst>
              <a:gd name="adj" fmla="val 17391"/>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2DCB1004-1CBD-4F8C-A2DA-58852180CBCE}"/>
              </a:ext>
            </a:extLst>
          </p:cNvPr>
          <p:cNvSpPr>
            <a:spLocks xmlns:a="http://schemas.openxmlformats.org/drawingml/2006/main" noGrp="1"/>
          </p:cNvSpPr>
          <p:nvPr/>
        </p:nvSpPr>
        <p:spPr>
          <a:xfrm xmlns:a="http://schemas.openxmlformats.org/drawingml/2006/main">
            <a:off x="933450" y="47815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11111"/>
                </a:solidFill>
                <a:latin typeface="Helvetica Neue"/>
                <a:ea typeface="Helvetica Neue"/>
                <a:cs typeface="Helvetica Neue"/>
              </a:defRPr>
            </a:pPr>
            <a:r>
              <a:rPr sz="1500" b="1" i="0">
                <a:solidFill>
                  <a:srgbClr val="111111"/>
                </a:solidFill>
                <a:latin typeface="Helvetica Neue"/>
                <a:ea typeface="Helvetica Neue"/>
                <a:cs typeface="Helvetica Neue"/>
              </a:rPr>
              <a:t>5.4</a:t>
            </a:r>
          </a:p>
        </p:txBody>
      </p:sp>
      <p:sp>
        <p:nvSpPr>
          <p:cNvPr id="22" name="">
            <a:extLst xmlns:a="http://schemas.openxmlformats.org/drawingml/2006/main">
              <a:ext uri="{FF2B5EF4-FFF2-40B4-BE49-F238E27FC236}">
                <a16:creationId xmlns:a16="http://schemas.microsoft.com/office/drawing/2014/main" id="{3488670C-150D-4859-B90F-7115694033F3}"/>
              </a:ext>
            </a:extLst>
          </p:cNvPr>
          <p:cNvSpPr>
            <a:spLocks xmlns:a="http://schemas.openxmlformats.org/drawingml/2006/main" noGrp="1"/>
          </p:cNvSpPr>
          <p:nvPr/>
        </p:nvSpPr>
        <p:spPr>
          <a:xfrm xmlns:a="http://schemas.openxmlformats.org/drawingml/2006/main">
            <a:off x="3219450" y="4781550"/>
            <a:ext cx="200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xhigh</a:t>
            </a:r>
          </a:p>
        </p:txBody>
      </p:sp>
      <p:sp>
        <p:nvSpPr>
          <p:cNvPr id="23" name="">
            <a:extLst xmlns:a="http://schemas.openxmlformats.org/drawingml/2006/main">
              <a:ext uri="{FF2B5EF4-FFF2-40B4-BE49-F238E27FC236}">
                <a16:creationId xmlns:a16="http://schemas.microsoft.com/office/drawing/2014/main" id="{3CF2099F-431C-4ECD-B613-07CEE6182DDE}"/>
              </a:ext>
            </a:extLst>
          </p:cNvPr>
          <p:cNvSpPr>
            <a:spLocks xmlns:a="http://schemas.openxmlformats.org/drawingml/2006/main" noGrp="1"/>
          </p:cNvSpPr>
          <p:nvPr/>
        </p:nvSpPr>
        <p:spPr>
          <a:xfrm xmlns:a="http://schemas.openxmlformats.org/drawingml/2006/main">
            <a:off x="6572250" y="2324100"/>
            <a:ext cx="4762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3718C503-E778-4E1F-953A-4431DF210A47}"/>
              </a:ext>
            </a:extLst>
          </p:cNvPr>
          <p:cNvSpPr>
            <a:spLocks xmlns:a="http://schemas.openxmlformats.org/drawingml/2006/main" noGrp="1"/>
          </p:cNvSpPr>
          <p:nvPr/>
        </p:nvSpPr>
        <p:spPr>
          <a:xfrm xmlns:a="http://schemas.openxmlformats.org/drawingml/2006/main">
            <a:off x="6781800" y="244792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Fable 5</a:t>
            </a:r>
          </a:p>
        </p:txBody>
      </p:sp>
      <p:sp>
        <p:nvSpPr>
          <p:cNvPr id="25" name="">
            <a:extLst xmlns:a="http://schemas.openxmlformats.org/drawingml/2006/main">
              <a:ext uri="{FF2B5EF4-FFF2-40B4-BE49-F238E27FC236}">
                <a16:creationId xmlns:a16="http://schemas.microsoft.com/office/drawing/2014/main" id="{ADAC210A-E50F-464A-818D-A46920D2B7B7}"/>
              </a:ext>
            </a:extLst>
          </p:cNvPr>
          <p:cNvSpPr>
            <a:spLocks xmlns:a="http://schemas.openxmlformats.org/drawingml/2006/main" noGrp="1"/>
          </p:cNvSpPr>
          <p:nvPr/>
        </p:nvSpPr>
        <p:spPr>
          <a:xfrm xmlns:a="http://schemas.openxmlformats.org/drawingml/2006/main">
            <a:off x="9124950" y="24479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high</a:t>
            </a:r>
          </a:p>
        </p:txBody>
      </p:sp>
      <p:sp>
        <p:nvSpPr>
          <p:cNvPr id="26" name="">
            <a:extLst xmlns:a="http://schemas.openxmlformats.org/drawingml/2006/main">
              <a:ext uri="{FF2B5EF4-FFF2-40B4-BE49-F238E27FC236}">
                <a16:creationId xmlns:a16="http://schemas.microsoft.com/office/drawing/2014/main" id="{0CC142C7-5F53-4184-AD5D-A21E3705BF5C}"/>
              </a:ext>
            </a:extLst>
          </p:cNvPr>
          <p:cNvSpPr>
            <a:spLocks xmlns:a="http://schemas.openxmlformats.org/drawingml/2006/main" noGrp="1"/>
          </p:cNvSpPr>
          <p:nvPr/>
        </p:nvSpPr>
        <p:spPr>
          <a:xfrm xmlns:a="http://schemas.openxmlformats.org/drawingml/2006/main">
            <a:off x="6572250" y="3009900"/>
            <a:ext cx="4762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E5352F82-8F3E-4882-A6EE-320E79DC43F3}"/>
              </a:ext>
            </a:extLst>
          </p:cNvPr>
          <p:cNvSpPr>
            <a:spLocks xmlns:a="http://schemas.openxmlformats.org/drawingml/2006/main" noGrp="1"/>
          </p:cNvSpPr>
          <p:nvPr/>
        </p:nvSpPr>
        <p:spPr>
          <a:xfrm xmlns:a="http://schemas.openxmlformats.org/drawingml/2006/main">
            <a:off x="6781800" y="313372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Opus 5</a:t>
            </a:r>
          </a:p>
        </p:txBody>
      </p:sp>
      <p:sp>
        <p:nvSpPr>
          <p:cNvPr id="28" name="">
            <a:extLst xmlns:a="http://schemas.openxmlformats.org/drawingml/2006/main">
              <a:ext uri="{FF2B5EF4-FFF2-40B4-BE49-F238E27FC236}">
                <a16:creationId xmlns:a16="http://schemas.microsoft.com/office/drawing/2014/main" id="{9B8395C1-887B-4E19-B3D4-D581EE9AC66A}"/>
              </a:ext>
            </a:extLst>
          </p:cNvPr>
          <p:cNvSpPr>
            <a:spLocks xmlns:a="http://schemas.openxmlformats.org/drawingml/2006/main" noGrp="1"/>
          </p:cNvSpPr>
          <p:nvPr/>
        </p:nvSpPr>
        <p:spPr>
          <a:xfrm xmlns:a="http://schemas.openxmlformats.org/drawingml/2006/main">
            <a:off x="9124950" y="31337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max</a:t>
            </a:r>
          </a:p>
        </p:txBody>
      </p:sp>
      <p:sp>
        <p:nvSpPr>
          <p:cNvPr id="29" name="">
            <a:extLst xmlns:a="http://schemas.openxmlformats.org/drawingml/2006/main">
              <a:ext uri="{FF2B5EF4-FFF2-40B4-BE49-F238E27FC236}">
                <a16:creationId xmlns:a16="http://schemas.microsoft.com/office/drawing/2014/main" id="{9D071504-E6DE-47A4-9CC6-04AD346252B0}"/>
              </a:ext>
            </a:extLst>
          </p:cNvPr>
          <p:cNvSpPr>
            <a:spLocks xmlns:a="http://schemas.openxmlformats.org/drawingml/2006/main" noGrp="1"/>
          </p:cNvSpPr>
          <p:nvPr/>
        </p:nvSpPr>
        <p:spPr>
          <a:xfrm xmlns:a="http://schemas.openxmlformats.org/drawingml/2006/main">
            <a:off x="6572250" y="3695700"/>
            <a:ext cx="4762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45838E96-C944-473C-A329-A92A9FCE395B}"/>
              </a:ext>
            </a:extLst>
          </p:cNvPr>
          <p:cNvSpPr>
            <a:spLocks xmlns:a="http://schemas.openxmlformats.org/drawingml/2006/main" noGrp="1"/>
          </p:cNvSpPr>
          <p:nvPr/>
        </p:nvSpPr>
        <p:spPr>
          <a:xfrm xmlns:a="http://schemas.openxmlformats.org/drawingml/2006/main">
            <a:off x="6781800" y="381952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Opus 4.8</a:t>
            </a:r>
          </a:p>
        </p:txBody>
      </p:sp>
      <p:sp>
        <p:nvSpPr>
          <p:cNvPr id="31" name="">
            <a:extLst xmlns:a="http://schemas.openxmlformats.org/drawingml/2006/main">
              <a:ext uri="{FF2B5EF4-FFF2-40B4-BE49-F238E27FC236}">
                <a16:creationId xmlns:a16="http://schemas.microsoft.com/office/drawing/2014/main" id="{A4563A41-A604-4AA8-BF6B-26B5389926E3}"/>
              </a:ext>
            </a:extLst>
          </p:cNvPr>
          <p:cNvSpPr>
            <a:spLocks xmlns:a="http://schemas.openxmlformats.org/drawingml/2006/main" noGrp="1"/>
          </p:cNvSpPr>
          <p:nvPr/>
        </p:nvSpPr>
        <p:spPr>
          <a:xfrm xmlns:a="http://schemas.openxmlformats.org/drawingml/2006/main">
            <a:off x="9124950" y="38195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max</a:t>
            </a:r>
          </a:p>
        </p:txBody>
      </p:sp>
      <p:sp>
        <p:nvSpPr>
          <p:cNvPr id="32" name="">
            <a:extLst xmlns:a="http://schemas.openxmlformats.org/drawingml/2006/main">
              <a:ext uri="{FF2B5EF4-FFF2-40B4-BE49-F238E27FC236}">
                <a16:creationId xmlns:a16="http://schemas.microsoft.com/office/drawing/2014/main" id="{F5530B46-FBF2-4469-A667-2750C536D3F6}"/>
              </a:ext>
            </a:extLst>
          </p:cNvPr>
          <p:cNvSpPr>
            <a:spLocks xmlns:a="http://schemas.openxmlformats.org/drawingml/2006/main" noGrp="1"/>
          </p:cNvSpPr>
          <p:nvPr/>
        </p:nvSpPr>
        <p:spPr>
          <a:xfrm xmlns:a="http://schemas.openxmlformats.org/drawingml/2006/main">
            <a:off x="6572250" y="4381500"/>
            <a:ext cx="4762500" cy="49530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C2760C8-8D97-4A4D-8FDA-E14C5AEC8DD2}"/>
              </a:ext>
            </a:extLst>
          </p:cNvPr>
          <p:cNvSpPr>
            <a:spLocks xmlns:a="http://schemas.openxmlformats.org/drawingml/2006/main" noGrp="1"/>
          </p:cNvSpPr>
          <p:nvPr/>
        </p:nvSpPr>
        <p:spPr>
          <a:xfrm xmlns:a="http://schemas.openxmlformats.org/drawingml/2006/main">
            <a:off x="6781800" y="4505325"/>
            <a:ext cx="2095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75" b="1" i="0">
                <a:solidFill>
                  <a:srgbClr val="111111"/>
                </a:solidFill>
                <a:latin typeface="Helvetica Neue"/>
                <a:ea typeface="Helvetica Neue"/>
                <a:cs typeface="Helvetica Neue"/>
              </a:defRPr>
            </a:pPr>
            <a:r>
              <a:rPr sz="1575" b="1" i="0">
                <a:solidFill>
                  <a:srgbClr val="111111"/>
                </a:solidFill>
                <a:latin typeface="Helvetica Neue"/>
                <a:ea typeface="Helvetica Neue"/>
                <a:cs typeface="Helvetica Neue"/>
              </a:rPr>
              <a:t>Sonnet 5</a:t>
            </a:r>
          </a:p>
        </p:txBody>
      </p:sp>
      <p:sp>
        <p:nvSpPr>
          <p:cNvPr id="34" name="">
            <a:extLst xmlns:a="http://schemas.openxmlformats.org/drawingml/2006/main">
              <a:ext uri="{FF2B5EF4-FFF2-40B4-BE49-F238E27FC236}">
                <a16:creationId xmlns:a16="http://schemas.microsoft.com/office/drawing/2014/main" id="{86BB8F10-7C26-4813-916A-19F67F61DDAA}"/>
              </a:ext>
            </a:extLst>
          </p:cNvPr>
          <p:cNvSpPr>
            <a:spLocks xmlns:a="http://schemas.openxmlformats.org/drawingml/2006/main" noGrp="1"/>
          </p:cNvSpPr>
          <p:nvPr/>
        </p:nvSpPr>
        <p:spPr>
          <a:xfrm xmlns:a="http://schemas.openxmlformats.org/drawingml/2006/main">
            <a:off x="9124950" y="4505325"/>
            <a:ext cx="1905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low · max</a:t>
            </a:r>
          </a:p>
        </p:txBody>
      </p:sp>
      <p:sp>
        <p:nvSpPr>
          <p:cNvPr id="35" name="">
            <a:extLst xmlns:a="http://schemas.openxmlformats.org/drawingml/2006/main">
              <a:ext uri="{FF2B5EF4-FFF2-40B4-BE49-F238E27FC236}">
                <a16:creationId xmlns:a16="http://schemas.microsoft.com/office/drawing/2014/main" id="{138F8B78-A5EB-4AB0-B838-3E11AFE9391C}"/>
              </a:ext>
            </a:extLst>
          </p:cNvPr>
          <p:cNvSpPr>
            <a:spLocks xmlns:a="http://schemas.openxmlformats.org/drawingml/2006/main" noGrp="1"/>
          </p:cNvSpPr>
          <p:nvPr/>
        </p:nvSpPr>
        <p:spPr>
          <a:xfrm xmlns:a="http://schemas.openxmlformats.org/drawingml/2006/main">
            <a:off x="2857500" y="5905500"/>
            <a:ext cx="647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950" b="1" i="0">
                <a:solidFill>
                  <a:srgbClr val="12364A"/>
                </a:solidFill>
                <a:latin typeface="Helvetica Neue"/>
                <a:ea typeface="Helvetica Neue"/>
                <a:cs typeface="Helvetica Neue"/>
              </a:defRPr>
            </a:pPr>
            <a:r>
              <a:rPr sz="1950" b="1" i="0">
                <a:solidFill>
                  <a:srgbClr val="12364A"/>
                </a:solidFill>
                <a:latin typeface="Helvetica Neue"/>
                <a:ea typeface="Helvetica Neue"/>
                <a:cs typeface="Helvetica Neue"/>
              </a:rPr>
              <a:t>17 runs · concurrency 2 · identical benchmark contract</a:t>
            </a:r>
          </a:p>
        </p:txBody>
      </p:sp>
    </p:spTree>
    <p:extLst>
      <p:ext uri="{BB962C8B-B14F-4D97-AF65-F5344CB8AC3E}">
        <p14:creationId xmlns:p14="http://schemas.microsoft.com/office/powerpoint/2010/main" val="1424834222"/>
      </p:ext>
    </p:extLst>
  </p:cSld>
</p:sld>
</file>

<file path=ppt/slides/slide17.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3451AD81-54FC-42AC-AF46-C5688E35F428}"/>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EXPERIMENTAL CONTROL</a:t>
            </a:r>
          </a:p>
        </p:txBody>
      </p:sp>
      <p:sp>
        <p:nvSpPr>
          <p:cNvPr id="2" name="">
            <a:extLst xmlns:a="http://schemas.openxmlformats.org/drawingml/2006/main">
              <a:ext uri="{FF2B5EF4-FFF2-40B4-BE49-F238E27FC236}">
                <a16:creationId xmlns:a16="http://schemas.microsoft.com/office/drawing/2014/main" id="{3714ED8E-2FB5-414E-806A-C3B7F23F97D1}"/>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Rule 1: every run starts newborn.</a:t>
            </a:r>
          </a:p>
        </p:txBody>
      </p:sp>
      <p:sp>
        <p:nvSpPr>
          <p:cNvPr id="3" name="">
            <a:extLst xmlns:a="http://schemas.openxmlformats.org/drawingml/2006/main">
              <a:ext uri="{FF2B5EF4-FFF2-40B4-BE49-F238E27FC236}">
                <a16:creationId xmlns:a16="http://schemas.microsoft.com/office/drawing/2014/main" id="{0F492DAE-2726-4225-B288-AD10A35ABDFE}"/>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17</a:t>
            </a:r>
          </a:p>
        </p:txBody>
      </p:sp>
      <p:sp>
        <p:nvSpPr>
          <p:cNvPr id="4" name="">
            <a:extLst xmlns:a="http://schemas.openxmlformats.org/drawingml/2006/main">
              <a:ext uri="{FF2B5EF4-FFF2-40B4-BE49-F238E27FC236}">
                <a16:creationId xmlns:a16="http://schemas.microsoft.com/office/drawing/2014/main" id="{B95AC154-8F2A-4CAD-A203-A92339C03698}"/>
              </a:ext>
            </a:extLst>
          </p:cNvPr>
          <p:cNvSpPr>
            <a:spLocks xmlns:a="http://schemas.openxmlformats.org/drawingml/2006/main" noGrp="1"/>
          </p:cNvSpPr>
          <p:nvPr/>
        </p:nvSpPr>
        <p:spPr>
          <a:xfrm xmlns:a="http://schemas.openxmlformats.org/drawingml/2006/main">
            <a:off x="685800" y="1562100"/>
            <a:ext cx="4000500" cy="3848100"/>
          </a:xfrm>
          <a:prstGeom xmlns:a="http://schemas.openxmlformats.org/drawingml/2006/main" prst="roundRect">
            <a:avLst>
              <a:gd name="adj" fmla="val 1980"/>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9828B8E-EA39-4DD3-BAE3-FFE847534CF8}"/>
              </a:ext>
            </a:extLst>
          </p:cNvPr>
          <p:cNvSpPr>
            <a:spLocks xmlns:a="http://schemas.openxmlformats.org/drawingml/2006/main" noGrp="1"/>
          </p:cNvSpPr>
          <p:nvPr/>
        </p:nvSpPr>
        <p:spPr>
          <a:xfrm xmlns:a="http://schemas.openxmlformats.org/drawingml/2006/main">
            <a:off x="1066800" y="19621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52616B"/>
                </a:solidFill>
                <a:latin typeface="Helvetica Neue"/>
                <a:ea typeface="Helvetica Neue"/>
                <a:cs typeface="Helvetica Neue"/>
              </a:defRPr>
            </a:pPr>
            <a:r>
              <a:rPr sz="2025" b="1" i="0">
                <a:solidFill>
                  <a:srgbClr val="52616B"/>
                </a:solidFill>
                <a:latin typeface="Helvetica Neue"/>
                <a:ea typeface="Helvetica Neue"/>
                <a:cs typeface="Helvetica Neue"/>
              </a:rPr>
              <a:t>Run N − 1</a:t>
            </a:r>
          </a:p>
        </p:txBody>
      </p:sp>
      <p:sp>
        <p:nvSpPr>
          <p:cNvPr id="6" name="">
            <a:extLst xmlns:a="http://schemas.openxmlformats.org/drawingml/2006/main">
              <a:ext uri="{FF2B5EF4-FFF2-40B4-BE49-F238E27FC236}">
                <a16:creationId xmlns:a16="http://schemas.microsoft.com/office/drawing/2014/main" id="{FA09C6FE-8FDA-4195-AD69-63EE8D44F189}"/>
              </a:ext>
            </a:extLst>
          </p:cNvPr>
          <p:cNvSpPr>
            <a:spLocks xmlns:a="http://schemas.openxmlformats.org/drawingml/2006/main" noGrp="1"/>
          </p:cNvSpPr>
          <p:nvPr/>
        </p:nvSpPr>
        <p:spPr>
          <a:xfrm xmlns:a="http://schemas.openxmlformats.org/drawingml/2006/main">
            <a:off x="1143000" y="2647950"/>
            <a:ext cx="2952750" cy="1714500"/>
          </a:xfrm>
          <a:prstGeom xmlns:a="http://schemas.openxmlformats.org/drawingml/2006/main" prst="rect">
            <a:avLst/>
          </a:prstGeom>
          <a:solidFill xmlns:a="http://schemas.openxmlformats.org/drawingml/2006/main">
            <a:srgbClr val="FFFFFF"/>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FABB6FB9-0E32-4C10-BB0D-2808BECBAFA7}"/>
              </a:ext>
            </a:extLst>
          </p:cNvPr>
          <p:cNvSpPr>
            <a:spLocks xmlns:a="http://schemas.openxmlformats.org/drawingml/2006/main" noGrp="1"/>
          </p:cNvSpPr>
          <p:nvPr/>
        </p:nvSpPr>
        <p:spPr>
          <a:xfrm xmlns:a="http://schemas.openxmlformats.org/drawingml/2006/main">
            <a:off x="1466850" y="2914650"/>
            <a:ext cx="2286000" cy="1181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62"/>
          </a:bodyPr>
          <a:lstStyle xmlns:a="http://schemas.openxmlformats.org/drawingml/2006/main"/>
          <a:p xmlns:a="http://schemas.openxmlformats.org/drawingml/2006/main">
            <a:pPr algn="ctr">
              <a:lnSpc>
                <a:spcPct val="112000"/>
              </a:lnSpc>
              <a:buNone/>
              <a:defRPr sz="1875" b="0" i="0">
                <a:solidFill>
                  <a:srgbClr val="52616B"/>
                </a:solidFill>
                <a:latin typeface="Helvetica Neue"/>
                <a:ea typeface="Helvetica Neue"/>
                <a:cs typeface="Helvetica Neue"/>
              </a:defRPr>
            </a:pPr>
            <a:r>
              <a:rPr sz="1875" b="0" i="0">
                <a:solidFill>
                  <a:srgbClr val="52616B"/>
                </a:solidFill>
                <a:latin typeface="Helvetica Neue"/>
                <a:ea typeface="Helvetica Neue"/>
                <a:cs typeface="Helvetica Neue"/>
              </a:rPr>
              <a:t>code</a:t>
            </a:r>
          </a:p>
          <a:p xmlns:a="http://schemas.openxmlformats.org/drawingml/2006/main">
            <a:pPr algn="ctr">
              <a:lnSpc>
                <a:spcPct val="112000"/>
              </a:lnSpc>
              <a:buNone/>
              <a:defRPr sz="1875" b="0" i="0">
                <a:solidFill>
                  <a:srgbClr val="52616B"/>
                </a:solidFill>
                <a:latin typeface="Helvetica Neue"/>
                <a:ea typeface="Helvetica Neue"/>
                <a:cs typeface="Helvetica Neue"/>
              </a:defRPr>
            </a:pPr>
            <a:r>
              <a:rPr sz="1875" b="0" i="0">
                <a:solidFill>
                  <a:srgbClr val="52616B"/>
                </a:solidFill>
                <a:latin typeface="Helvetica Neue"/>
                <a:ea typeface="Helvetica Neue"/>
                <a:cs typeface="Helvetica Neue"/>
              </a:rPr>
              <a:t>transcript</a:t>
            </a:r>
          </a:p>
          <a:p xmlns:a="http://schemas.openxmlformats.org/drawingml/2006/main">
            <a:pPr algn="ctr">
              <a:lnSpc>
                <a:spcPct val="112000"/>
              </a:lnSpc>
              <a:buNone/>
              <a:defRPr sz="1875" b="0" i="0">
                <a:solidFill>
                  <a:srgbClr val="52616B"/>
                </a:solidFill>
                <a:latin typeface="Helvetica Neue"/>
                <a:ea typeface="Helvetica Neue"/>
                <a:cs typeface="Helvetica Neue"/>
              </a:defRPr>
            </a:pPr>
            <a:r>
              <a:rPr sz="1875" b="0" i="0">
                <a:solidFill>
                  <a:srgbClr val="52616B"/>
                </a:solidFill>
                <a:latin typeface="Helvetica Neue"/>
                <a:ea typeface="Helvetica Neue"/>
                <a:cs typeface="Helvetica Neue"/>
              </a:rPr>
              <a:t>results</a:t>
            </a:r>
          </a:p>
          <a:p xmlns:a="http://schemas.openxmlformats.org/drawingml/2006/main">
            <a:pPr algn="ctr">
              <a:lnSpc>
                <a:spcPct val="112000"/>
              </a:lnSpc>
              <a:buNone/>
              <a:defRPr sz="1875" b="0" i="0">
                <a:solidFill>
                  <a:srgbClr val="52616B"/>
                </a:solidFill>
                <a:latin typeface="Helvetica Neue"/>
                <a:ea typeface="Helvetica Neue"/>
                <a:cs typeface="Helvetica Neue"/>
              </a:defRPr>
            </a:pPr>
            <a:r>
              <a:rPr sz="1875" b="0" i="0">
                <a:solidFill>
                  <a:srgbClr val="52616B"/>
                </a:solidFill>
                <a:latin typeface="Helvetica Neue"/>
                <a:ea typeface="Helvetica Neue"/>
                <a:cs typeface="Helvetica Neue"/>
              </a:rPr>
              <a:t>lessons</a:t>
            </a:r>
          </a:p>
        </p:txBody>
      </p:sp>
      <p:sp>
        <p:nvSpPr>
          <p:cNvPr id="8" name="">
            <a:extLst xmlns:a="http://schemas.openxmlformats.org/drawingml/2006/main">
              <a:ext uri="{FF2B5EF4-FFF2-40B4-BE49-F238E27FC236}">
                <a16:creationId xmlns:a16="http://schemas.microsoft.com/office/drawing/2014/main" id="{F7EC8501-3B2B-4652-91A0-ADA262482E82}"/>
              </a:ext>
            </a:extLst>
          </p:cNvPr>
          <p:cNvSpPr>
            <a:spLocks xmlns:a="http://schemas.openxmlformats.org/drawingml/2006/main" noGrp="1"/>
          </p:cNvSpPr>
          <p:nvPr/>
        </p:nvSpPr>
        <p:spPr>
          <a:xfrm xmlns:a="http://schemas.openxmlformats.org/drawingml/2006/main">
            <a:off x="5286375" y="1571625"/>
            <a:ext cx="838200" cy="3810000"/>
          </a:xfrm>
          <a:prstGeom xmlns:a="http://schemas.openxmlformats.org/drawingml/2006/main" prst="rect">
            <a:avLst/>
          </a:prstGeom>
          <a:solidFill xmlns:a="http://schemas.openxmlformats.org/drawingml/2006/main">
            <a:srgbClr val="111111"/>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BE60EF58-710E-494A-96AE-9F6B73CA0794}"/>
              </a:ext>
            </a:extLst>
          </p:cNvPr>
          <p:cNvSpPr>
            <a:spLocks xmlns:a="http://schemas.openxmlformats.org/drawingml/2006/main" noGrp="1"/>
          </p:cNvSpPr>
          <p:nvPr/>
        </p:nvSpPr>
        <p:spPr>
          <a:xfrm xmlns:a="http://schemas.openxmlformats.org/drawingml/2006/main">
            <a:off x="5391150" y="2571750"/>
            <a:ext cx="62865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02000"/>
              </a:lnSpc>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NO</a:t>
            </a:r>
          </a:p>
          <a:p xmlns:a="http://schemas.openxmlformats.org/drawingml/2006/main">
            <a:pPr algn="ctr">
              <a:lnSpc>
                <a:spcPct val="102000"/>
              </a:lnSpc>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CARRY-</a:t>
            </a:r>
          </a:p>
          <a:p xmlns:a="http://schemas.openxmlformats.org/drawingml/2006/main">
            <a:pPr algn="ctr">
              <a:lnSpc>
                <a:spcPct val="102000"/>
              </a:lnSpc>
              <a:buNone/>
              <a:defRPr sz="1350" b="1" i="0">
                <a:solidFill>
                  <a:srgbClr val="FFFFFF"/>
                </a:solidFill>
                <a:latin typeface="Helvetica Neue"/>
                <a:ea typeface="Helvetica Neue"/>
                <a:cs typeface="Helvetica Neue"/>
              </a:defRPr>
            </a:pPr>
            <a:r>
              <a:rPr sz="1350" b="1" i="0">
                <a:solidFill>
                  <a:srgbClr val="FFFFFF"/>
                </a:solidFill>
                <a:latin typeface="Helvetica Neue"/>
                <a:ea typeface="Helvetica Neue"/>
                <a:cs typeface="Helvetica Neue"/>
              </a:rPr>
              <a:t>OVER</a:t>
            </a:r>
          </a:p>
        </p:txBody>
      </p:sp>
      <p:sp>
        <p:nvSpPr>
          <p:cNvPr id="10" name="">
            <a:extLst xmlns:a="http://schemas.openxmlformats.org/drawingml/2006/main">
              <a:ext uri="{FF2B5EF4-FFF2-40B4-BE49-F238E27FC236}">
                <a16:creationId xmlns:a16="http://schemas.microsoft.com/office/drawing/2014/main" id="{A2BAD371-6706-4BAB-AD77-7DE52E4BD2A1}"/>
              </a:ext>
            </a:extLst>
          </p:cNvPr>
          <p:cNvSpPr>
            <a:spLocks xmlns:a="http://schemas.openxmlformats.org/drawingml/2006/main" noGrp="1"/>
          </p:cNvSpPr>
          <p:nvPr/>
        </p:nvSpPr>
        <p:spPr>
          <a:xfrm xmlns:a="http://schemas.openxmlformats.org/drawingml/2006/main">
            <a:off x="6724650" y="1562100"/>
            <a:ext cx="4762500" cy="3848100"/>
          </a:xfrm>
          <a:prstGeom xmlns:a="http://schemas.openxmlformats.org/drawingml/2006/main" prst="roundRect">
            <a:avLst>
              <a:gd name="adj" fmla="val 1980"/>
            </a:avLst>
          </a:prstGeom>
          <a:solidFill xmlns:a="http://schemas.openxmlformats.org/drawingml/2006/main">
            <a:srgbClr val="EDEDED"/>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FF7351BF-533D-43CF-9904-666E593FC9F0}"/>
              </a:ext>
            </a:extLst>
          </p:cNvPr>
          <p:cNvSpPr>
            <a:spLocks xmlns:a="http://schemas.openxmlformats.org/drawingml/2006/main" noGrp="1"/>
          </p:cNvSpPr>
          <p:nvPr/>
        </p:nvSpPr>
        <p:spPr>
          <a:xfrm xmlns:a="http://schemas.openxmlformats.org/drawingml/2006/main">
            <a:off x="7124700" y="196215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Run N</a:t>
            </a:r>
          </a:p>
        </p:txBody>
      </p:sp>
      <p:sp>
        <p:nvSpPr>
          <p:cNvPr id="12" name="">
            <a:extLst xmlns:a="http://schemas.openxmlformats.org/drawingml/2006/main">
              <a:ext uri="{FF2B5EF4-FFF2-40B4-BE49-F238E27FC236}">
                <a16:creationId xmlns:a16="http://schemas.microsoft.com/office/drawing/2014/main" id="{D90237A6-4FEA-4697-B094-B70D282B05B0}"/>
              </a:ext>
            </a:extLst>
          </p:cNvPr>
          <p:cNvSpPr>
            <a:spLocks xmlns:a="http://schemas.openxmlformats.org/drawingml/2006/main" noGrp="1"/>
          </p:cNvSpPr>
          <p:nvPr/>
        </p:nvSpPr>
        <p:spPr>
          <a:xfrm xmlns:a="http://schemas.openxmlformats.org/drawingml/2006/main">
            <a:off x="7143750" y="26098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The agent receives:</a:t>
            </a:r>
          </a:p>
        </p:txBody>
      </p:sp>
      <p:sp>
        <p:nvSpPr>
          <p:cNvPr id="13" name="">
            <a:extLst xmlns:a="http://schemas.openxmlformats.org/drawingml/2006/main">
              <a:ext uri="{FF2B5EF4-FFF2-40B4-BE49-F238E27FC236}">
                <a16:creationId xmlns:a16="http://schemas.microsoft.com/office/drawing/2014/main" id="{AB6EFDFD-1A7D-4DCA-8E4F-A69CE1F8CE8C}"/>
              </a:ext>
            </a:extLst>
          </p:cNvPr>
          <p:cNvSpPr>
            <a:spLocks xmlns:a="http://schemas.openxmlformats.org/drawingml/2006/main" noGrp="1"/>
          </p:cNvSpPr>
          <p:nvPr/>
        </p:nvSpPr>
        <p:spPr>
          <a:xfrm xmlns:a="http://schemas.openxmlformats.org/drawingml/2006/main">
            <a:off x="7181850" y="32194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7EA1358-F611-4693-B357-90368FC1F37A}"/>
              </a:ext>
            </a:extLst>
          </p:cNvPr>
          <p:cNvSpPr>
            <a:spLocks xmlns:a="http://schemas.openxmlformats.org/drawingml/2006/main" noGrp="1"/>
          </p:cNvSpPr>
          <p:nvPr/>
        </p:nvSpPr>
        <p:spPr>
          <a:xfrm xmlns:a="http://schemas.openxmlformats.org/drawingml/2006/main">
            <a:off x="7429500" y="3143250"/>
            <a:ext cx="3371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The challenge prompt</a:t>
            </a:r>
          </a:p>
        </p:txBody>
      </p:sp>
      <p:sp>
        <p:nvSpPr>
          <p:cNvPr id="15" name="">
            <a:extLst xmlns:a="http://schemas.openxmlformats.org/drawingml/2006/main">
              <a:ext uri="{FF2B5EF4-FFF2-40B4-BE49-F238E27FC236}">
                <a16:creationId xmlns:a16="http://schemas.microsoft.com/office/drawing/2014/main" id="{DF9FD090-95A7-4818-A30A-831CE90484C4}"/>
              </a:ext>
            </a:extLst>
          </p:cNvPr>
          <p:cNvSpPr>
            <a:spLocks xmlns:a="http://schemas.openxmlformats.org/drawingml/2006/main" noGrp="1"/>
          </p:cNvSpPr>
          <p:nvPr/>
        </p:nvSpPr>
        <p:spPr>
          <a:xfrm xmlns:a="http://schemas.openxmlformats.org/drawingml/2006/main">
            <a:off x="7181850" y="36766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3385893-5C3B-4EB7-B0E5-8E4714B6CD52}"/>
              </a:ext>
            </a:extLst>
          </p:cNvPr>
          <p:cNvSpPr>
            <a:spLocks xmlns:a="http://schemas.openxmlformats.org/drawingml/2006/main" noGrp="1"/>
          </p:cNvSpPr>
          <p:nvPr/>
        </p:nvSpPr>
        <p:spPr>
          <a:xfrm xmlns:a="http://schemas.openxmlformats.org/drawingml/2006/main">
            <a:off x="7429500" y="3600450"/>
            <a:ext cx="3371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The specified paper and references</a:t>
            </a:r>
          </a:p>
        </p:txBody>
      </p:sp>
      <p:sp>
        <p:nvSpPr>
          <p:cNvPr id="17" name="">
            <a:extLst xmlns:a="http://schemas.openxmlformats.org/drawingml/2006/main">
              <a:ext uri="{FF2B5EF4-FFF2-40B4-BE49-F238E27FC236}">
                <a16:creationId xmlns:a16="http://schemas.microsoft.com/office/drawing/2014/main" id="{9311EE85-1922-46A1-A46F-CF2637002EA8}"/>
              </a:ext>
            </a:extLst>
          </p:cNvPr>
          <p:cNvSpPr>
            <a:spLocks xmlns:a="http://schemas.openxmlformats.org/drawingml/2006/main" noGrp="1"/>
          </p:cNvSpPr>
          <p:nvPr/>
        </p:nvSpPr>
        <p:spPr>
          <a:xfrm xmlns:a="http://schemas.openxmlformats.org/drawingml/2006/main">
            <a:off x="7181850" y="41338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E04AE02-66E9-40A8-AF89-9B4011C2196E}"/>
              </a:ext>
            </a:extLst>
          </p:cNvPr>
          <p:cNvSpPr>
            <a:spLocks xmlns:a="http://schemas.openxmlformats.org/drawingml/2006/main" noGrp="1"/>
          </p:cNvSpPr>
          <p:nvPr/>
        </p:nvSpPr>
        <p:spPr>
          <a:xfrm xmlns:a="http://schemas.openxmlformats.org/drawingml/2006/main">
            <a:off x="7429500" y="4057650"/>
            <a:ext cx="3371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The allowed runtime tools</a:t>
            </a:r>
          </a:p>
        </p:txBody>
      </p:sp>
      <p:sp>
        <p:nvSpPr>
          <p:cNvPr id="19" name="">
            <a:extLst xmlns:a="http://schemas.openxmlformats.org/drawingml/2006/main">
              <a:ext uri="{FF2B5EF4-FFF2-40B4-BE49-F238E27FC236}">
                <a16:creationId xmlns:a16="http://schemas.microsoft.com/office/drawing/2014/main" id="{B07F4894-141E-4D90-BE70-5D34A6AE95BA}"/>
              </a:ext>
            </a:extLst>
          </p:cNvPr>
          <p:cNvSpPr>
            <a:spLocks xmlns:a="http://schemas.openxmlformats.org/drawingml/2006/main" noGrp="1"/>
          </p:cNvSpPr>
          <p:nvPr/>
        </p:nvSpPr>
        <p:spPr>
          <a:xfrm xmlns:a="http://schemas.openxmlformats.org/drawingml/2006/main">
            <a:off x="7181850" y="45910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DDCDC23-20B4-492B-9A19-CFB2B58655A5}"/>
              </a:ext>
            </a:extLst>
          </p:cNvPr>
          <p:cNvSpPr>
            <a:spLocks xmlns:a="http://schemas.openxmlformats.org/drawingml/2006/main" noGrp="1"/>
          </p:cNvSpPr>
          <p:nvPr/>
        </p:nvSpPr>
        <p:spPr>
          <a:xfrm xmlns:a="http://schemas.openxmlformats.org/drawingml/2006/main">
            <a:off x="7429500" y="4514850"/>
            <a:ext cx="3371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A clean workspace</a:t>
            </a:r>
          </a:p>
        </p:txBody>
      </p:sp>
      <p:sp>
        <p:nvSpPr>
          <p:cNvPr id="21" name="">
            <a:extLst xmlns:a="http://schemas.openxmlformats.org/drawingml/2006/main">
              <a:ext uri="{FF2B5EF4-FFF2-40B4-BE49-F238E27FC236}">
                <a16:creationId xmlns:a16="http://schemas.microsoft.com/office/drawing/2014/main" id="{4DD66157-27F3-4204-B33F-6F41F067518C}"/>
              </a:ext>
            </a:extLst>
          </p:cNvPr>
          <p:cNvSpPr>
            <a:spLocks xmlns:a="http://schemas.openxmlformats.org/drawingml/2006/main" noGrp="1"/>
          </p:cNvSpPr>
          <p:nvPr/>
        </p:nvSpPr>
        <p:spPr>
          <a:xfrm xmlns:a="http://schemas.openxmlformats.org/drawingml/2006/main">
            <a:off x="3048000" y="5810250"/>
            <a:ext cx="6096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128"/>
          </a:bodyPr>
          <a:lstStyle xmlns:a="http://schemas.openxmlformats.org/drawingml/2006/main"/>
          <a:p xmlns:a="http://schemas.openxmlformats.org/drawingml/2006/main">
            <a:pPr algn="ctr">
              <a:lnSpc>
                <a:spcPct val="102000"/>
              </a:lnSpc>
              <a:buNone/>
              <a:defRPr sz="2025" b="1" i="0">
                <a:solidFill>
                  <a:srgbClr val="3D8DFF"/>
                </a:solidFill>
                <a:latin typeface="Helvetica Neue"/>
                <a:ea typeface="Helvetica Neue"/>
                <a:cs typeface="Helvetica Neue"/>
              </a:defRPr>
            </a:pPr>
            <a:r>
              <a:rPr sz="2025" b="1" i="0">
                <a:solidFill>
                  <a:srgbClr val="3D8DFF"/>
                </a:solidFill>
                <a:latin typeface="Helvetica Neue"/>
                <a:ea typeface="Helvetica Neue"/>
                <a:cs typeface="Helvetica Neue"/>
              </a:rPr>
              <a:t>No previous code, transcript, result, or agent memory.</a:t>
            </a:r>
          </a:p>
        </p:txBody>
      </p:sp>
    </p:spTree>
    <p:extLst>
      <p:ext uri="{BB962C8B-B14F-4D97-AF65-F5344CB8AC3E}">
        <p14:creationId xmlns:p14="http://schemas.microsoft.com/office/powerpoint/2010/main" val="88613468"/>
      </p:ext>
    </p:extLst>
  </p:cSld>
</p:sld>
</file>

<file path=ppt/slides/slide18.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38A0B82D-7E49-48D6-A9F2-590BAF75FDB6}"/>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B9C8D1"/>
                </a:solidFill>
                <a:latin typeface="Helvetica Neue"/>
                <a:ea typeface="Helvetica Neue"/>
                <a:cs typeface="Helvetica Neue"/>
              </a:defRPr>
            </a:pPr>
            <a:r>
              <a:rPr sz="1050" b="1" i="0">
                <a:solidFill>
                  <a:srgbClr val="B9C8D1"/>
                </a:solidFill>
                <a:latin typeface="Helvetica Neue"/>
                <a:ea typeface="Helvetica Neue"/>
                <a:cs typeface="Helvetica Neue"/>
              </a:rPr>
              <a:t>NO CHEATING</a:t>
            </a:r>
          </a:p>
        </p:txBody>
      </p:sp>
      <p:sp>
        <p:nvSpPr>
          <p:cNvPr id="2" name="">
            <a:extLst xmlns:a="http://schemas.openxmlformats.org/drawingml/2006/main">
              <a:ext uri="{FF2B5EF4-FFF2-40B4-BE49-F238E27FC236}">
                <a16:creationId xmlns:a16="http://schemas.microsoft.com/office/drawing/2014/main" id="{9EE29756-DADD-407C-B33D-3A6BF27E2387}"/>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FFFFFF"/>
                </a:solidFill>
                <a:latin typeface="Helvetica Neue"/>
                <a:ea typeface="Helvetica Neue"/>
                <a:cs typeface="Helvetica Neue"/>
              </a:defRPr>
            </a:pPr>
            <a:r>
              <a:rPr sz="3300" b="1" i="0">
                <a:solidFill>
                  <a:srgbClr val="FFFFFF"/>
                </a:solidFill>
                <a:latin typeface="Helvetica Neue"/>
                <a:ea typeface="Helvetica Neue"/>
                <a:cs typeface="Helvetica Neue"/>
              </a:rPr>
              <a:t>Rule 2: the agent cannot look up an implementation.</a:t>
            </a:r>
          </a:p>
        </p:txBody>
      </p:sp>
      <p:sp>
        <p:nvSpPr>
          <p:cNvPr id="3" name="">
            <a:extLst xmlns:a="http://schemas.openxmlformats.org/drawingml/2006/main">
              <a:ext uri="{FF2B5EF4-FFF2-40B4-BE49-F238E27FC236}">
                <a16:creationId xmlns:a16="http://schemas.microsoft.com/office/drawing/2014/main" id="{5AB44F24-E3DD-4709-B334-5222A066C4DB}"/>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B9C8D1"/>
                </a:solidFill>
                <a:latin typeface="Helvetica Neue"/>
                <a:ea typeface="Helvetica Neue"/>
                <a:cs typeface="Helvetica Neue"/>
              </a:defRPr>
            </a:pPr>
            <a:r>
              <a:rPr sz="1125" b="0" i="0">
                <a:solidFill>
                  <a:srgbClr val="B9C8D1"/>
                </a:solidFill>
                <a:latin typeface="Helvetica Neue"/>
                <a:ea typeface="Helvetica Neue"/>
                <a:cs typeface="Helvetica Neue"/>
              </a:rPr>
              <a:t>18</a:t>
            </a:r>
          </a:p>
        </p:txBody>
      </p:sp>
      <p:sp>
        <p:nvSpPr>
          <p:cNvPr id="4" name="">
            <a:extLst xmlns:a="http://schemas.openxmlformats.org/drawingml/2006/main">
              <a:ext uri="{FF2B5EF4-FFF2-40B4-BE49-F238E27FC236}">
                <a16:creationId xmlns:a16="http://schemas.microsoft.com/office/drawing/2014/main" id="{BB6BCA12-F844-4C07-9877-349C7C56C8AD}"/>
              </a:ext>
            </a:extLst>
          </p:cNvPr>
          <p:cNvSpPr>
            <a:spLocks xmlns:a="http://schemas.openxmlformats.org/drawingml/2006/main" noGrp="1"/>
          </p:cNvSpPr>
          <p:nvPr/>
        </p:nvSpPr>
        <p:spPr>
          <a:xfrm xmlns:a="http://schemas.openxmlformats.org/drawingml/2006/main">
            <a:off x="514350" y="1428750"/>
            <a:ext cx="78105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550" b="1" i="0">
                <a:solidFill>
                  <a:srgbClr val="FFFFFF"/>
                </a:solidFill>
                <a:latin typeface="Helvetica Neue"/>
                <a:ea typeface="Helvetica Neue"/>
                <a:cs typeface="Helvetica Neue"/>
              </a:defRPr>
            </a:pPr>
            <a:r>
              <a:rPr sz="2550" b="1" i="0">
                <a:solidFill>
                  <a:srgbClr val="FFFFFF"/>
                </a:solidFill>
                <a:latin typeface="Helvetica Neue"/>
                <a:ea typeface="Helvetica Neue"/>
                <a:cs typeface="Helvetica Neue"/>
              </a:rPr>
              <a:t>An earlier interactive run quietly found the old C code on GitHub and used it.</a:t>
            </a:r>
          </a:p>
        </p:txBody>
      </p:sp>
      <p:sp>
        <p:nvSpPr>
          <p:cNvPr id="5" name="">
            <a:extLst xmlns:a="http://schemas.openxmlformats.org/drawingml/2006/main">
              <a:ext uri="{FF2B5EF4-FFF2-40B4-BE49-F238E27FC236}">
                <a16:creationId xmlns:a16="http://schemas.microsoft.com/office/drawing/2014/main" id="{8F97E71E-D882-46A2-8927-74F847BC8EB9}"/>
              </a:ext>
            </a:extLst>
          </p:cNvPr>
          <p:cNvSpPr>
            <a:spLocks xmlns:a="http://schemas.openxmlformats.org/drawingml/2006/main" noGrp="1"/>
          </p:cNvSpPr>
          <p:nvPr/>
        </p:nvSpPr>
        <p:spPr>
          <a:xfrm xmlns:a="http://schemas.openxmlformats.org/drawingml/2006/main">
            <a:off x="514350" y="2724150"/>
            <a:ext cx="4762500" cy="2381250"/>
          </a:xfrm>
          <a:prstGeom xmlns:a="http://schemas.openxmlformats.org/drawingml/2006/main" prst="roundRect">
            <a:avLst>
              <a:gd name="adj" fmla="val 3200"/>
            </a:avLst>
          </a:prstGeom>
          <a:solidFill xmlns:a="http://schemas.openxmlformats.org/drawingml/2006/main">
            <a:srgbClr val="1D2C35"/>
          </a:solidFill>
          <a:ln xmlns:a="http://schemas.openxmlformats.org/drawingml/2006/main" w="9525">
            <a:solidFill>
              <a:srgbClr val="466579"/>
            </a:solidFill>
            <a:prstDash val="solid"/>
          </a:ln>
        </p:spPr>
      </p:sp>
      <p:sp>
        <p:nvSpPr>
          <p:cNvPr id="6" name="">
            <a:extLst xmlns:a="http://schemas.openxmlformats.org/drawingml/2006/main">
              <a:ext uri="{FF2B5EF4-FFF2-40B4-BE49-F238E27FC236}">
                <a16:creationId xmlns:a16="http://schemas.microsoft.com/office/drawing/2014/main" id="{823C6ABB-AAE3-461A-AE84-7544071AE7AF}"/>
              </a:ext>
            </a:extLst>
          </p:cNvPr>
          <p:cNvSpPr>
            <a:spLocks xmlns:a="http://schemas.openxmlformats.org/drawingml/2006/main" noGrp="1"/>
          </p:cNvSpPr>
          <p:nvPr/>
        </p:nvSpPr>
        <p:spPr>
          <a:xfrm xmlns:a="http://schemas.openxmlformats.org/drawingml/2006/main">
            <a:off x="857250" y="3276600"/>
            <a:ext cx="4095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6605"/>
          </a:bodyPr>
          <a:lstStyle xmlns:a="http://schemas.openxmlformats.org/drawingml/2006/main"/>
          <a:p xmlns:a="http://schemas.openxmlformats.org/drawingml/2006/main">
            <a:pPr algn="ctr">
              <a:lnSpc>
                <a:spcPct val="104000"/>
              </a:lnSpc>
              <a:buNone/>
              <a:defRPr sz="2325" b="1" i="0">
                <a:solidFill>
                  <a:srgbClr val="6DCBF4"/>
                </a:solidFill>
                <a:latin typeface="Helvetica Neue"/>
                <a:ea typeface="Helvetica Neue"/>
                <a:cs typeface="Helvetica Neue"/>
              </a:defRPr>
            </a:pPr>
            <a:r>
              <a:rPr sz="2325" b="1" i="0">
                <a:solidFill>
                  <a:srgbClr val="6DCBF4"/>
                </a:solidFill>
                <a:latin typeface="Helvetica Neue"/>
                <a:ea typeface="Helvetica Neue"/>
                <a:cs typeface="Helvetica Neue"/>
              </a:rPr>
              <a:t>A reproduction can look excellent</a:t>
            </a:r>
          </a:p>
          <a:p xmlns:a="http://schemas.openxmlformats.org/drawingml/2006/main">
            <a:pPr algn="ctr">
              <a:lnSpc>
                <a:spcPct val="104000"/>
              </a:lnSpc>
              <a:buNone/>
              <a:defRPr sz="2325" b="1" i="0">
                <a:solidFill>
                  <a:srgbClr val="6DCBF4"/>
                </a:solidFill>
                <a:latin typeface="Helvetica Neue"/>
                <a:ea typeface="Helvetica Neue"/>
                <a:cs typeface="Helvetica Neue"/>
              </a:defRPr>
            </a:pPr>
            <a:r>
              <a:rPr sz="2325" b="1" i="0">
                <a:solidFill>
                  <a:srgbClr val="6DCBF4"/>
                </a:solidFill>
                <a:latin typeface="Helvetica Neue"/>
                <a:ea typeface="Helvetica Neue"/>
                <a:cs typeface="Helvetica Neue"/>
              </a:rPr>
              <a:t>and still answer the wrong question.</a:t>
            </a:r>
          </a:p>
        </p:txBody>
      </p:sp>
      <p:sp>
        <p:nvSpPr>
          <p:cNvPr id="7" name="">
            <a:extLst xmlns:a="http://schemas.openxmlformats.org/drawingml/2006/main">
              <a:ext uri="{FF2B5EF4-FFF2-40B4-BE49-F238E27FC236}">
                <a16:creationId xmlns:a16="http://schemas.microsoft.com/office/drawing/2014/main" id="{430F6087-A93F-4D79-AAD6-EFCA561C565E}"/>
              </a:ext>
            </a:extLst>
          </p:cNvPr>
          <p:cNvSpPr>
            <a:spLocks xmlns:a="http://schemas.openxmlformats.org/drawingml/2006/main" noGrp="1"/>
          </p:cNvSpPr>
          <p:nvPr/>
        </p:nvSpPr>
        <p:spPr>
          <a:xfrm xmlns:a="http://schemas.openxmlformats.org/drawingml/2006/main">
            <a:off x="5600700" y="3619500"/>
            <a:ext cx="1028700" cy="400050"/>
          </a:xfrm>
          <a:prstGeom xmlns:a="http://schemas.openxmlformats.org/drawingml/2006/main" prst="rightArrow">
            <a:avLst/>
          </a:prstGeom>
          <a:solidFill xmlns:a="http://schemas.openxmlformats.org/drawingml/2006/main">
            <a:srgbClr val="F57748"/>
          </a:solidFill>
          <a:ln xmlns:a="http://schemas.openxmlformats.org/drawingml/2006/main" w="9525">
            <a:solidFill>
              <a:srgbClr val="F57748"/>
            </a:solidFill>
            <a:prstDash val="solid"/>
          </a:ln>
        </p:spPr>
      </p:sp>
      <p:sp>
        <p:nvSpPr>
          <p:cNvPr id="8" name="">
            <a:extLst xmlns:a="http://schemas.openxmlformats.org/drawingml/2006/main">
              <a:ext uri="{FF2B5EF4-FFF2-40B4-BE49-F238E27FC236}">
                <a16:creationId xmlns:a16="http://schemas.microsoft.com/office/drawing/2014/main" id="{49AD4F6C-D194-4742-A152-1FFEEF920BCC}"/>
              </a:ext>
            </a:extLst>
          </p:cNvPr>
          <p:cNvSpPr>
            <a:spLocks xmlns:a="http://schemas.openxmlformats.org/drawingml/2006/main" noGrp="1"/>
          </p:cNvSpPr>
          <p:nvPr/>
        </p:nvSpPr>
        <p:spPr>
          <a:xfrm xmlns:a="http://schemas.openxmlformats.org/drawingml/2006/main">
            <a:off x="6953250" y="2514600"/>
            <a:ext cx="4381500" cy="2857500"/>
          </a:xfrm>
          <a:prstGeom xmlns:a="http://schemas.openxmlformats.org/drawingml/2006/main" prst="roundRect">
            <a:avLst>
              <a:gd name="adj" fmla="val 2667"/>
            </a:avLst>
          </a:prstGeom>
          <a:solidFill xmlns:a="http://schemas.openxmlformats.org/drawingml/2006/main">
            <a:srgbClr val="FCE8D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92D4ECCD-F2C7-4865-A8C9-7CA0F3F9432C}"/>
              </a:ext>
            </a:extLst>
          </p:cNvPr>
          <p:cNvSpPr>
            <a:spLocks xmlns:a="http://schemas.openxmlformats.org/drawingml/2006/main" noGrp="1"/>
          </p:cNvSpPr>
          <p:nvPr/>
        </p:nvSpPr>
        <p:spPr>
          <a:xfrm xmlns:a="http://schemas.openxmlformats.org/drawingml/2006/main">
            <a:off x="7315200" y="2876550"/>
            <a:ext cx="3524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400" b="1" i="0">
                <a:solidFill>
                  <a:srgbClr val="111111"/>
                </a:solidFill>
                <a:latin typeface="Helvetica Neue"/>
                <a:ea typeface="Helvetica Neue"/>
                <a:cs typeface="Helvetica Neue"/>
              </a:defRPr>
            </a:pPr>
            <a:r>
              <a:rPr sz="2400" b="1" i="0">
                <a:solidFill>
                  <a:srgbClr val="111111"/>
                </a:solidFill>
                <a:latin typeface="Helvetica Neue"/>
                <a:ea typeface="Helvetica Neue"/>
                <a:cs typeface="Helvetica Neue"/>
              </a:rPr>
              <a:t>The controlled version</a:t>
            </a:r>
          </a:p>
        </p:txBody>
      </p:sp>
      <p:sp>
        <p:nvSpPr>
          <p:cNvPr id="10" name="">
            <a:extLst xmlns:a="http://schemas.openxmlformats.org/drawingml/2006/main">
              <a:ext uri="{FF2B5EF4-FFF2-40B4-BE49-F238E27FC236}">
                <a16:creationId xmlns:a16="http://schemas.microsoft.com/office/drawing/2014/main" id="{C075E87E-525C-4D3D-89B7-7C0D4BE11CA9}"/>
              </a:ext>
            </a:extLst>
          </p:cNvPr>
          <p:cNvSpPr>
            <a:spLocks xmlns:a="http://schemas.openxmlformats.org/drawingml/2006/main" noGrp="1"/>
          </p:cNvSpPr>
          <p:nvPr/>
        </p:nvSpPr>
        <p:spPr>
          <a:xfrm xmlns:a="http://schemas.openxmlformats.org/drawingml/2006/main">
            <a:off x="7372350" y="3638550"/>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3E01AC2-3856-49C1-8538-4E1003FA8FA8}"/>
              </a:ext>
            </a:extLst>
          </p:cNvPr>
          <p:cNvSpPr>
            <a:spLocks xmlns:a="http://schemas.openxmlformats.org/drawingml/2006/main" noGrp="1"/>
          </p:cNvSpPr>
          <p:nvPr/>
        </p:nvSpPr>
        <p:spPr>
          <a:xfrm xmlns:a="http://schemas.openxmlformats.org/drawingml/2006/main">
            <a:off x="7620000" y="3562350"/>
            <a:ext cx="2990850" cy="3095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No repository search</a:t>
            </a:r>
          </a:p>
        </p:txBody>
      </p:sp>
      <p:sp>
        <p:nvSpPr>
          <p:cNvPr id="12" name="">
            <a:extLst xmlns:a="http://schemas.openxmlformats.org/drawingml/2006/main">
              <a:ext uri="{FF2B5EF4-FFF2-40B4-BE49-F238E27FC236}">
                <a16:creationId xmlns:a16="http://schemas.microsoft.com/office/drawing/2014/main" id="{24D536B1-A138-4A58-9432-DD229BD3186A}"/>
              </a:ext>
            </a:extLst>
          </p:cNvPr>
          <p:cNvSpPr>
            <a:spLocks xmlns:a="http://schemas.openxmlformats.org/drawingml/2006/main" noGrp="1"/>
          </p:cNvSpPr>
          <p:nvPr/>
        </p:nvSpPr>
        <p:spPr>
          <a:xfrm xmlns:a="http://schemas.openxmlformats.org/drawingml/2006/main">
            <a:off x="7372350" y="4043363"/>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CA18242-6C7B-4FEF-AD3E-2A528142FFAD}"/>
              </a:ext>
            </a:extLst>
          </p:cNvPr>
          <p:cNvSpPr>
            <a:spLocks xmlns:a="http://schemas.openxmlformats.org/drawingml/2006/main" noGrp="1"/>
          </p:cNvSpPr>
          <p:nvPr/>
        </p:nvSpPr>
        <p:spPr>
          <a:xfrm xmlns:a="http://schemas.openxmlformats.org/drawingml/2006/main">
            <a:off x="7620000" y="3967163"/>
            <a:ext cx="2990850" cy="3095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No GitHub source access</a:t>
            </a:r>
          </a:p>
        </p:txBody>
      </p:sp>
      <p:sp>
        <p:nvSpPr>
          <p:cNvPr id="14" name="">
            <a:extLst xmlns:a="http://schemas.openxmlformats.org/drawingml/2006/main">
              <a:ext uri="{FF2B5EF4-FFF2-40B4-BE49-F238E27FC236}">
                <a16:creationId xmlns:a16="http://schemas.microsoft.com/office/drawing/2014/main" id="{8E2FF569-BADC-4D38-9C01-23238780B998}"/>
              </a:ext>
            </a:extLst>
          </p:cNvPr>
          <p:cNvSpPr>
            <a:spLocks xmlns:a="http://schemas.openxmlformats.org/drawingml/2006/main" noGrp="1"/>
          </p:cNvSpPr>
          <p:nvPr/>
        </p:nvSpPr>
        <p:spPr>
          <a:xfrm xmlns:a="http://schemas.openxmlformats.org/drawingml/2006/main">
            <a:off x="7372350" y="4448175"/>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60D6ABF-1F4C-4F01-A2E5-091A69AAC1D7}"/>
              </a:ext>
            </a:extLst>
          </p:cNvPr>
          <p:cNvSpPr>
            <a:spLocks xmlns:a="http://schemas.openxmlformats.org/drawingml/2006/main" noGrp="1"/>
          </p:cNvSpPr>
          <p:nvPr/>
        </p:nvSpPr>
        <p:spPr>
          <a:xfrm xmlns:a="http://schemas.openxmlformats.org/drawingml/2006/main">
            <a:off x="7620000" y="4371975"/>
            <a:ext cx="2990850" cy="3095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7843"/>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No hidden reference implementation</a:t>
            </a:r>
          </a:p>
        </p:txBody>
      </p:sp>
      <p:sp>
        <p:nvSpPr>
          <p:cNvPr id="16" name="">
            <a:extLst xmlns:a="http://schemas.openxmlformats.org/drawingml/2006/main">
              <a:ext uri="{FF2B5EF4-FFF2-40B4-BE49-F238E27FC236}">
                <a16:creationId xmlns:a16="http://schemas.microsoft.com/office/drawing/2014/main" id="{D018675C-8C97-4B84-8A4D-6E5ACDC8497D}"/>
              </a:ext>
            </a:extLst>
          </p:cNvPr>
          <p:cNvSpPr>
            <a:spLocks xmlns:a="http://schemas.openxmlformats.org/drawingml/2006/main" noGrp="1"/>
          </p:cNvSpPr>
          <p:nvPr/>
        </p:nvSpPr>
        <p:spPr>
          <a:xfrm xmlns:a="http://schemas.openxmlformats.org/drawingml/2006/main">
            <a:off x="7372350" y="4852988"/>
            <a:ext cx="114300" cy="114300"/>
          </a:xfrm>
          <a:prstGeom xmlns:a="http://schemas.openxmlformats.org/drawingml/2006/main" prst="ellipse">
            <a:avLst/>
          </a:prstGeom>
          <a:solidFill xmlns:a="http://schemas.openxmlformats.org/drawingml/2006/main">
            <a:srgbClr val="3D8D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C79E7769-43F6-451B-86E7-5C0BA949D511}"/>
              </a:ext>
            </a:extLst>
          </p:cNvPr>
          <p:cNvSpPr>
            <a:spLocks xmlns:a="http://schemas.openxmlformats.org/drawingml/2006/main" noGrp="1"/>
          </p:cNvSpPr>
          <p:nvPr/>
        </p:nvSpPr>
        <p:spPr>
          <a:xfrm xmlns:a="http://schemas.openxmlformats.org/drawingml/2006/main">
            <a:off x="7620000" y="4776788"/>
            <a:ext cx="2990850" cy="309563"/>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650" b="0" i="0">
                <a:solidFill>
                  <a:srgbClr val="111111"/>
                </a:solidFill>
                <a:latin typeface="Helvetica Neue"/>
                <a:ea typeface="Helvetica Neue"/>
                <a:cs typeface="Helvetica Neue"/>
              </a:defRPr>
            </a:pPr>
            <a:r>
              <a:rPr sz="1650" b="0" i="0">
                <a:solidFill>
                  <a:srgbClr val="111111"/>
                </a:solidFill>
                <a:latin typeface="Helvetica Neue"/>
                <a:ea typeface="Helvetica Neue"/>
                <a:cs typeface="Helvetica Neue"/>
              </a:rPr>
              <a:t>Network policy enforced</a:t>
            </a:r>
          </a:p>
        </p:txBody>
      </p:sp>
      <p:sp>
        <p:nvSpPr>
          <p:cNvPr id="18" name="">
            <a:extLst xmlns:a="http://schemas.openxmlformats.org/drawingml/2006/main">
              <a:ext uri="{FF2B5EF4-FFF2-40B4-BE49-F238E27FC236}">
                <a16:creationId xmlns:a16="http://schemas.microsoft.com/office/drawing/2014/main" id="{C6D151A3-34E9-48A1-9E42-5ABF722B5A21}"/>
              </a:ext>
            </a:extLst>
          </p:cNvPr>
          <p:cNvSpPr>
            <a:spLocks xmlns:a="http://schemas.openxmlformats.org/drawingml/2006/main" noGrp="1"/>
          </p:cNvSpPr>
          <p:nvPr/>
        </p:nvSpPr>
        <p:spPr>
          <a:xfrm xmlns:a="http://schemas.openxmlformats.org/drawingml/2006/main">
            <a:off x="2857500" y="5857875"/>
            <a:ext cx="647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100" b="1" i="0">
                <a:solidFill>
                  <a:srgbClr val="FFFFFF"/>
                </a:solidFill>
                <a:latin typeface="Helvetica Neue"/>
                <a:ea typeface="Helvetica Neue"/>
                <a:cs typeface="Helvetica Neue"/>
              </a:defRPr>
            </a:pPr>
            <a:r>
              <a:rPr sz="2100" b="1" i="0">
                <a:solidFill>
                  <a:srgbClr val="FFFFFF"/>
                </a:solidFill>
                <a:latin typeface="Helvetica Neue"/>
                <a:ea typeface="Helvetica Neue"/>
                <a:cs typeface="Helvetica Neue"/>
              </a:rPr>
              <a:t>The paper is evidence. Existing code is leakage.</a:t>
            </a:r>
          </a:p>
        </p:txBody>
      </p:sp>
    </p:spTree>
    <p:extLst>
      <p:ext uri="{BB962C8B-B14F-4D97-AF65-F5344CB8AC3E}">
        <p14:creationId xmlns:p14="http://schemas.microsoft.com/office/powerpoint/2010/main" val="1379114502"/>
      </p:ext>
    </p:extLst>
  </p:cSld>
</p:sld>
</file>

<file path=ppt/slides/slide19.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A5BE664-4501-4F0E-96F5-596E2C9D8EC6}"/>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ISOLATED EXECUTION</a:t>
            </a:r>
          </a:p>
        </p:txBody>
      </p:sp>
      <p:sp>
        <p:nvSpPr>
          <p:cNvPr id="2" name="">
            <a:extLst xmlns:a="http://schemas.openxmlformats.org/drawingml/2006/main">
              <a:ext uri="{FF2B5EF4-FFF2-40B4-BE49-F238E27FC236}">
                <a16:creationId xmlns:a16="http://schemas.microsoft.com/office/drawing/2014/main" id="{0F3E6134-DE23-4447-8845-2490321A081F}"/>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Kubernetes turns those rules into infrastructure.</a:t>
            </a:r>
          </a:p>
        </p:txBody>
      </p:sp>
      <p:sp>
        <p:nvSpPr>
          <p:cNvPr id="3" name="">
            <a:extLst xmlns:a="http://schemas.openxmlformats.org/drawingml/2006/main">
              <a:ext uri="{FF2B5EF4-FFF2-40B4-BE49-F238E27FC236}">
                <a16:creationId xmlns:a16="http://schemas.microsoft.com/office/drawing/2014/main" id="{7C7EAFF5-4792-4841-B4E0-92FB8E167287}"/>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19</a:t>
            </a:r>
          </a:p>
        </p:txBody>
      </p:sp>
      <p:sp>
        <p:nvSpPr>
          <p:cNvPr id="4" name="">
            <a:extLst xmlns:a="http://schemas.openxmlformats.org/drawingml/2006/main">
              <a:ext uri="{FF2B5EF4-FFF2-40B4-BE49-F238E27FC236}">
                <a16:creationId xmlns:a16="http://schemas.microsoft.com/office/drawing/2014/main" id="{382BFF04-593E-450D-95C5-55681A48F10C}"/>
              </a:ext>
            </a:extLst>
          </p:cNvPr>
          <p:cNvSpPr>
            <a:spLocks xmlns:a="http://schemas.openxmlformats.org/drawingml/2006/main" noGrp="1"/>
          </p:cNvSpPr>
          <p:nvPr/>
        </p:nvSpPr>
        <p:spPr>
          <a:xfrm xmlns:a="http://schemas.openxmlformats.org/drawingml/2006/main">
            <a:off x="438150" y="2095500"/>
            <a:ext cx="1809750" cy="2381250"/>
          </a:xfrm>
          <a:prstGeom xmlns:a="http://schemas.openxmlformats.org/drawingml/2006/main" prst="roundRect">
            <a:avLst>
              <a:gd name="adj" fmla="val 4211"/>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446179F-C499-45BE-8F34-62AC04C32EF4}"/>
              </a:ext>
            </a:extLst>
          </p:cNvPr>
          <p:cNvSpPr>
            <a:spLocks xmlns:a="http://schemas.openxmlformats.org/drawingml/2006/main" noGrp="1"/>
          </p:cNvSpPr>
          <p:nvPr/>
        </p:nvSpPr>
        <p:spPr>
          <a:xfrm xmlns:a="http://schemas.openxmlformats.org/drawingml/2006/main">
            <a:off x="609600" y="23812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650" b="1" i="0">
                <a:solidFill>
                  <a:srgbClr val="111111"/>
                </a:solidFill>
                <a:latin typeface="Helvetica Neue"/>
                <a:ea typeface="Helvetica Neue"/>
                <a:cs typeface="Helvetica Neue"/>
              </a:defRPr>
            </a:pPr>
            <a:r>
              <a:rPr sz="1650" b="1" i="0">
                <a:solidFill>
                  <a:srgbClr val="111111"/>
                </a:solidFill>
                <a:latin typeface="Helvetica Neue"/>
                <a:ea typeface="Helvetica Neue"/>
                <a:cs typeface="Helvetica Neue"/>
              </a:rPr>
              <a:t>Orchestrator</a:t>
            </a:r>
          </a:p>
        </p:txBody>
      </p:sp>
      <p:sp>
        <p:nvSpPr>
          <p:cNvPr id="6" name="">
            <a:extLst xmlns:a="http://schemas.openxmlformats.org/drawingml/2006/main">
              <a:ext uri="{FF2B5EF4-FFF2-40B4-BE49-F238E27FC236}">
                <a16:creationId xmlns:a16="http://schemas.microsoft.com/office/drawing/2014/main" id="{D096CF54-E1E5-442C-9430-11E8ABAA67A9}"/>
              </a:ext>
            </a:extLst>
          </p:cNvPr>
          <p:cNvSpPr>
            <a:spLocks xmlns:a="http://schemas.openxmlformats.org/drawingml/2006/main" noGrp="1"/>
          </p:cNvSpPr>
          <p:nvPr/>
        </p:nvSpPr>
        <p:spPr>
          <a:xfrm xmlns:a="http://schemas.openxmlformats.org/drawingml/2006/main">
            <a:off x="609600" y="30861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launch</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recover</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collect</a:t>
            </a:r>
          </a:p>
        </p:txBody>
      </p:sp>
      <p:sp>
        <p:nvSpPr>
          <p:cNvPr id="7" name="">
            <a:extLst xmlns:a="http://schemas.openxmlformats.org/drawingml/2006/main">
              <a:ext uri="{FF2B5EF4-FFF2-40B4-BE49-F238E27FC236}">
                <a16:creationId xmlns:a16="http://schemas.microsoft.com/office/drawing/2014/main" id="{D8F862AF-09E2-45C9-BC83-16ED6C16EB3C}"/>
              </a:ext>
            </a:extLst>
          </p:cNvPr>
          <p:cNvSpPr>
            <a:spLocks xmlns:a="http://schemas.openxmlformats.org/drawingml/2006/main" noGrp="1"/>
          </p:cNvSpPr>
          <p:nvPr/>
        </p:nvSpPr>
        <p:spPr>
          <a:xfrm xmlns:a="http://schemas.openxmlformats.org/drawingml/2006/main">
            <a:off x="2324100" y="3095625"/>
            <a:ext cx="323850" cy="26670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8" name="">
            <a:extLst xmlns:a="http://schemas.openxmlformats.org/drawingml/2006/main">
              <a:ext uri="{FF2B5EF4-FFF2-40B4-BE49-F238E27FC236}">
                <a16:creationId xmlns:a16="http://schemas.microsoft.com/office/drawing/2014/main" id="{484F0E2D-88F2-4605-9C6F-33AF16CE058E}"/>
              </a:ext>
            </a:extLst>
          </p:cNvPr>
          <p:cNvSpPr>
            <a:spLocks xmlns:a="http://schemas.openxmlformats.org/drawingml/2006/main" noGrp="1"/>
          </p:cNvSpPr>
          <p:nvPr/>
        </p:nvSpPr>
        <p:spPr>
          <a:xfrm xmlns:a="http://schemas.openxmlformats.org/drawingml/2006/main">
            <a:off x="2724150" y="2095500"/>
            <a:ext cx="2000250" cy="2381250"/>
          </a:xfrm>
          <a:prstGeom xmlns:a="http://schemas.openxmlformats.org/drawingml/2006/main" prst="roundRect">
            <a:avLst>
              <a:gd name="adj" fmla="val 3810"/>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E171F48-AFE2-4B81-9E32-59E3F1FBADB1}"/>
              </a:ext>
            </a:extLst>
          </p:cNvPr>
          <p:cNvSpPr>
            <a:spLocks xmlns:a="http://schemas.openxmlformats.org/drawingml/2006/main" noGrp="1"/>
          </p:cNvSpPr>
          <p:nvPr/>
        </p:nvSpPr>
        <p:spPr>
          <a:xfrm xmlns:a="http://schemas.openxmlformats.org/drawingml/2006/main">
            <a:off x="2895600" y="23812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Durable Job</a:t>
            </a:r>
          </a:p>
        </p:txBody>
      </p:sp>
      <p:sp>
        <p:nvSpPr>
          <p:cNvPr id="10" name="">
            <a:extLst xmlns:a="http://schemas.openxmlformats.org/drawingml/2006/main">
              <a:ext uri="{FF2B5EF4-FFF2-40B4-BE49-F238E27FC236}">
                <a16:creationId xmlns:a16="http://schemas.microsoft.com/office/drawing/2014/main" id="{70EA59FA-57C0-4B07-B755-E83CB9318EAF}"/>
              </a:ext>
            </a:extLst>
          </p:cNvPr>
          <p:cNvSpPr>
            <a:spLocks xmlns:a="http://schemas.openxmlformats.org/drawingml/2006/main" noGrp="1"/>
          </p:cNvSpPr>
          <p:nvPr/>
        </p:nvSpPr>
        <p:spPr>
          <a:xfrm xmlns:a="http://schemas.openxmlformats.org/drawingml/2006/main">
            <a:off x="2895600" y="3086100"/>
            <a:ext cx="1657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timeouts</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watchdog</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status</a:t>
            </a:r>
          </a:p>
        </p:txBody>
      </p:sp>
      <p:sp>
        <p:nvSpPr>
          <p:cNvPr id="11" name="">
            <a:extLst xmlns:a="http://schemas.openxmlformats.org/drawingml/2006/main">
              <a:ext uri="{FF2B5EF4-FFF2-40B4-BE49-F238E27FC236}">
                <a16:creationId xmlns:a16="http://schemas.microsoft.com/office/drawing/2014/main" id="{C3DCEC80-778C-44F1-A626-F74DCC6EF0EE}"/>
              </a:ext>
            </a:extLst>
          </p:cNvPr>
          <p:cNvSpPr>
            <a:spLocks xmlns:a="http://schemas.openxmlformats.org/drawingml/2006/main" noGrp="1"/>
          </p:cNvSpPr>
          <p:nvPr/>
        </p:nvSpPr>
        <p:spPr>
          <a:xfrm xmlns:a="http://schemas.openxmlformats.org/drawingml/2006/main">
            <a:off x="4800600" y="3095625"/>
            <a:ext cx="323850" cy="26670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2" name="">
            <a:extLst xmlns:a="http://schemas.openxmlformats.org/drawingml/2006/main">
              <a:ext uri="{FF2B5EF4-FFF2-40B4-BE49-F238E27FC236}">
                <a16:creationId xmlns:a16="http://schemas.microsoft.com/office/drawing/2014/main" id="{C0FDC07B-0482-4AFD-A3CE-703420EA0283}"/>
              </a:ext>
            </a:extLst>
          </p:cNvPr>
          <p:cNvSpPr>
            <a:spLocks xmlns:a="http://schemas.openxmlformats.org/drawingml/2006/main" noGrp="1"/>
          </p:cNvSpPr>
          <p:nvPr/>
        </p:nvSpPr>
        <p:spPr>
          <a:xfrm xmlns:a="http://schemas.openxmlformats.org/drawingml/2006/main">
            <a:off x="5200650" y="2095500"/>
            <a:ext cx="2000250" cy="2381250"/>
          </a:xfrm>
          <a:prstGeom xmlns:a="http://schemas.openxmlformats.org/drawingml/2006/main" prst="roundRect">
            <a:avLst>
              <a:gd name="adj" fmla="val 3810"/>
            </a:avLst>
          </a:prstGeom>
          <a:solidFill xmlns:a="http://schemas.openxmlformats.org/drawingml/2006/main">
            <a:srgbClr val="FCE8D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D902A31-31D7-414A-9765-1A12CA0122F5}"/>
              </a:ext>
            </a:extLst>
          </p:cNvPr>
          <p:cNvSpPr>
            <a:spLocks xmlns:a="http://schemas.openxmlformats.org/drawingml/2006/main" noGrp="1"/>
          </p:cNvSpPr>
          <p:nvPr/>
        </p:nvSpPr>
        <p:spPr>
          <a:xfrm xmlns:a="http://schemas.openxmlformats.org/drawingml/2006/main">
            <a:off x="5372100" y="2381250"/>
            <a:ext cx="16573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Agent init</a:t>
            </a:r>
          </a:p>
        </p:txBody>
      </p:sp>
      <p:sp>
        <p:nvSpPr>
          <p:cNvPr id="14" name="">
            <a:extLst xmlns:a="http://schemas.openxmlformats.org/drawingml/2006/main">
              <a:ext uri="{FF2B5EF4-FFF2-40B4-BE49-F238E27FC236}">
                <a16:creationId xmlns:a16="http://schemas.microsoft.com/office/drawing/2014/main" id="{4388F161-20E9-4FF2-8A6C-ED88449F0494}"/>
              </a:ext>
            </a:extLst>
          </p:cNvPr>
          <p:cNvSpPr>
            <a:spLocks xmlns:a="http://schemas.openxmlformats.org/drawingml/2006/main" noGrp="1"/>
          </p:cNvSpPr>
          <p:nvPr/>
        </p:nvSpPr>
        <p:spPr>
          <a:xfrm xmlns:a="http://schemas.openxmlformats.org/drawingml/2006/main">
            <a:off x="5372100" y="3086100"/>
            <a:ext cx="16573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paper</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prompt</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tools</a:t>
            </a:r>
          </a:p>
        </p:txBody>
      </p:sp>
      <p:sp>
        <p:nvSpPr>
          <p:cNvPr id="15" name="">
            <a:extLst xmlns:a="http://schemas.openxmlformats.org/drawingml/2006/main">
              <a:ext uri="{FF2B5EF4-FFF2-40B4-BE49-F238E27FC236}">
                <a16:creationId xmlns:a16="http://schemas.microsoft.com/office/drawing/2014/main" id="{145C40C2-3337-4C9C-97CD-83672C3F1B35}"/>
              </a:ext>
            </a:extLst>
          </p:cNvPr>
          <p:cNvSpPr>
            <a:spLocks xmlns:a="http://schemas.openxmlformats.org/drawingml/2006/main" noGrp="1"/>
          </p:cNvSpPr>
          <p:nvPr/>
        </p:nvSpPr>
        <p:spPr>
          <a:xfrm xmlns:a="http://schemas.openxmlformats.org/drawingml/2006/main">
            <a:off x="7277100" y="3095625"/>
            <a:ext cx="323850" cy="26670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6" name="">
            <a:extLst xmlns:a="http://schemas.openxmlformats.org/drawingml/2006/main">
              <a:ext uri="{FF2B5EF4-FFF2-40B4-BE49-F238E27FC236}">
                <a16:creationId xmlns:a16="http://schemas.microsoft.com/office/drawing/2014/main" id="{E846EDD1-4903-4B74-AC68-88A97E696BCA}"/>
              </a:ext>
            </a:extLst>
          </p:cNvPr>
          <p:cNvSpPr>
            <a:spLocks xmlns:a="http://schemas.openxmlformats.org/drawingml/2006/main" noGrp="1"/>
          </p:cNvSpPr>
          <p:nvPr/>
        </p:nvSpPr>
        <p:spPr>
          <a:xfrm xmlns:a="http://schemas.openxmlformats.org/drawingml/2006/main">
            <a:off x="7677150" y="2095500"/>
            <a:ext cx="1809750" cy="2381250"/>
          </a:xfrm>
          <a:prstGeom xmlns:a="http://schemas.openxmlformats.org/drawingml/2006/main" prst="roundRect">
            <a:avLst>
              <a:gd name="adj" fmla="val 4211"/>
            </a:avLst>
          </a:prstGeom>
          <a:solidFill xmlns:a="http://schemas.openxmlformats.org/drawingml/2006/main">
            <a:srgbClr val="E6F4ED"/>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33307BD-CD4C-4FEA-A9B0-16016164F674}"/>
              </a:ext>
            </a:extLst>
          </p:cNvPr>
          <p:cNvSpPr>
            <a:spLocks xmlns:a="http://schemas.openxmlformats.org/drawingml/2006/main" noGrp="1"/>
          </p:cNvSpPr>
          <p:nvPr/>
        </p:nvSpPr>
        <p:spPr>
          <a:xfrm xmlns:a="http://schemas.openxmlformats.org/drawingml/2006/main">
            <a:off x="7848600" y="23812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Evaluator</a:t>
            </a:r>
          </a:p>
        </p:txBody>
      </p:sp>
      <p:sp>
        <p:nvSpPr>
          <p:cNvPr id="18" name="">
            <a:extLst xmlns:a="http://schemas.openxmlformats.org/drawingml/2006/main">
              <a:ext uri="{FF2B5EF4-FFF2-40B4-BE49-F238E27FC236}">
                <a16:creationId xmlns:a16="http://schemas.microsoft.com/office/drawing/2014/main" id="{FB2AEDB1-E4E3-4D70-AF06-CC1ABD3FE78F}"/>
              </a:ext>
            </a:extLst>
          </p:cNvPr>
          <p:cNvSpPr>
            <a:spLocks xmlns:a="http://schemas.openxmlformats.org/drawingml/2006/main" noGrp="1"/>
          </p:cNvSpPr>
          <p:nvPr/>
        </p:nvSpPr>
        <p:spPr>
          <a:xfrm xmlns:a="http://schemas.openxmlformats.org/drawingml/2006/main">
            <a:off x="7848600" y="30861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reference</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metrics</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report</a:t>
            </a:r>
          </a:p>
        </p:txBody>
      </p:sp>
      <p:sp>
        <p:nvSpPr>
          <p:cNvPr id="19" name="">
            <a:extLst xmlns:a="http://schemas.openxmlformats.org/drawingml/2006/main">
              <a:ext uri="{FF2B5EF4-FFF2-40B4-BE49-F238E27FC236}">
                <a16:creationId xmlns:a16="http://schemas.microsoft.com/office/drawing/2014/main" id="{B1BC6689-126F-40D1-86C1-157B59B31A54}"/>
              </a:ext>
            </a:extLst>
          </p:cNvPr>
          <p:cNvSpPr>
            <a:spLocks xmlns:a="http://schemas.openxmlformats.org/drawingml/2006/main" noGrp="1"/>
          </p:cNvSpPr>
          <p:nvPr/>
        </p:nvSpPr>
        <p:spPr>
          <a:xfrm xmlns:a="http://schemas.openxmlformats.org/drawingml/2006/main">
            <a:off x="9563100" y="3095625"/>
            <a:ext cx="323850" cy="266700"/>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20" name="">
            <a:extLst xmlns:a="http://schemas.openxmlformats.org/drawingml/2006/main">
              <a:ext uri="{FF2B5EF4-FFF2-40B4-BE49-F238E27FC236}">
                <a16:creationId xmlns:a16="http://schemas.microsoft.com/office/drawing/2014/main" id="{5B0F0523-FBE2-4274-BCD4-D4013130FFDD}"/>
              </a:ext>
            </a:extLst>
          </p:cNvPr>
          <p:cNvSpPr>
            <a:spLocks xmlns:a="http://schemas.openxmlformats.org/drawingml/2006/main" noGrp="1"/>
          </p:cNvSpPr>
          <p:nvPr/>
        </p:nvSpPr>
        <p:spPr>
          <a:xfrm xmlns:a="http://schemas.openxmlformats.org/drawingml/2006/main">
            <a:off x="9963150" y="2095500"/>
            <a:ext cx="1809750" cy="2381250"/>
          </a:xfrm>
          <a:prstGeom xmlns:a="http://schemas.openxmlformats.org/drawingml/2006/main" prst="roundRect">
            <a:avLst>
              <a:gd name="adj" fmla="val 4211"/>
            </a:avLst>
          </a:prstGeom>
          <a:solidFill xmlns:a="http://schemas.openxmlformats.org/drawingml/2006/main">
            <a:srgbClr val="EDEDED"/>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7CEDF6FA-A5E9-48DB-8AF2-32C9C7292337}"/>
              </a:ext>
            </a:extLst>
          </p:cNvPr>
          <p:cNvSpPr>
            <a:spLocks xmlns:a="http://schemas.openxmlformats.org/drawingml/2006/main" noGrp="1"/>
          </p:cNvSpPr>
          <p:nvPr/>
        </p:nvSpPr>
        <p:spPr>
          <a:xfrm xmlns:a="http://schemas.openxmlformats.org/drawingml/2006/main">
            <a:off x="10134600" y="2381250"/>
            <a:ext cx="146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025" b="1" i="0">
                <a:solidFill>
                  <a:srgbClr val="111111"/>
                </a:solidFill>
                <a:latin typeface="Helvetica Neue"/>
                <a:ea typeface="Helvetica Neue"/>
                <a:cs typeface="Helvetica Neue"/>
              </a:defRPr>
            </a:pPr>
            <a:r>
              <a:rPr sz="2025" b="1" i="0">
                <a:solidFill>
                  <a:srgbClr val="111111"/>
                </a:solidFill>
                <a:latin typeface="Helvetica Neue"/>
                <a:ea typeface="Helvetica Neue"/>
                <a:cs typeface="Helvetica Neue"/>
              </a:rPr>
              <a:t>Artifacts</a:t>
            </a:r>
          </a:p>
        </p:txBody>
      </p:sp>
      <p:sp>
        <p:nvSpPr>
          <p:cNvPr id="22" name="">
            <a:extLst xmlns:a="http://schemas.openxmlformats.org/drawingml/2006/main">
              <a:ext uri="{FF2B5EF4-FFF2-40B4-BE49-F238E27FC236}">
                <a16:creationId xmlns:a16="http://schemas.microsoft.com/office/drawing/2014/main" id="{45602366-5694-4C22-BC31-31B45BB0FDF3}"/>
              </a:ext>
            </a:extLst>
          </p:cNvPr>
          <p:cNvSpPr>
            <a:spLocks xmlns:a="http://schemas.openxmlformats.org/drawingml/2006/main" noGrp="1"/>
          </p:cNvSpPr>
          <p:nvPr/>
        </p:nvSpPr>
        <p:spPr>
          <a:xfrm xmlns:a="http://schemas.openxmlformats.org/drawingml/2006/main">
            <a:off x="10134600" y="3086100"/>
            <a:ext cx="1466850" cy="1066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manifest</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plots</a:t>
            </a:r>
          </a:p>
          <a:p xmlns:a="http://schemas.openxmlformats.org/drawingml/2006/main">
            <a:pPr algn="ctr">
              <a:lnSpc>
                <a:spcPct val="114000"/>
              </a:lnSpc>
              <a:buNone/>
              <a:defRPr sz="1650" b="0" i="0">
                <a:solidFill>
                  <a:srgbClr val="52616B"/>
                </a:solidFill>
                <a:latin typeface="Helvetica Neue"/>
                <a:ea typeface="Helvetica Neue"/>
                <a:cs typeface="Helvetica Neue"/>
              </a:defRPr>
            </a:pPr>
            <a:r>
              <a:rPr sz="1650" b="0" i="0">
                <a:solidFill>
                  <a:srgbClr val="52616B"/>
                </a:solidFill>
                <a:latin typeface="Helvetica Neue"/>
                <a:ea typeface="Helvetica Neue"/>
                <a:cs typeface="Helvetica Neue"/>
              </a:rPr>
              <a:t>review</a:t>
            </a:r>
          </a:p>
        </p:txBody>
      </p:sp>
      <p:sp>
        <p:nvSpPr>
          <p:cNvPr id="23" name="">
            <a:extLst xmlns:a="http://schemas.openxmlformats.org/drawingml/2006/main">
              <a:ext uri="{FF2B5EF4-FFF2-40B4-BE49-F238E27FC236}">
                <a16:creationId xmlns:a16="http://schemas.microsoft.com/office/drawing/2014/main" id="{252BC814-1CE7-428B-A9E0-6271B88AAD36}"/>
              </a:ext>
            </a:extLst>
          </p:cNvPr>
          <p:cNvSpPr>
            <a:spLocks xmlns:a="http://schemas.openxmlformats.org/drawingml/2006/main" noGrp="1"/>
          </p:cNvSpPr>
          <p:nvPr/>
        </p:nvSpPr>
        <p:spPr>
          <a:xfrm xmlns:a="http://schemas.openxmlformats.org/drawingml/2006/main">
            <a:off x="2714625" y="4953000"/>
            <a:ext cx="6781800" cy="781050"/>
          </a:xfrm>
          <a:prstGeom xmlns:a="http://schemas.openxmlformats.org/drawingml/2006/main" prst="roundRect">
            <a:avLst>
              <a:gd name="adj" fmla="val 9756"/>
            </a:avLst>
          </a:prstGeom>
          <a:solidFill xmlns:a="http://schemas.openxmlformats.org/drawingml/2006/main">
            <a:srgbClr val="111111"/>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7DA2731-FD0D-4FDB-8F46-158E29BF1CBF}"/>
              </a:ext>
            </a:extLst>
          </p:cNvPr>
          <p:cNvSpPr>
            <a:spLocks xmlns:a="http://schemas.openxmlformats.org/drawingml/2006/main" noGrp="1"/>
          </p:cNvSpPr>
          <p:nvPr/>
        </p:nvSpPr>
        <p:spPr>
          <a:xfrm xmlns:a="http://schemas.openxmlformats.org/drawingml/2006/main">
            <a:off x="3009900" y="5200650"/>
            <a:ext cx="619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746"/>
          </a:bodyPr>
          <a:lstStyle xmlns:a="http://schemas.openxmlformats.org/drawingml/2006/main"/>
          <a:p xmlns:a="http://schemas.openxmlformats.org/drawingml/2006/main">
            <a:pPr algn="ctr">
              <a:lnSpc>
                <a:spcPct val="102000"/>
              </a:lnSpc>
              <a:buNone/>
              <a:defRPr sz="1725" b="1" i="0">
                <a:solidFill>
                  <a:srgbClr val="FFFFFF"/>
                </a:solidFill>
                <a:latin typeface="Helvetica Neue"/>
                <a:ea typeface="Helvetica Neue"/>
                <a:cs typeface="Helvetica Neue"/>
              </a:defRPr>
            </a:pPr>
            <a:r>
              <a:rPr sz="1725" b="1" i="0">
                <a:solidFill>
                  <a:srgbClr val="FFFFFF"/>
                </a:solidFill>
                <a:latin typeface="Helvetica Neue"/>
                <a:ea typeface="Helvetica Neue"/>
                <a:cs typeface="Helvetica Neue"/>
              </a:rPr>
              <a:t>Persistent volume: code, outputs, transcript, evaluator products</a:t>
            </a:r>
          </a:p>
        </p:txBody>
      </p:sp>
      <p:sp>
        <p:nvSpPr>
          <p:cNvPr id="25" name="">
            <a:extLst xmlns:a="http://schemas.openxmlformats.org/drawingml/2006/main">
              <a:ext uri="{FF2B5EF4-FFF2-40B4-BE49-F238E27FC236}">
                <a16:creationId xmlns:a16="http://schemas.microsoft.com/office/drawing/2014/main" id="{7B7955F5-506A-4915-AF1D-D1A1F82821BF}"/>
              </a:ext>
            </a:extLst>
          </p:cNvPr>
          <p:cNvSpPr>
            <a:spLocks xmlns:a="http://schemas.openxmlformats.org/drawingml/2006/main" noGrp="1"/>
          </p:cNvSpPr>
          <p:nvPr/>
        </p:nvSpPr>
        <p:spPr>
          <a:xfrm xmlns:a="http://schemas.openxmlformats.org/drawingml/2006/main">
            <a:off x="3048000" y="6000750"/>
            <a:ext cx="6096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498"/>
          </a:bodyPr>
          <a:lstStyle xmlns:a="http://schemas.openxmlformats.org/drawingml/2006/main"/>
          <a:p xmlns:a="http://schemas.openxmlformats.org/drawingml/2006/main">
            <a:pPr algn="ctr">
              <a:lnSpc>
                <a:spcPct val="102000"/>
              </a:lnSpc>
              <a:buNone/>
              <a:defRPr sz="1875" b="1" i="0">
                <a:solidFill>
                  <a:srgbClr val="3D8DFF"/>
                </a:solidFill>
                <a:latin typeface="Helvetica Neue"/>
                <a:ea typeface="Helvetica Neue"/>
                <a:cs typeface="Helvetica Neue"/>
              </a:defRPr>
            </a:pPr>
            <a:r>
              <a:rPr sz="1875" b="1" i="0">
                <a:solidFill>
                  <a:srgbClr val="3D8DFF"/>
                </a:solidFill>
                <a:latin typeface="Helvetica Neue"/>
                <a:ea typeface="Helvetica Neue"/>
                <a:cs typeface="Helvetica Neue"/>
              </a:rPr>
              <a:t>The untrusted agent never sees the trusted reference.</a:t>
            </a:r>
          </a:p>
        </p:txBody>
      </p:sp>
    </p:spTree>
    <p:extLst>
      <p:ext uri="{BB962C8B-B14F-4D97-AF65-F5344CB8AC3E}">
        <p14:creationId xmlns:p14="http://schemas.microsoft.com/office/powerpoint/2010/main" val="1024107476"/>
      </p:ext>
    </p:extLst>
  </p:cSld>
</p:sld>
</file>

<file path=ppt/slides/slide20.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573A7852-3591-4A79-A72E-26DFF49E4778}"/>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THE EXPERIMENTAL LOOP</a:t>
            </a:r>
          </a:p>
        </p:txBody>
      </p:sp>
      <p:sp>
        <p:nvSpPr>
          <p:cNvPr id="2" name="">
            <a:extLst xmlns:a="http://schemas.openxmlformats.org/drawingml/2006/main">
              <a:ext uri="{FF2B5EF4-FFF2-40B4-BE49-F238E27FC236}">
                <a16:creationId xmlns:a16="http://schemas.microsoft.com/office/drawing/2014/main" id="{24816694-E587-44AE-A975-D10B6521E136}"/>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harness separates generation from judgment.</a:t>
            </a:r>
          </a:p>
        </p:txBody>
      </p:sp>
      <p:sp>
        <p:nvSpPr>
          <p:cNvPr id="3" name="">
            <a:extLst xmlns:a="http://schemas.openxmlformats.org/drawingml/2006/main">
              <a:ext uri="{FF2B5EF4-FFF2-40B4-BE49-F238E27FC236}">
                <a16:creationId xmlns:a16="http://schemas.microsoft.com/office/drawing/2014/main" id="{F6533F95-C572-4999-9C31-04CE0724892A}"/>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20</a:t>
            </a:r>
          </a:p>
        </p:txBody>
      </p:sp>
      <p:sp>
        <p:nvSpPr>
          <p:cNvPr id="4" name="">
            <a:extLst xmlns:a="http://schemas.openxmlformats.org/drawingml/2006/main">
              <a:ext uri="{FF2B5EF4-FFF2-40B4-BE49-F238E27FC236}">
                <a16:creationId xmlns:a16="http://schemas.microsoft.com/office/drawing/2014/main" id="{E558BDA3-BAFE-4F18-AFF8-F10F19C493C2}"/>
              </a:ext>
            </a:extLst>
          </p:cNvPr>
          <p:cNvSpPr>
            <a:spLocks xmlns:a="http://schemas.openxmlformats.org/drawingml/2006/main" noGrp="1"/>
          </p:cNvSpPr>
          <p:nvPr/>
        </p:nvSpPr>
        <p:spPr>
          <a:xfrm xmlns:a="http://schemas.openxmlformats.org/drawingml/2006/main">
            <a:off x="400050" y="1600200"/>
            <a:ext cx="2571750" cy="37528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965FDB67-D8F6-4D1D-9983-45C3272E4D39}"/>
              </a:ext>
            </a:extLst>
          </p:cNvPr>
          <p:cNvSpPr>
            <a:spLocks xmlns:a="http://schemas.openxmlformats.org/drawingml/2006/main" noGrp="1"/>
          </p:cNvSpPr>
          <p:nvPr/>
        </p:nvSpPr>
        <p:spPr>
          <a:xfrm xmlns:a="http://schemas.openxmlformats.org/drawingml/2006/main">
            <a:off x="609600" y="18288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3D8DFF"/>
                </a:solidFill>
                <a:latin typeface="Helvetica Neue"/>
                <a:ea typeface="Helvetica Neue"/>
                <a:cs typeface="Helvetica Neue"/>
              </a:defRPr>
            </a:pPr>
            <a:r>
              <a:rPr sz="2850" b="1" i="0">
                <a:solidFill>
                  <a:srgbClr val="3D8DFF"/>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5B619199-3811-4D13-99C5-5B06EE530A10}"/>
              </a:ext>
            </a:extLst>
          </p:cNvPr>
          <p:cNvSpPr>
            <a:spLocks xmlns:a="http://schemas.openxmlformats.org/drawingml/2006/main" noGrp="1"/>
          </p:cNvSpPr>
          <p:nvPr/>
        </p:nvSpPr>
        <p:spPr>
          <a:xfrm xmlns:a="http://schemas.openxmlformats.org/drawingml/2006/main">
            <a:off x="609600" y="25336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Agent builds</a:t>
            </a:r>
          </a:p>
        </p:txBody>
      </p:sp>
      <p:sp>
        <p:nvSpPr>
          <p:cNvPr id="7" name="">
            <a:extLst xmlns:a="http://schemas.openxmlformats.org/drawingml/2006/main">
              <a:ext uri="{FF2B5EF4-FFF2-40B4-BE49-F238E27FC236}">
                <a16:creationId xmlns:a16="http://schemas.microsoft.com/office/drawing/2014/main" id="{04307072-8506-4649-92F4-B84828170B66}"/>
              </a:ext>
            </a:extLst>
          </p:cNvPr>
          <p:cNvSpPr>
            <a:spLocks xmlns:a="http://schemas.openxmlformats.org/drawingml/2006/main" noGrp="1"/>
          </p:cNvSpPr>
          <p:nvPr/>
        </p:nvSpPr>
        <p:spPr>
          <a:xfrm xmlns:a="http://schemas.openxmlformats.org/drawingml/2006/main">
            <a:off x="609600" y="3476625"/>
            <a:ext cx="21526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Reads the paper, writes code, runs simulations, and submits trajectories plus a manifest.</a:t>
            </a:r>
          </a:p>
        </p:txBody>
      </p:sp>
      <p:sp>
        <p:nvSpPr>
          <p:cNvPr id="8" name="">
            <a:extLst xmlns:a="http://schemas.openxmlformats.org/drawingml/2006/main">
              <a:ext uri="{FF2B5EF4-FFF2-40B4-BE49-F238E27FC236}">
                <a16:creationId xmlns:a16="http://schemas.microsoft.com/office/drawing/2014/main" id="{3671DED1-7A61-4E20-AF71-A305D8B5B1CA}"/>
              </a:ext>
            </a:extLst>
          </p:cNvPr>
          <p:cNvSpPr>
            <a:spLocks xmlns:a="http://schemas.openxmlformats.org/drawingml/2006/main" noGrp="1"/>
          </p:cNvSpPr>
          <p:nvPr/>
        </p:nvSpPr>
        <p:spPr>
          <a:xfrm xmlns:a="http://schemas.openxmlformats.org/drawingml/2006/main">
            <a:off x="3009900" y="3295650"/>
            <a:ext cx="266700" cy="238125"/>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9" name="">
            <a:extLst xmlns:a="http://schemas.openxmlformats.org/drawingml/2006/main">
              <a:ext uri="{FF2B5EF4-FFF2-40B4-BE49-F238E27FC236}">
                <a16:creationId xmlns:a16="http://schemas.microsoft.com/office/drawing/2014/main" id="{9CECDC1B-FAEF-42AF-B217-6B677B527609}"/>
              </a:ext>
            </a:extLst>
          </p:cNvPr>
          <p:cNvSpPr>
            <a:spLocks xmlns:a="http://schemas.openxmlformats.org/drawingml/2006/main" noGrp="1"/>
          </p:cNvSpPr>
          <p:nvPr/>
        </p:nvSpPr>
        <p:spPr>
          <a:xfrm xmlns:a="http://schemas.openxmlformats.org/drawingml/2006/main">
            <a:off x="3314700" y="1600200"/>
            <a:ext cx="2571750" cy="37528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9B653F2-D9B4-4ADD-8F74-2FC82CCF05C7}"/>
              </a:ext>
            </a:extLst>
          </p:cNvPr>
          <p:cNvSpPr>
            <a:spLocks xmlns:a="http://schemas.openxmlformats.org/drawingml/2006/main" noGrp="1"/>
          </p:cNvSpPr>
          <p:nvPr/>
        </p:nvSpPr>
        <p:spPr>
          <a:xfrm xmlns:a="http://schemas.openxmlformats.org/drawingml/2006/main">
            <a:off x="3524250" y="18288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12364A"/>
                </a:solidFill>
                <a:latin typeface="Helvetica Neue"/>
                <a:ea typeface="Helvetica Neue"/>
                <a:cs typeface="Helvetica Neue"/>
              </a:defRPr>
            </a:pPr>
            <a:r>
              <a:rPr sz="2850" b="1" i="0">
                <a:solidFill>
                  <a:srgbClr val="12364A"/>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C271137F-51FA-4F95-88E1-0792441229CF}"/>
              </a:ext>
            </a:extLst>
          </p:cNvPr>
          <p:cNvSpPr>
            <a:spLocks xmlns:a="http://schemas.openxmlformats.org/drawingml/2006/main" noGrp="1"/>
          </p:cNvSpPr>
          <p:nvPr/>
        </p:nvSpPr>
        <p:spPr>
          <a:xfrm xmlns:a="http://schemas.openxmlformats.org/drawingml/2006/main">
            <a:off x="3524250" y="25336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5047"/>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Harness checks</a:t>
            </a:r>
          </a:p>
        </p:txBody>
      </p:sp>
      <p:sp>
        <p:nvSpPr>
          <p:cNvPr id="12" name="">
            <a:extLst xmlns:a="http://schemas.openxmlformats.org/drawingml/2006/main">
              <a:ext uri="{FF2B5EF4-FFF2-40B4-BE49-F238E27FC236}">
                <a16:creationId xmlns:a16="http://schemas.microsoft.com/office/drawing/2014/main" id="{B6FB7E2F-3047-454A-8F28-F0B86AD7F477}"/>
              </a:ext>
            </a:extLst>
          </p:cNvPr>
          <p:cNvSpPr>
            <a:spLocks xmlns:a="http://schemas.openxmlformats.org/drawingml/2006/main" noGrp="1"/>
          </p:cNvSpPr>
          <p:nvPr/>
        </p:nvSpPr>
        <p:spPr>
          <a:xfrm xmlns:a="http://schemas.openxmlformats.org/drawingml/2006/main">
            <a:off x="3524250" y="3476625"/>
            <a:ext cx="21526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Validates schemas, files, units, phases, shapes, and execution records deterministically.</a:t>
            </a:r>
          </a:p>
        </p:txBody>
      </p:sp>
      <p:sp>
        <p:nvSpPr>
          <p:cNvPr id="13" name="">
            <a:extLst xmlns:a="http://schemas.openxmlformats.org/drawingml/2006/main">
              <a:ext uri="{FF2B5EF4-FFF2-40B4-BE49-F238E27FC236}">
                <a16:creationId xmlns:a16="http://schemas.microsoft.com/office/drawing/2014/main" id="{6C07AAD1-BF47-4984-B178-8CF1F9396599}"/>
              </a:ext>
            </a:extLst>
          </p:cNvPr>
          <p:cNvSpPr>
            <a:spLocks xmlns:a="http://schemas.openxmlformats.org/drawingml/2006/main" noGrp="1"/>
          </p:cNvSpPr>
          <p:nvPr/>
        </p:nvSpPr>
        <p:spPr>
          <a:xfrm xmlns:a="http://schemas.openxmlformats.org/drawingml/2006/main">
            <a:off x="5924550" y="3295650"/>
            <a:ext cx="266700" cy="238125"/>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4" name="">
            <a:extLst xmlns:a="http://schemas.openxmlformats.org/drawingml/2006/main">
              <a:ext uri="{FF2B5EF4-FFF2-40B4-BE49-F238E27FC236}">
                <a16:creationId xmlns:a16="http://schemas.microsoft.com/office/drawing/2014/main" id="{0E5DC9F9-38EB-45CF-95B3-80C40E4AF032}"/>
              </a:ext>
            </a:extLst>
          </p:cNvPr>
          <p:cNvSpPr>
            <a:spLocks xmlns:a="http://schemas.openxmlformats.org/drawingml/2006/main" noGrp="1"/>
          </p:cNvSpPr>
          <p:nvPr/>
        </p:nvSpPr>
        <p:spPr>
          <a:xfrm xmlns:a="http://schemas.openxmlformats.org/drawingml/2006/main">
            <a:off x="6229350" y="1600200"/>
            <a:ext cx="2571750" cy="37528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7A86914-5590-4D80-BF14-41B1396ED508}"/>
              </a:ext>
            </a:extLst>
          </p:cNvPr>
          <p:cNvSpPr>
            <a:spLocks xmlns:a="http://schemas.openxmlformats.org/drawingml/2006/main" noGrp="1"/>
          </p:cNvSpPr>
          <p:nvPr/>
        </p:nvSpPr>
        <p:spPr>
          <a:xfrm xmlns:a="http://schemas.openxmlformats.org/drawingml/2006/main">
            <a:off x="6438900" y="18288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2F9E72"/>
                </a:solidFill>
                <a:latin typeface="Helvetica Neue"/>
                <a:ea typeface="Helvetica Neue"/>
                <a:cs typeface="Helvetica Neue"/>
              </a:defRPr>
            </a:pPr>
            <a:r>
              <a:rPr sz="2850" b="1" i="0">
                <a:solidFill>
                  <a:srgbClr val="2F9E72"/>
                </a:solidFill>
                <a:latin typeface="Helvetica Neue"/>
                <a:ea typeface="Helvetica Neue"/>
                <a:cs typeface="Helvetica Neue"/>
              </a:rPr>
              <a:t>3</a:t>
            </a:r>
          </a:p>
        </p:txBody>
      </p:sp>
      <p:sp>
        <p:nvSpPr>
          <p:cNvPr id="16" name="">
            <a:extLst xmlns:a="http://schemas.openxmlformats.org/drawingml/2006/main">
              <a:ext uri="{FF2B5EF4-FFF2-40B4-BE49-F238E27FC236}">
                <a16:creationId xmlns:a16="http://schemas.microsoft.com/office/drawing/2014/main" id="{C3FEAEEA-44D1-4574-B329-B7F8F1FA45E7}"/>
              </a:ext>
            </a:extLst>
          </p:cNvPr>
          <p:cNvSpPr>
            <a:spLocks xmlns:a="http://schemas.openxmlformats.org/drawingml/2006/main" noGrp="1"/>
          </p:cNvSpPr>
          <p:nvPr/>
        </p:nvSpPr>
        <p:spPr>
          <a:xfrm xmlns:a="http://schemas.openxmlformats.org/drawingml/2006/main">
            <a:off x="6438900" y="25336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41"/>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Evaluator compares</a:t>
            </a:r>
          </a:p>
        </p:txBody>
      </p:sp>
      <p:sp>
        <p:nvSpPr>
          <p:cNvPr id="17" name="">
            <a:extLst xmlns:a="http://schemas.openxmlformats.org/drawingml/2006/main">
              <a:ext uri="{FF2B5EF4-FFF2-40B4-BE49-F238E27FC236}">
                <a16:creationId xmlns:a16="http://schemas.microsoft.com/office/drawing/2014/main" id="{9C4E428E-3586-4F1E-84F4-C28C818898A0}"/>
              </a:ext>
            </a:extLst>
          </p:cNvPr>
          <p:cNvSpPr>
            <a:spLocks xmlns:a="http://schemas.openxmlformats.org/drawingml/2006/main" noGrp="1"/>
          </p:cNvSpPr>
          <p:nvPr/>
        </p:nvSpPr>
        <p:spPr>
          <a:xfrm xmlns:a="http://schemas.openxmlformats.org/drawingml/2006/main">
            <a:off x="6438900" y="3476625"/>
            <a:ext cx="21526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Computes reference-relative metrics and renders plots, images, and time series.</a:t>
            </a:r>
          </a:p>
        </p:txBody>
      </p:sp>
      <p:sp>
        <p:nvSpPr>
          <p:cNvPr id="18" name="">
            <a:extLst xmlns:a="http://schemas.openxmlformats.org/drawingml/2006/main">
              <a:ext uri="{FF2B5EF4-FFF2-40B4-BE49-F238E27FC236}">
                <a16:creationId xmlns:a16="http://schemas.microsoft.com/office/drawing/2014/main" id="{63E2F0EF-D302-4863-989B-EDFC18C82C80}"/>
              </a:ext>
            </a:extLst>
          </p:cNvPr>
          <p:cNvSpPr>
            <a:spLocks xmlns:a="http://schemas.openxmlformats.org/drawingml/2006/main" noGrp="1"/>
          </p:cNvSpPr>
          <p:nvPr/>
        </p:nvSpPr>
        <p:spPr>
          <a:xfrm xmlns:a="http://schemas.openxmlformats.org/drawingml/2006/main">
            <a:off x="8839200" y="3295650"/>
            <a:ext cx="266700" cy="238125"/>
          </a:xfrm>
          <a:prstGeom xmlns:a="http://schemas.openxmlformats.org/drawingml/2006/main" prst="rightArrow">
            <a:avLst/>
          </a:prstGeom>
          <a:solidFill xmlns:a="http://schemas.openxmlformats.org/drawingml/2006/main">
            <a:srgbClr val="12364A"/>
          </a:solidFill>
          <a:ln xmlns:a="http://schemas.openxmlformats.org/drawingml/2006/main" w="9525">
            <a:solidFill>
              <a:srgbClr val="12364A"/>
            </a:solidFill>
            <a:prstDash val="solid"/>
          </a:ln>
        </p:spPr>
      </p:sp>
      <p:sp>
        <p:nvSpPr>
          <p:cNvPr id="19" name="">
            <a:extLst xmlns:a="http://schemas.openxmlformats.org/drawingml/2006/main">
              <a:ext uri="{FF2B5EF4-FFF2-40B4-BE49-F238E27FC236}">
                <a16:creationId xmlns:a16="http://schemas.microsoft.com/office/drawing/2014/main" id="{C18E5606-AB12-4E28-A330-B1725A073809}"/>
              </a:ext>
            </a:extLst>
          </p:cNvPr>
          <p:cNvSpPr>
            <a:spLocks xmlns:a="http://schemas.openxmlformats.org/drawingml/2006/main" noGrp="1"/>
          </p:cNvSpPr>
          <p:nvPr/>
        </p:nvSpPr>
        <p:spPr>
          <a:xfrm xmlns:a="http://schemas.openxmlformats.org/drawingml/2006/main">
            <a:off x="9144000" y="1600200"/>
            <a:ext cx="2571750" cy="375285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4A65C4A-9591-4B48-A8CD-E533FE380047}"/>
              </a:ext>
            </a:extLst>
          </p:cNvPr>
          <p:cNvSpPr>
            <a:spLocks xmlns:a="http://schemas.openxmlformats.org/drawingml/2006/main" noGrp="1"/>
          </p:cNvSpPr>
          <p:nvPr/>
        </p:nvSpPr>
        <p:spPr>
          <a:xfrm xmlns:a="http://schemas.openxmlformats.org/drawingml/2006/main">
            <a:off x="9353550" y="1828800"/>
            <a:ext cx="5143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850" b="1" i="0">
                <a:solidFill>
                  <a:srgbClr val="F57748"/>
                </a:solidFill>
                <a:latin typeface="Helvetica Neue"/>
                <a:ea typeface="Helvetica Neue"/>
                <a:cs typeface="Helvetica Neue"/>
              </a:defRPr>
            </a:pPr>
            <a:r>
              <a:rPr sz="2850" b="1" i="0">
                <a:solidFill>
                  <a:srgbClr val="F57748"/>
                </a:solidFill>
                <a:latin typeface="Helvetica Neue"/>
                <a:ea typeface="Helvetica Neue"/>
                <a:cs typeface="Helvetica Neue"/>
              </a:rPr>
              <a:t>4</a:t>
            </a:r>
          </a:p>
        </p:txBody>
      </p:sp>
      <p:sp>
        <p:nvSpPr>
          <p:cNvPr id="21" name="">
            <a:extLst xmlns:a="http://schemas.openxmlformats.org/drawingml/2006/main">
              <a:ext uri="{FF2B5EF4-FFF2-40B4-BE49-F238E27FC236}">
                <a16:creationId xmlns:a16="http://schemas.microsoft.com/office/drawing/2014/main" id="{5CF9BD55-4A54-4ED3-855F-943622DE1D43}"/>
              </a:ext>
            </a:extLst>
          </p:cNvPr>
          <p:cNvSpPr>
            <a:spLocks xmlns:a="http://schemas.openxmlformats.org/drawingml/2006/main" noGrp="1"/>
          </p:cNvSpPr>
          <p:nvPr/>
        </p:nvSpPr>
        <p:spPr>
          <a:xfrm xmlns:a="http://schemas.openxmlformats.org/drawingml/2006/main">
            <a:off x="9353550" y="253365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41"/>
          </a:bodyPr>
          <a:lstStyle xmlns:a="http://schemas.openxmlformats.org/drawingml/2006/main"/>
          <a:p xmlns:a="http://schemas.openxmlformats.org/drawingml/2006/main">
            <a:pPr algn="l">
              <a:lnSpc>
                <a:spcPct val="102000"/>
              </a:lnSpc>
              <a:buNone/>
              <a:defRPr sz="2325" b="1" i="0">
                <a:solidFill>
                  <a:srgbClr val="111111"/>
                </a:solidFill>
                <a:latin typeface="Helvetica Neue"/>
                <a:ea typeface="Helvetica Neue"/>
                <a:cs typeface="Helvetica Neue"/>
              </a:defRPr>
            </a:pPr>
            <a:r>
              <a:rPr sz="2325" b="1" i="0">
                <a:solidFill>
                  <a:srgbClr val="111111"/>
                </a:solidFill>
                <a:latin typeface="Helvetica Neue"/>
                <a:ea typeface="Helvetica Neue"/>
                <a:cs typeface="Helvetica Neue"/>
              </a:rPr>
              <a:t>Reviewer judges</a:t>
            </a:r>
          </a:p>
        </p:txBody>
      </p:sp>
      <p:sp>
        <p:nvSpPr>
          <p:cNvPr id="22" name="">
            <a:extLst xmlns:a="http://schemas.openxmlformats.org/drawingml/2006/main">
              <a:ext uri="{FF2B5EF4-FFF2-40B4-BE49-F238E27FC236}">
                <a16:creationId xmlns:a16="http://schemas.microsoft.com/office/drawing/2014/main" id="{CFE92B9C-9C8C-4195-B32B-00E23C08C5F5}"/>
              </a:ext>
            </a:extLst>
          </p:cNvPr>
          <p:cNvSpPr>
            <a:spLocks xmlns:a="http://schemas.openxmlformats.org/drawingml/2006/main" noGrp="1"/>
          </p:cNvSpPr>
          <p:nvPr/>
        </p:nvSpPr>
        <p:spPr>
          <a:xfrm xmlns:a="http://schemas.openxmlformats.org/drawingml/2006/main">
            <a:off x="9353550" y="3476625"/>
            <a:ext cx="21526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2000"/>
              </a:lnSpc>
              <a:buNone/>
              <a:defRPr sz="1575" b="0" i="0">
                <a:solidFill>
                  <a:srgbClr val="52616B"/>
                </a:solidFill>
                <a:latin typeface="Helvetica Neue"/>
                <a:ea typeface="Helvetica Neue"/>
                <a:cs typeface="Helvetica Neue"/>
              </a:defRPr>
            </a:pPr>
            <a:r>
              <a:rPr sz="1575" b="0" i="0">
                <a:solidFill>
                  <a:srgbClr val="52616B"/>
                </a:solidFill>
                <a:latin typeface="Helvetica Neue"/>
                <a:ea typeface="Helvetica Neue"/>
                <a:cs typeface="Helvetica Neue"/>
              </a:rPr>
              <a:t>A qualitative agent classifies the method and audits code, tests, and transcript decisions.</a:t>
            </a:r>
          </a:p>
        </p:txBody>
      </p:sp>
      <p:sp>
        <p:nvSpPr>
          <p:cNvPr id="23" name="">
            <a:extLst xmlns:a="http://schemas.openxmlformats.org/drawingml/2006/main">
              <a:ext uri="{FF2B5EF4-FFF2-40B4-BE49-F238E27FC236}">
                <a16:creationId xmlns:a16="http://schemas.microsoft.com/office/drawing/2014/main" id="{F4B7538F-8CA6-4576-A457-8C0CFD388543}"/>
              </a:ext>
            </a:extLst>
          </p:cNvPr>
          <p:cNvSpPr>
            <a:spLocks xmlns:a="http://schemas.openxmlformats.org/drawingml/2006/main" noGrp="1"/>
          </p:cNvSpPr>
          <p:nvPr/>
        </p:nvSpPr>
        <p:spPr>
          <a:xfrm xmlns:a="http://schemas.openxmlformats.org/drawingml/2006/main">
            <a:off x="3238500" y="5905500"/>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175" b="1" i="0">
                <a:solidFill>
                  <a:srgbClr val="3D8DFF"/>
                </a:solidFill>
                <a:latin typeface="Helvetica Neue"/>
                <a:ea typeface="Helvetica Neue"/>
                <a:cs typeface="Helvetica Neue"/>
              </a:defRPr>
            </a:pPr>
            <a:r>
              <a:rPr sz="2175" b="1" i="0">
                <a:solidFill>
                  <a:srgbClr val="3D8DFF"/>
                </a:solidFill>
                <a:latin typeface="Helvetica Neue"/>
                <a:ea typeface="Helvetica Neue"/>
                <a:cs typeface="Helvetica Neue"/>
              </a:rPr>
              <a:t>The agent is not allowed to grade itself.</a:t>
            </a:r>
          </a:p>
        </p:txBody>
      </p:sp>
    </p:spTree>
    <p:extLst>
      <p:ext uri="{BB962C8B-B14F-4D97-AF65-F5344CB8AC3E}">
        <p14:creationId xmlns:p14="http://schemas.microsoft.com/office/powerpoint/2010/main" val="1933275191"/>
      </p:ext>
    </p:extLst>
  </p:cSld>
</p:sld>
</file>

<file path=ppt/slides/slide21.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E474F1A8-7E0B-4F83-A8A2-5AE8A60C14A0}"/>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QUANTITATIVE EVIDENCE</a:t>
            </a:r>
          </a:p>
        </p:txBody>
      </p:sp>
      <p:sp>
        <p:nvSpPr>
          <p:cNvPr id="2" name="">
            <a:extLst xmlns:a="http://schemas.openxmlformats.org/drawingml/2006/main">
              <a:ext uri="{FF2B5EF4-FFF2-40B4-BE49-F238E27FC236}">
                <a16:creationId xmlns:a16="http://schemas.microsoft.com/office/drawing/2014/main" id="{E9AED2B3-62BA-4222-8A3F-26DE0285C748}"/>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2719"/>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deterministic evaluator asks whether the outputs behave alike.</a:t>
            </a:r>
          </a:p>
        </p:txBody>
      </p:sp>
      <p:sp>
        <p:nvSpPr>
          <p:cNvPr id="3" name="">
            <a:extLst xmlns:a="http://schemas.openxmlformats.org/drawingml/2006/main">
              <a:ext uri="{FF2B5EF4-FFF2-40B4-BE49-F238E27FC236}">
                <a16:creationId xmlns:a16="http://schemas.microsoft.com/office/drawing/2014/main" id="{37B3C9A2-04CC-4FA5-8FAA-85E89F6E9D1D}"/>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21</a:t>
            </a:r>
          </a:p>
        </p:txBody>
      </p:sp>
      <p:sp>
        <p:nvSpPr>
          <p:cNvPr id="4" name="">
            <a:extLst xmlns:a="http://schemas.openxmlformats.org/drawingml/2006/main">
              <a:ext uri="{FF2B5EF4-FFF2-40B4-BE49-F238E27FC236}">
                <a16:creationId xmlns:a16="http://schemas.microsoft.com/office/drawing/2014/main" id="{BE663FED-6505-4F74-BB44-69B4EF7D9A3D}"/>
              </a:ext>
            </a:extLst>
          </p:cNvPr>
          <p:cNvSpPr>
            <a:spLocks xmlns:a="http://schemas.openxmlformats.org/drawingml/2006/main" noGrp="1"/>
          </p:cNvSpPr>
          <p:nvPr/>
        </p:nvSpPr>
        <p:spPr>
          <a:xfrm xmlns:a="http://schemas.openxmlformats.org/drawingml/2006/main">
            <a:off x="400050" y="1657350"/>
            <a:ext cx="2571750" cy="3238500"/>
          </a:xfrm>
          <a:prstGeom xmlns:a="http://schemas.openxmlformats.org/drawingml/2006/main" prst="roundRect">
            <a:avLst>
              <a:gd name="adj" fmla="val 2963"/>
            </a:avLst>
          </a:prstGeom>
          <a:solidFill xmlns:a="http://schemas.openxmlformats.org/drawingml/2006/main">
            <a:srgbClr val="EAF5FB"/>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6823B1-0AB2-419E-B538-5523681FF14E}"/>
              </a:ext>
            </a:extLst>
          </p:cNvPr>
          <p:cNvSpPr>
            <a:spLocks xmlns:a="http://schemas.openxmlformats.org/drawingml/2006/main" noGrp="1"/>
          </p:cNvSpPr>
          <p:nvPr/>
        </p:nvSpPr>
        <p:spPr>
          <a:xfrm xmlns:a="http://schemas.openxmlformats.org/drawingml/2006/main">
            <a:off x="400050" y="1657350"/>
            <a:ext cx="2571750" cy="11430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237200F0-054B-4F13-960E-6BA777570597}"/>
              </a:ext>
            </a:extLst>
          </p:cNvPr>
          <p:cNvSpPr>
            <a:spLocks xmlns:a="http://schemas.openxmlformats.org/drawingml/2006/main" noGrp="1"/>
          </p:cNvSpPr>
          <p:nvPr/>
        </p:nvSpPr>
        <p:spPr>
          <a:xfrm xmlns:a="http://schemas.openxmlformats.org/drawingml/2006/main">
            <a:off x="628650" y="20383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3D8DFF"/>
                </a:solidFill>
                <a:latin typeface="Helvetica Neue"/>
                <a:ea typeface="Helvetica Neue"/>
                <a:cs typeface="Helvetica Neue"/>
              </a:defRPr>
            </a:pPr>
            <a:r>
              <a:rPr sz="1725" b="1" i="0">
                <a:solidFill>
                  <a:srgbClr val="3D8D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829C07B3-1F3D-4F0E-8921-E79561F8D0AD}"/>
              </a:ext>
            </a:extLst>
          </p:cNvPr>
          <p:cNvSpPr>
            <a:spLocks xmlns:a="http://schemas.openxmlformats.org/drawingml/2006/main" noGrp="1"/>
          </p:cNvSpPr>
          <p:nvPr/>
        </p:nvSpPr>
        <p:spPr>
          <a:xfrm xmlns:a="http://schemas.openxmlformats.org/drawingml/2006/main">
            <a:off x="628650" y="2724150"/>
            <a:ext cx="21145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contrast</a:t>
            </a:r>
          </a:p>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wavelength</a:t>
            </a:r>
          </a:p>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Q₂ · Q₄ · Q₆</a:t>
            </a:r>
          </a:p>
        </p:txBody>
      </p:sp>
      <p:sp>
        <p:nvSpPr>
          <p:cNvPr id="8" name="">
            <a:extLst xmlns:a="http://schemas.openxmlformats.org/drawingml/2006/main">
              <a:ext uri="{FF2B5EF4-FFF2-40B4-BE49-F238E27FC236}">
                <a16:creationId xmlns:a16="http://schemas.microsoft.com/office/drawing/2014/main" id="{CA430729-C0F6-418D-B069-342AD3AE1600}"/>
              </a:ext>
            </a:extLst>
          </p:cNvPr>
          <p:cNvSpPr>
            <a:spLocks xmlns:a="http://schemas.openxmlformats.org/drawingml/2006/main" noGrp="1"/>
          </p:cNvSpPr>
          <p:nvPr/>
        </p:nvSpPr>
        <p:spPr>
          <a:xfrm xmlns:a="http://schemas.openxmlformats.org/drawingml/2006/main">
            <a:off x="3314700" y="1657350"/>
            <a:ext cx="2571750" cy="3238500"/>
          </a:xfrm>
          <a:prstGeom xmlns:a="http://schemas.openxmlformats.org/drawingml/2006/main" prst="roundRect">
            <a:avLst>
              <a:gd name="adj" fmla="val 2963"/>
            </a:avLst>
          </a:prstGeom>
          <a:solidFill xmlns:a="http://schemas.openxmlformats.org/drawingml/2006/main">
            <a:srgbClr val="EDEDED"/>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32468B2-8AFD-4E4C-B402-17E591487ABC}"/>
              </a:ext>
            </a:extLst>
          </p:cNvPr>
          <p:cNvSpPr>
            <a:spLocks xmlns:a="http://schemas.openxmlformats.org/drawingml/2006/main" noGrp="1"/>
          </p:cNvSpPr>
          <p:nvPr/>
        </p:nvSpPr>
        <p:spPr>
          <a:xfrm xmlns:a="http://schemas.openxmlformats.org/drawingml/2006/main">
            <a:off x="3314700" y="1657350"/>
            <a:ext cx="2571750" cy="114300"/>
          </a:xfrm>
          <a:prstGeom xmlns:a="http://schemas.openxmlformats.org/drawingml/2006/main" prst="rect">
            <a:avLst/>
          </a:prstGeom>
          <a:solidFill xmlns:a="http://schemas.openxmlformats.org/drawingml/2006/main">
            <a:srgbClr val="12364A"/>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43D5FDC-9848-459C-91CA-B5D00510A868}"/>
              </a:ext>
            </a:extLst>
          </p:cNvPr>
          <p:cNvSpPr>
            <a:spLocks xmlns:a="http://schemas.openxmlformats.org/drawingml/2006/main" noGrp="1"/>
          </p:cNvSpPr>
          <p:nvPr/>
        </p:nvSpPr>
        <p:spPr>
          <a:xfrm xmlns:a="http://schemas.openxmlformats.org/drawingml/2006/main">
            <a:off x="3543300" y="20383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12364A"/>
                </a:solidFill>
                <a:latin typeface="Helvetica Neue"/>
                <a:ea typeface="Helvetica Neue"/>
                <a:cs typeface="Helvetica Neue"/>
              </a:defRPr>
            </a:pPr>
            <a:r>
              <a:rPr sz="1725" b="1" i="0">
                <a:solidFill>
                  <a:srgbClr val="12364A"/>
                </a:solidFill>
                <a:latin typeface="Helvetica Neue"/>
                <a:ea typeface="Helvetica Neue"/>
                <a:cs typeface="Helvetica Neue"/>
              </a:rPr>
              <a:t>TIMING</a:t>
            </a:r>
          </a:p>
        </p:txBody>
      </p:sp>
      <p:sp>
        <p:nvSpPr>
          <p:cNvPr id="11" name="">
            <a:extLst xmlns:a="http://schemas.openxmlformats.org/drawingml/2006/main">
              <a:ext uri="{FF2B5EF4-FFF2-40B4-BE49-F238E27FC236}">
                <a16:creationId xmlns:a16="http://schemas.microsoft.com/office/drawing/2014/main" id="{E8D9858D-80E6-41FE-9ED6-D3D522D6729F}"/>
              </a:ext>
            </a:extLst>
          </p:cNvPr>
          <p:cNvSpPr>
            <a:spLocks xmlns:a="http://schemas.openxmlformats.org/drawingml/2006/main" noGrp="1"/>
          </p:cNvSpPr>
          <p:nvPr/>
        </p:nvSpPr>
        <p:spPr>
          <a:xfrm xmlns:a="http://schemas.openxmlformats.org/drawingml/2006/main">
            <a:off x="3543300" y="2724150"/>
            <a:ext cx="21145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phase alignment</a:t>
            </a:r>
          </a:p>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f/2 vs f/4</a:t>
            </a:r>
          </a:p>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temporal correlation</a:t>
            </a:r>
          </a:p>
        </p:txBody>
      </p:sp>
      <p:sp>
        <p:nvSpPr>
          <p:cNvPr id="12" name="">
            <a:extLst xmlns:a="http://schemas.openxmlformats.org/drawingml/2006/main">
              <a:ext uri="{FF2B5EF4-FFF2-40B4-BE49-F238E27FC236}">
                <a16:creationId xmlns:a16="http://schemas.microsoft.com/office/drawing/2014/main" id="{C100E9A8-3DDE-4C06-B8A7-F48C5D6309AF}"/>
              </a:ext>
            </a:extLst>
          </p:cNvPr>
          <p:cNvSpPr>
            <a:spLocks xmlns:a="http://schemas.openxmlformats.org/drawingml/2006/main" noGrp="1"/>
          </p:cNvSpPr>
          <p:nvPr/>
        </p:nvSpPr>
        <p:spPr>
          <a:xfrm xmlns:a="http://schemas.openxmlformats.org/drawingml/2006/main">
            <a:off x="6229350" y="1657350"/>
            <a:ext cx="2571750" cy="3238500"/>
          </a:xfrm>
          <a:prstGeom xmlns:a="http://schemas.openxmlformats.org/drawingml/2006/main" prst="roundRect">
            <a:avLst>
              <a:gd name="adj" fmla="val 2963"/>
            </a:avLst>
          </a:prstGeom>
          <a:solidFill xmlns:a="http://schemas.openxmlformats.org/drawingml/2006/main">
            <a:srgbClr val="E6F4ED"/>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EDFD2F2-3FB3-4C4F-9C64-FE2B75CC89D9}"/>
              </a:ext>
            </a:extLst>
          </p:cNvPr>
          <p:cNvSpPr>
            <a:spLocks xmlns:a="http://schemas.openxmlformats.org/drawingml/2006/main" noGrp="1"/>
          </p:cNvSpPr>
          <p:nvPr/>
        </p:nvSpPr>
        <p:spPr>
          <a:xfrm xmlns:a="http://schemas.openxmlformats.org/drawingml/2006/main">
            <a:off x="6229350" y="1657350"/>
            <a:ext cx="2571750" cy="114300"/>
          </a:xfrm>
          <a:prstGeom xmlns:a="http://schemas.openxmlformats.org/drawingml/2006/main" prst="rect">
            <a:avLst/>
          </a:prstGeom>
          <a:solidFill xmlns:a="http://schemas.openxmlformats.org/drawingml/2006/main">
            <a:srgbClr val="2F9E72"/>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8CC1799-5D6F-458A-8B16-92C59878CC2A}"/>
              </a:ext>
            </a:extLst>
          </p:cNvPr>
          <p:cNvSpPr>
            <a:spLocks xmlns:a="http://schemas.openxmlformats.org/drawingml/2006/main" noGrp="1"/>
          </p:cNvSpPr>
          <p:nvPr/>
        </p:nvSpPr>
        <p:spPr>
          <a:xfrm xmlns:a="http://schemas.openxmlformats.org/drawingml/2006/main">
            <a:off x="6457950" y="20383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2F9E72"/>
                </a:solidFill>
                <a:latin typeface="Helvetica Neue"/>
                <a:ea typeface="Helvetica Neue"/>
                <a:cs typeface="Helvetica Neue"/>
              </a:defRPr>
            </a:pPr>
            <a:r>
              <a:rPr sz="1725" b="1" i="0">
                <a:solidFill>
                  <a:srgbClr val="2F9E72"/>
                </a:solidFill>
                <a:latin typeface="Helvetica Neue"/>
                <a:ea typeface="Helvetica Neue"/>
                <a:cs typeface="Helvetica Neue"/>
              </a:rPr>
              <a:t>DYNAMICS</a:t>
            </a:r>
          </a:p>
        </p:txBody>
      </p:sp>
      <p:sp>
        <p:nvSpPr>
          <p:cNvPr id="15" name="">
            <a:extLst xmlns:a="http://schemas.openxmlformats.org/drawingml/2006/main">
              <a:ext uri="{FF2B5EF4-FFF2-40B4-BE49-F238E27FC236}">
                <a16:creationId xmlns:a16="http://schemas.microsoft.com/office/drawing/2014/main" id="{52715B8D-E1CB-40C2-B42C-B5E6D6182633}"/>
              </a:ext>
            </a:extLst>
          </p:cNvPr>
          <p:cNvSpPr>
            <a:spLocks xmlns:a="http://schemas.openxmlformats.org/drawingml/2006/main" noGrp="1"/>
          </p:cNvSpPr>
          <p:nvPr/>
        </p:nvSpPr>
        <p:spPr>
          <a:xfrm xmlns:a="http://schemas.openxmlformats.org/drawingml/2006/main">
            <a:off x="6457950" y="2724150"/>
            <a:ext cx="21145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COM height</a:t>
            </a:r>
          </a:p>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velocity</a:t>
            </a:r>
          </a:p>
          <a:p xmlns:a="http://schemas.openxmlformats.org/drawingml/2006/main">
            <a:pPr algn="l">
              <a:lnSpc>
                <a:spcPct val="116000"/>
              </a:lnSpc>
              <a:buNone/>
              <a:defRPr sz="1950" b="1" i="0">
                <a:solidFill>
                  <a:srgbClr val="111111"/>
                </a:solidFill>
                <a:latin typeface="Helvetica Neue"/>
                <a:ea typeface="Helvetica Neue"/>
                <a:cs typeface="Helvetica Neue"/>
              </a:defRPr>
            </a:pPr>
            <a:r>
              <a:rPr sz="1950" b="1" i="0">
                <a:solidFill>
                  <a:srgbClr val="111111"/>
                </a:solidFill>
                <a:latin typeface="Helvetica Neue"/>
                <a:ea typeface="Helvetica Neue"/>
                <a:cs typeface="Helvetica Neue"/>
              </a:rPr>
              <a:t>spin · energy</a:t>
            </a:r>
          </a:p>
        </p:txBody>
      </p:sp>
      <p:sp>
        <p:nvSpPr>
          <p:cNvPr id="16" name="">
            <a:extLst xmlns:a="http://schemas.openxmlformats.org/drawingml/2006/main">
              <a:ext uri="{FF2B5EF4-FFF2-40B4-BE49-F238E27FC236}">
                <a16:creationId xmlns:a16="http://schemas.microsoft.com/office/drawing/2014/main" id="{B44FD787-347E-4734-BDC0-DF527D11A4D7}"/>
              </a:ext>
            </a:extLst>
          </p:cNvPr>
          <p:cNvSpPr>
            <a:spLocks xmlns:a="http://schemas.openxmlformats.org/drawingml/2006/main" noGrp="1"/>
          </p:cNvSpPr>
          <p:nvPr/>
        </p:nvSpPr>
        <p:spPr>
          <a:xfrm xmlns:a="http://schemas.openxmlformats.org/drawingml/2006/main">
            <a:off x="9144000" y="1657350"/>
            <a:ext cx="2571750" cy="3238500"/>
          </a:xfrm>
          <a:prstGeom xmlns:a="http://schemas.openxmlformats.org/drawingml/2006/main" prst="roundRect">
            <a:avLst>
              <a:gd name="adj" fmla="val 2963"/>
            </a:avLst>
          </a:prstGeom>
          <a:solidFill xmlns:a="http://schemas.openxmlformats.org/drawingml/2006/main">
            <a:srgbClr val="FCE8D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B7607E4-9534-4060-8BC4-FC460660FE7C}"/>
              </a:ext>
            </a:extLst>
          </p:cNvPr>
          <p:cNvSpPr>
            <a:spLocks xmlns:a="http://schemas.openxmlformats.org/drawingml/2006/main" noGrp="1"/>
          </p:cNvSpPr>
          <p:nvPr/>
        </p:nvSpPr>
        <p:spPr>
          <a:xfrm xmlns:a="http://schemas.openxmlformats.org/drawingml/2006/main">
            <a:off x="9144000" y="1657350"/>
            <a:ext cx="2571750" cy="114300"/>
          </a:xfrm>
          <a:prstGeom xmlns:a="http://schemas.openxmlformats.org/drawingml/2006/main" prst="rect">
            <a:avLst/>
          </a:prstGeom>
          <a:solidFill xmlns:a="http://schemas.openxmlformats.org/drawingml/2006/main">
            <a:srgbClr val="F5774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3521F36-14B3-42C8-A2B3-FD24765FA8F0}"/>
              </a:ext>
            </a:extLst>
          </p:cNvPr>
          <p:cNvSpPr>
            <a:spLocks xmlns:a="http://schemas.openxmlformats.org/drawingml/2006/main" noGrp="1"/>
          </p:cNvSpPr>
          <p:nvPr/>
        </p:nvSpPr>
        <p:spPr>
          <a:xfrm xmlns:a="http://schemas.openxmlformats.org/drawingml/2006/main">
            <a:off x="9372600" y="2038350"/>
            <a:ext cx="21145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725" b="1" i="0">
                <a:solidFill>
                  <a:srgbClr val="F57748"/>
                </a:solidFill>
                <a:latin typeface="Helvetica Neue"/>
                <a:ea typeface="Helvetica Neue"/>
                <a:cs typeface="Helvetica Neue"/>
              </a:defRPr>
            </a:pPr>
            <a:r>
              <a:rPr sz="1725" b="1" i="0">
                <a:solidFill>
                  <a:srgbClr val="F57748"/>
                </a:solidFill>
                <a:latin typeface="Helvetica Neue"/>
                <a:ea typeface="Helvetica Neue"/>
                <a:cs typeface="Helvetica Neue"/>
              </a:rPr>
              <a:t>CONTACT</a:t>
            </a:r>
          </a:p>
        </p:txBody>
      </p:sp>
      <p:sp>
        <p:nvSpPr>
          <p:cNvPr id="19" name="">
            <a:extLst xmlns:a="http://schemas.openxmlformats.org/drawingml/2006/main">
              <a:ext uri="{FF2B5EF4-FFF2-40B4-BE49-F238E27FC236}">
                <a16:creationId xmlns:a16="http://schemas.microsoft.com/office/drawing/2014/main" id="{A602454F-F75A-441B-B225-BBC8F9AB414C}"/>
              </a:ext>
            </a:extLst>
          </p:cNvPr>
          <p:cNvSpPr>
            <a:spLocks xmlns:a="http://schemas.openxmlformats.org/drawingml/2006/main" noGrp="1"/>
          </p:cNvSpPr>
          <p:nvPr/>
        </p:nvSpPr>
        <p:spPr>
          <a:xfrm xmlns:a="http://schemas.openxmlformats.org/drawingml/2006/main">
            <a:off x="9372600" y="2724150"/>
            <a:ext cx="2114550" cy="1562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16000"/>
              </a:lnSpc>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collision rate</a:t>
            </a:r>
          </a:p>
          <a:p xmlns:a="http://schemas.openxmlformats.org/drawingml/2006/main">
            <a:pPr algn="l">
              <a:lnSpc>
                <a:spcPct val="116000"/>
              </a:lnSpc>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precision-</a:t>
            </a:r>
          </a:p>
          <a:p xmlns:a="http://schemas.openxmlformats.org/drawingml/2006/main">
            <a:pPr algn="l">
              <a:lnSpc>
                <a:spcPct val="116000"/>
              </a:lnSpc>
              <a:buNone/>
              <a:defRPr sz="1800" b="1" i="0">
                <a:solidFill>
                  <a:srgbClr val="111111"/>
                </a:solidFill>
                <a:latin typeface="Helvetica Neue"/>
                <a:ea typeface="Helvetica Neue"/>
                <a:cs typeface="Helvetica Neue"/>
              </a:defRPr>
            </a:pPr>
            <a:r>
              <a:rPr sz="1800" b="1" i="0">
                <a:solidFill>
                  <a:srgbClr val="111111"/>
                </a:solidFill>
                <a:latin typeface="Helvetica Neue"/>
                <a:ea typeface="Helvetica Neue"/>
                <a:cs typeface="Helvetica Neue"/>
              </a:rPr>
              <a:t>qualified overlaps</a:t>
            </a:r>
          </a:p>
        </p:txBody>
      </p:sp>
      <p:sp>
        <p:nvSpPr>
          <p:cNvPr id="20" name="">
            <a:extLst xmlns:a="http://schemas.openxmlformats.org/drawingml/2006/main">
              <a:ext uri="{FF2B5EF4-FFF2-40B4-BE49-F238E27FC236}">
                <a16:creationId xmlns:a16="http://schemas.microsoft.com/office/drawing/2014/main" id="{A91FB788-D6FF-4BEC-87C7-88D7E93CF36B}"/>
              </a:ext>
            </a:extLst>
          </p:cNvPr>
          <p:cNvSpPr>
            <a:spLocks xmlns:a="http://schemas.openxmlformats.org/drawingml/2006/main" noGrp="1"/>
          </p:cNvSpPr>
          <p:nvPr/>
        </p:nvSpPr>
        <p:spPr>
          <a:xfrm xmlns:a="http://schemas.openxmlformats.org/drawingml/2006/main">
            <a:off x="1619250" y="5353050"/>
            <a:ext cx="8953500" cy="666750"/>
          </a:xfrm>
          <a:prstGeom xmlns:a="http://schemas.openxmlformats.org/drawingml/2006/main" prst="roundRect">
            <a:avLst>
              <a:gd name="adj" fmla="val 11429"/>
            </a:avLst>
          </a:prstGeom>
          <a:solidFill xmlns:a="http://schemas.openxmlformats.org/drawingml/2006/main">
            <a:srgbClr val="111111"/>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CD6357EE-05ED-4A3F-9E2E-08CD8CF180CB}"/>
              </a:ext>
            </a:extLst>
          </p:cNvPr>
          <p:cNvSpPr>
            <a:spLocks xmlns:a="http://schemas.openxmlformats.org/drawingml/2006/main" noGrp="1"/>
          </p:cNvSpPr>
          <p:nvPr/>
        </p:nvSpPr>
        <p:spPr>
          <a:xfrm xmlns:a="http://schemas.openxmlformats.org/drawingml/2006/main">
            <a:off x="2000250" y="5543550"/>
            <a:ext cx="819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1875" b="1" i="0">
                <a:solidFill>
                  <a:srgbClr val="FFFFFF"/>
                </a:solidFill>
                <a:latin typeface="Helvetica Neue"/>
                <a:ea typeface="Helvetica Neue"/>
                <a:cs typeface="Helvetica Neue"/>
              </a:defRPr>
            </a:pPr>
            <a:r>
              <a:rPr sz="1875" b="1" i="0">
                <a:solidFill>
                  <a:srgbClr val="FFFFFF"/>
                </a:solidFill>
                <a:latin typeface="Helvetica Neue"/>
                <a:ea typeface="Helvetica Neue"/>
                <a:cs typeface="Helvetica Neue"/>
              </a:rPr>
              <a:t>Reference and submission are processed by the same metric code.</a:t>
            </a:r>
          </a:p>
        </p:txBody>
      </p:sp>
    </p:spTree>
    <p:extLst>
      <p:ext uri="{BB962C8B-B14F-4D97-AF65-F5344CB8AC3E}">
        <p14:creationId xmlns:p14="http://schemas.microsoft.com/office/powerpoint/2010/main" val="210579077"/>
      </p:ext>
    </p:extLst>
  </p:cSld>
</p:sld>
</file>

<file path=ppt/slides/slide22.xml><?xml version="1.0" encoding="utf-8"?>
<p:sld xmlns:p="http://schemas.openxmlformats.org/presentationml/2006/main">
  <p:cSld>
    <p:bg>
      <p:bgPr>
        <a:solidFill xmlns:a="http://schemas.openxmlformats.org/drawingml/2006/main">
          <a:srgbClr val="F8F8F6"/>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AEEB01B4-DCD8-49C1-AC9E-9182D265F126}"/>
              </a:ext>
            </a:extLst>
          </p:cNvPr>
          <p:cNvSpPr>
            <a:spLocks xmlns:a="http://schemas.openxmlformats.org/drawingml/2006/main" noGrp="1"/>
          </p:cNvSpPr>
          <p:nvPr/>
        </p:nvSpPr>
        <p:spPr>
          <a:xfrm xmlns:a="http://schemas.openxmlformats.org/drawingml/2006/main">
            <a:off x="400050" y="285750"/>
            <a:ext cx="619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050" b="1" i="0">
                <a:solidFill>
                  <a:srgbClr val="52616B"/>
                </a:solidFill>
                <a:latin typeface="Helvetica Neue"/>
                <a:ea typeface="Helvetica Neue"/>
                <a:cs typeface="Helvetica Neue"/>
              </a:defRPr>
            </a:pPr>
            <a:r>
              <a:rPr sz="1050" b="1" i="0">
                <a:solidFill>
                  <a:srgbClr val="52616B"/>
                </a:solidFill>
                <a:latin typeface="Helvetica Neue"/>
                <a:ea typeface="Helvetica Neue"/>
                <a:cs typeface="Helvetica Neue"/>
              </a:rPr>
              <a:t>CODE AND TRANSCRIPT REVIEW</a:t>
            </a:r>
          </a:p>
        </p:txBody>
      </p:sp>
      <p:sp>
        <p:nvSpPr>
          <p:cNvPr id="2" name="">
            <a:extLst xmlns:a="http://schemas.openxmlformats.org/drawingml/2006/main">
              <a:ext uri="{FF2B5EF4-FFF2-40B4-BE49-F238E27FC236}">
                <a16:creationId xmlns:a16="http://schemas.microsoft.com/office/drawing/2014/main" id="{5F17794E-2A19-44AF-88A1-BB22E7575F4C}"/>
              </a:ext>
            </a:extLst>
          </p:cNvPr>
          <p:cNvSpPr>
            <a:spLocks xmlns:a="http://schemas.openxmlformats.org/drawingml/2006/main" noGrp="1"/>
          </p:cNvSpPr>
          <p:nvPr/>
        </p:nvSpPr>
        <p:spPr>
          <a:xfrm xmlns:a="http://schemas.openxmlformats.org/drawingml/2006/main">
            <a:off x="400050" y="552450"/>
            <a:ext cx="11049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85"/>
          </a:bodyPr>
          <a:lstStyle xmlns:a="http://schemas.openxmlformats.org/drawingml/2006/main"/>
          <a:p xmlns:a="http://schemas.openxmlformats.org/drawingml/2006/main">
            <a:pPr algn="l">
              <a:lnSpc>
                <a:spcPct val="102000"/>
              </a:lnSpc>
              <a:buNone/>
              <a:defRPr sz="3300" b="1" i="0">
                <a:solidFill>
                  <a:srgbClr val="111111"/>
                </a:solidFill>
                <a:latin typeface="Helvetica Neue"/>
                <a:ea typeface="Helvetica Neue"/>
                <a:cs typeface="Helvetica Neue"/>
              </a:defRPr>
            </a:pPr>
            <a:r>
              <a:rPr sz="3300" b="1" i="0">
                <a:solidFill>
                  <a:srgbClr val="111111"/>
                </a:solidFill>
                <a:latin typeface="Helvetica Neue"/>
                <a:ea typeface="Helvetica Neue"/>
                <a:cs typeface="Helvetica Neue"/>
              </a:rPr>
              <a:t>The qualitative evaluator asks what the agent actually built.</a:t>
            </a:r>
          </a:p>
        </p:txBody>
      </p:sp>
      <p:sp>
        <p:nvSpPr>
          <p:cNvPr id="3" name="">
            <a:extLst xmlns:a="http://schemas.openxmlformats.org/drawingml/2006/main">
              <a:ext uri="{FF2B5EF4-FFF2-40B4-BE49-F238E27FC236}">
                <a16:creationId xmlns:a16="http://schemas.microsoft.com/office/drawing/2014/main" id="{BC0BF9D4-1DCA-49FC-9310-8588E0BE80E7}"/>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52616B"/>
                </a:solidFill>
                <a:latin typeface="Helvetica Neue"/>
                <a:ea typeface="Helvetica Neue"/>
                <a:cs typeface="Helvetica Neue"/>
              </a:defRPr>
            </a:pPr>
            <a:r>
              <a:rPr sz="1125" b="0" i="0">
                <a:solidFill>
                  <a:srgbClr val="52616B"/>
                </a:solidFill>
                <a:latin typeface="Helvetica Neue"/>
                <a:ea typeface="Helvetica Neue"/>
                <a:cs typeface="Helvetica Neue"/>
              </a:rPr>
              <a:t>22</a:t>
            </a:r>
          </a:p>
        </p:txBody>
      </p:sp>
      <p:sp>
        <p:nvSpPr>
          <p:cNvPr id="4" name="">
            <a:extLst xmlns:a="http://schemas.openxmlformats.org/drawingml/2006/main">
              <a:ext uri="{FF2B5EF4-FFF2-40B4-BE49-F238E27FC236}">
                <a16:creationId xmlns:a16="http://schemas.microsoft.com/office/drawing/2014/main" id="{566D3745-4504-46F8-A6A8-56828E4D3F0F}"/>
              </a:ext>
            </a:extLst>
          </p:cNvPr>
          <p:cNvSpPr>
            <a:spLocks xmlns:a="http://schemas.openxmlformats.org/drawingml/2006/main" noGrp="1"/>
          </p:cNvSpPr>
          <p:nvPr/>
        </p:nvSpPr>
        <p:spPr>
          <a:xfrm xmlns:a="http://schemas.openxmlformats.org/drawingml/2006/main">
            <a:off x="419100" y="1466850"/>
            <a:ext cx="4667250" cy="4476750"/>
          </a:xfrm>
          <a:prstGeom xmlns:a="http://schemas.openxmlformats.org/drawingml/2006/main" prst="roundRect">
            <a:avLst>
              <a:gd name="adj" fmla="val 1702"/>
            </a:avLst>
          </a:prstGeom>
          <a:solidFill xmlns:a="http://schemas.openxmlformats.org/drawingml/2006/main">
            <a:srgbClr val="EDEDED"/>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AC316D8-47A7-400C-9909-22D30B988C1E}"/>
              </a:ext>
            </a:extLst>
          </p:cNvPr>
          <p:cNvSpPr>
            <a:spLocks xmlns:a="http://schemas.openxmlformats.org/drawingml/2006/main" noGrp="1"/>
          </p:cNvSpPr>
          <p:nvPr/>
        </p:nvSpPr>
        <p:spPr>
          <a:xfrm xmlns:a="http://schemas.openxmlformats.org/drawingml/2006/main">
            <a:off x="723900" y="1771650"/>
            <a:ext cx="3810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2175" b="1" i="0">
                <a:solidFill>
                  <a:srgbClr val="111111"/>
                </a:solidFill>
                <a:latin typeface="Helvetica Neue"/>
                <a:ea typeface="Helvetica Neue"/>
                <a:cs typeface="Helvetica Neue"/>
              </a:defRPr>
            </a:pPr>
            <a:r>
              <a:rPr sz="2175" b="1" i="0">
                <a:solidFill>
                  <a:srgbClr val="111111"/>
                </a:solidFill>
                <a:latin typeface="Helvetica Neue"/>
                <a:ea typeface="Helvetica Neue"/>
                <a:cs typeface="Helvetica Neue"/>
              </a:rPr>
              <a:t>First: classify the simulation</a:t>
            </a:r>
          </a:p>
        </p:txBody>
      </p:sp>
      <p:sp>
        <p:nvSpPr>
          <p:cNvPr id="6" name="">
            <a:extLst xmlns:a="http://schemas.openxmlformats.org/drawingml/2006/main">
              <a:ext uri="{FF2B5EF4-FFF2-40B4-BE49-F238E27FC236}">
                <a16:creationId xmlns:a16="http://schemas.microsoft.com/office/drawing/2014/main" id="{A9AA2BCE-0938-4B4A-A32B-5515DD494F20}"/>
              </a:ext>
            </a:extLst>
          </p:cNvPr>
          <p:cNvSpPr>
            <a:spLocks xmlns:a="http://schemas.openxmlformats.org/drawingml/2006/main" noGrp="1"/>
          </p:cNvSpPr>
          <p:nvPr/>
        </p:nvSpPr>
        <p:spPr>
          <a:xfrm xmlns:a="http://schemas.openxmlformats.org/drawingml/2006/main">
            <a:off x="742950" y="2457450"/>
            <a:ext cx="3886200" cy="400050"/>
          </a:xfrm>
          <a:prstGeom xmlns:a="http://schemas.openxmlformats.org/drawingml/2006/main" prst="roundRect">
            <a:avLst>
              <a:gd name="adj" fmla="val 19048"/>
            </a:avLst>
          </a:prstGeom>
          <a:solidFill xmlns:a="http://schemas.openxmlformats.org/drawingml/2006/main">
            <a:srgbClr val="E6F4ED"/>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03981672-EDAF-4ECE-BDDB-44329390FF1B}"/>
              </a:ext>
            </a:extLst>
          </p:cNvPr>
          <p:cNvSpPr>
            <a:spLocks xmlns:a="http://schemas.openxmlformats.org/drawingml/2006/main" noGrp="1"/>
          </p:cNvSpPr>
          <p:nvPr/>
        </p:nvSpPr>
        <p:spPr>
          <a:xfrm xmlns:a="http://schemas.openxmlformats.org/drawingml/2006/main">
            <a:off x="895350" y="254317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1" i="0">
                <a:solidFill>
                  <a:srgbClr val="2F9E72"/>
                </a:solidFill>
                <a:latin typeface="Helvetica Neue"/>
                <a:ea typeface="Helvetica Neue"/>
                <a:cs typeface="Helvetica Neue"/>
              </a:defRPr>
            </a:pPr>
            <a:r>
              <a:rPr sz="1425" b="1" i="0">
                <a:solidFill>
                  <a:srgbClr val="2F9E72"/>
                </a:solidFill>
                <a:latin typeface="Helvetica Neue"/>
                <a:ea typeface="Helvetica Neue"/>
                <a:cs typeface="Helvetica Neue"/>
              </a:rPr>
              <a:t>Event-driven hard-sphere MD</a:t>
            </a:r>
          </a:p>
        </p:txBody>
      </p:sp>
      <p:sp>
        <p:nvSpPr>
          <p:cNvPr id="8" name="">
            <a:extLst xmlns:a="http://schemas.openxmlformats.org/drawingml/2006/main">
              <a:ext uri="{FF2B5EF4-FFF2-40B4-BE49-F238E27FC236}">
                <a16:creationId xmlns:a16="http://schemas.microsoft.com/office/drawing/2014/main" id="{F87244A3-EA68-4B74-A2B8-D5C8DF018246}"/>
              </a:ext>
            </a:extLst>
          </p:cNvPr>
          <p:cNvSpPr>
            <a:spLocks xmlns:a="http://schemas.openxmlformats.org/drawingml/2006/main" noGrp="1"/>
          </p:cNvSpPr>
          <p:nvPr/>
        </p:nvSpPr>
        <p:spPr>
          <a:xfrm xmlns:a="http://schemas.openxmlformats.org/drawingml/2006/main">
            <a:off x="742950" y="3009900"/>
            <a:ext cx="38862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287BC26-29A5-4527-A6BA-F6519759F77C}"/>
              </a:ext>
            </a:extLst>
          </p:cNvPr>
          <p:cNvSpPr>
            <a:spLocks xmlns:a="http://schemas.openxmlformats.org/drawingml/2006/main" noGrp="1"/>
          </p:cNvSpPr>
          <p:nvPr/>
        </p:nvSpPr>
        <p:spPr>
          <a:xfrm xmlns:a="http://schemas.openxmlformats.org/drawingml/2006/main">
            <a:off x="895350" y="309562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11111"/>
                </a:solidFill>
                <a:latin typeface="Helvetica Neue"/>
                <a:ea typeface="Helvetica Neue"/>
                <a:cs typeface="Helvetica Neue"/>
              </a:defRPr>
            </a:pPr>
            <a:r>
              <a:rPr sz="1425" b="0" i="0">
                <a:solidFill>
                  <a:srgbClr val="111111"/>
                </a:solidFill>
                <a:latin typeface="Helvetica Neue"/>
                <a:ea typeface="Helvetica Neue"/>
                <a:cs typeface="Helvetica Neue"/>
              </a:rPr>
              <a:t>Time-stepped hard-sphere MD</a:t>
            </a:r>
          </a:p>
        </p:txBody>
      </p:sp>
      <p:sp>
        <p:nvSpPr>
          <p:cNvPr id="10" name="">
            <a:extLst xmlns:a="http://schemas.openxmlformats.org/drawingml/2006/main">
              <a:ext uri="{FF2B5EF4-FFF2-40B4-BE49-F238E27FC236}">
                <a16:creationId xmlns:a16="http://schemas.microsoft.com/office/drawing/2014/main" id="{630AA520-D30A-4A2C-B315-123A4CF3E1B8}"/>
              </a:ext>
            </a:extLst>
          </p:cNvPr>
          <p:cNvSpPr>
            <a:spLocks xmlns:a="http://schemas.openxmlformats.org/drawingml/2006/main" noGrp="1"/>
          </p:cNvSpPr>
          <p:nvPr/>
        </p:nvSpPr>
        <p:spPr>
          <a:xfrm xmlns:a="http://schemas.openxmlformats.org/drawingml/2006/main">
            <a:off x="742950" y="3562350"/>
            <a:ext cx="38862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BEAE4D6-175D-4F0C-B89D-78E39E7D4A1E}"/>
              </a:ext>
            </a:extLst>
          </p:cNvPr>
          <p:cNvSpPr>
            <a:spLocks xmlns:a="http://schemas.openxmlformats.org/drawingml/2006/main" noGrp="1"/>
          </p:cNvSpPr>
          <p:nvPr/>
        </p:nvSpPr>
        <p:spPr>
          <a:xfrm xmlns:a="http://schemas.openxmlformats.org/drawingml/2006/main">
            <a:off x="895350" y="364807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11111"/>
                </a:solidFill>
                <a:latin typeface="Helvetica Neue"/>
                <a:ea typeface="Helvetica Neue"/>
                <a:cs typeface="Helvetica Neue"/>
              </a:defRPr>
            </a:pPr>
            <a:r>
              <a:rPr sz="1425" b="0" i="0">
                <a:solidFill>
                  <a:srgbClr val="111111"/>
                </a:solidFill>
                <a:latin typeface="Helvetica Neue"/>
                <a:ea typeface="Helvetica Neue"/>
                <a:cs typeface="Helvetica Neue"/>
              </a:rPr>
              <a:t>Soft-sphere time-stepped MD</a:t>
            </a:r>
          </a:p>
        </p:txBody>
      </p:sp>
      <p:sp>
        <p:nvSpPr>
          <p:cNvPr id="12" name="">
            <a:extLst xmlns:a="http://schemas.openxmlformats.org/drawingml/2006/main">
              <a:ext uri="{FF2B5EF4-FFF2-40B4-BE49-F238E27FC236}">
                <a16:creationId xmlns:a16="http://schemas.microsoft.com/office/drawing/2014/main" id="{FB370E9A-F2E2-42EB-A854-C1BDD5A409E0}"/>
              </a:ext>
            </a:extLst>
          </p:cNvPr>
          <p:cNvSpPr>
            <a:spLocks xmlns:a="http://schemas.openxmlformats.org/drawingml/2006/main" noGrp="1"/>
          </p:cNvSpPr>
          <p:nvPr/>
        </p:nvSpPr>
        <p:spPr>
          <a:xfrm xmlns:a="http://schemas.openxmlformats.org/drawingml/2006/main">
            <a:off x="742950" y="4114800"/>
            <a:ext cx="38862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2A153201-187C-4850-9A88-859AEB1ABA95}"/>
              </a:ext>
            </a:extLst>
          </p:cNvPr>
          <p:cNvSpPr>
            <a:spLocks xmlns:a="http://schemas.openxmlformats.org/drawingml/2006/main" noGrp="1"/>
          </p:cNvSpPr>
          <p:nvPr/>
        </p:nvSpPr>
        <p:spPr>
          <a:xfrm xmlns:a="http://schemas.openxmlformats.org/drawingml/2006/main">
            <a:off x="895350" y="420052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11111"/>
                </a:solidFill>
                <a:latin typeface="Helvetica Neue"/>
                <a:ea typeface="Helvetica Neue"/>
                <a:cs typeface="Helvetica Neue"/>
              </a:defRPr>
            </a:pPr>
            <a:r>
              <a:rPr sz="1425" b="0" i="0">
                <a:solidFill>
                  <a:srgbClr val="111111"/>
                </a:solidFill>
                <a:latin typeface="Helvetica Neue"/>
                <a:ea typeface="Helvetica Neue"/>
                <a:cs typeface="Helvetica Neue"/>
              </a:rPr>
              <a:t>Wave equation / image-fit model</a:t>
            </a:r>
          </a:p>
        </p:txBody>
      </p:sp>
      <p:sp>
        <p:nvSpPr>
          <p:cNvPr id="14" name="">
            <a:extLst xmlns:a="http://schemas.openxmlformats.org/drawingml/2006/main">
              <a:ext uri="{FF2B5EF4-FFF2-40B4-BE49-F238E27FC236}">
                <a16:creationId xmlns:a16="http://schemas.microsoft.com/office/drawing/2014/main" id="{D73100C7-9C6D-4F59-805C-6B45CC70BA34}"/>
              </a:ext>
            </a:extLst>
          </p:cNvPr>
          <p:cNvSpPr>
            <a:spLocks xmlns:a="http://schemas.openxmlformats.org/drawingml/2006/main" noGrp="1"/>
          </p:cNvSpPr>
          <p:nvPr/>
        </p:nvSpPr>
        <p:spPr>
          <a:xfrm xmlns:a="http://schemas.openxmlformats.org/drawingml/2006/main">
            <a:off x="742950" y="4667250"/>
            <a:ext cx="3886200" cy="400050"/>
          </a:xfrm>
          <a:prstGeom xmlns:a="http://schemas.openxmlformats.org/drawingml/2006/main" prst="roundRect">
            <a:avLst>
              <a:gd name="adj" fmla="val 19048"/>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EC4FE4A3-B0D1-41FB-B7B8-127E9F02895D}"/>
              </a:ext>
            </a:extLst>
          </p:cNvPr>
          <p:cNvSpPr>
            <a:spLocks xmlns:a="http://schemas.openxmlformats.org/drawingml/2006/main" noGrp="1"/>
          </p:cNvSpPr>
          <p:nvPr/>
        </p:nvSpPr>
        <p:spPr>
          <a:xfrm xmlns:a="http://schemas.openxmlformats.org/drawingml/2006/main">
            <a:off x="895350" y="4752975"/>
            <a:ext cx="35623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111111"/>
                </a:solidFill>
                <a:latin typeface="Helvetica Neue"/>
                <a:ea typeface="Helvetica Neue"/>
                <a:cs typeface="Helvetica Neue"/>
              </a:defRPr>
            </a:pPr>
            <a:r>
              <a:rPr sz="1425" b="0" i="0">
                <a:solidFill>
                  <a:srgbClr val="111111"/>
                </a:solidFill>
                <a:latin typeface="Helvetica Neue"/>
                <a:ea typeface="Helvetica Neue"/>
                <a:cs typeface="Helvetica Neue"/>
              </a:rPr>
              <a:t>Something else</a:t>
            </a:r>
          </a:p>
        </p:txBody>
      </p:sp>
      <p:sp>
        <p:nvSpPr>
          <p:cNvPr id="16" name="">
            <a:extLst xmlns:a="http://schemas.openxmlformats.org/drawingml/2006/main">
              <a:ext uri="{FF2B5EF4-FFF2-40B4-BE49-F238E27FC236}">
                <a16:creationId xmlns:a16="http://schemas.microsoft.com/office/drawing/2014/main" id="{00092E03-4F1F-400B-B68E-67E69F60A020}"/>
              </a:ext>
            </a:extLst>
          </p:cNvPr>
          <p:cNvSpPr>
            <a:spLocks xmlns:a="http://schemas.openxmlformats.org/drawingml/2006/main" noGrp="1"/>
          </p:cNvSpPr>
          <p:nvPr/>
        </p:nvSpPr>
        <p:spPr>
          <a:xfrm xmlns:a="http://schemas.openxmlformats.org/drawingml/2006/main">
            <a:off x="895350" y="5391150"/>
            <a:ext cx="3524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003"/>
          </a:bodyPr>
          <a:lstStyle xmlns:a="http://schemas.openxmlformats.org/drawingml/2006/main"/>
          <a:p xmlns:a="http://schemas.openxmlformats.org/drawingml/2006/main">
            <a:pPr algn="ctr">
              <a:lnSpc>
                <a:spcPct val="102000"/>
              </a:lnSpc>
              <a:buNone/>
              <a:defRPr sz="1425" b="0" i="1">
                <a:solidFill>
                  <a:srgbClr val="52616B"/>
                </a:solidFill>
                <a:latin typeface="Helvetica Neue"/>
                <a:ea typeface="Helvetica Neue"/>
                <a:cs typeface="Helvetica Neue"/>
              </a:defRPr>
            </a:pPr>
            <a:r>
              <a:rPr sz="1425" b="0" i="1">
                <a:solidFill>
                  <a:srgbClr val="52616B"/>
                </a:solidFill>
                <a:latin typeface="Helvetica Neue"/>
                <a:ea typeface="Helvetica Neue"/>
                <a:cs typeface="Helvetica Neue"/>
              </a:rPr>
              <a:t>The rest of the rubric is gated by that answer.</a:t>
            </a:r>
          </a:p>
        </p:txBody>
      </p:sp>
      <p:sp>
        <p:nvSpPr>
          <p:cNvPr id="17" name="">
            <a:extLst xmlns:a="http://schemas.openxmlformats.org/drawingml/2006/main">
              <a:ext uri="{FF2B5EF4-FFF2-40B4-BE49-F238E27FC236}">
                <a16:creationId xmlns:a16="http://schemas.microsoft.com/office/drawing/2014/main" id="{DBB9C6DA-9502-4D00-B6C8-E2168A80B59D}"/>
              </a:ext>
            </a:extLst>
          </p:cNvPr>
          <p:cNvSpPr>
            <a:spLocks xmlns:a="http://schemas.openxmlformats.org/drawingml/2006/main" noGrp="1"/>
          </p:cNvSpPr>
          <p:nvPr/>
        </p:nvSpPr>
        <p:spPr>
          <a:xfrm xmlns:a="http://schemas.openxmlformats.org/drawingml/2006/main">
            <a:off x="5467350" y="1466850"/>
            <a:ext cx="6324600" cy="4476750"/>
          </a:xfrm>
          <a:prstGeom xmlns:a="http://schemas.openxmlformats.org/drawingml/2006/main" prst="roundRect">
            <a:avLst>
              <a:gd name="adj" fmla="val 1702"/>
            </a:avLst>
          </a:prstGeom>
          <a:solidFill xmlns:a="http://schemas.openxmlformats.org/drawingml/2006/main">
            <a:srgbClr val="EAF5FB"/>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CCAC138-C98A-4A1A-B166-74830F05E3C6}"/>
              </a:ext>
            </a:extLst>
          </p:cNvPr>
          <p:cNvSpPr>
            <a:spLocks xmlns:a="http://schemas.openxmlformats.org/drawingml/2006/main" noGrp="1"/>
          </p:cNvSpPr>
          <p:nvPr/>
        </p:nvSpPr>
        <p:spPr>
          <a:xfrm xmlns:a="http://schemas.openxmlformats.org/drawingml/2006/main">
            <a:off x="5810250" y="1771650"/>
            <a:ext cx="533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2219"/>
          </a:bodyPr>
          <a:lstStyle xmlns:a="http://schemas.openxmlformats.org/drawingml/2006/main"/>
          <a:p xmlns:a="http://schemas.openxmlformats.org/drawingml/2006/main">
            <a:pPr algn="l">
              <a:lnSpc>
                <a:spcPct val="102000"/>
              </a:lnSpc>
              <a:buNone/>
              <a:defRPr sz="2175" b="1" i="0">
                <a:solidFill>
                  <a:srgbClr val="111111"/>
                </a:solidFill>
                <a:latin typeface="Helvetica Neue"/>
                <a:ea typeface="Helvetica Neue"/>
                <a:cs typeface="Helvetica Neue"/>
              </a:defRPr>
            </a:pPr>
            <a:r>
              <a:rPr sz="2175" b="1" i="0">
                <a:solidFill>
                  <a:srgbClr val="111111"/>
                </a:solidFill>
                <a:latin typeface="Helvetica Neue"/>
                <a:ea typeface="Helvetica Neue"/>
                <a:cs typeface="Helvetica Neue"/>
              </a:rPr>
              <a:t>Then: audit the implementation and process</a:t>
            </a:r>
          </a:p>
        </p:txBody>
      </p:sp>
      <p:sp>
        <p:nvSpPr>
          <p:cNvPr id="19" name="">
            <a:extLst xmlns:a="http://schemas.openxmlformats.org/drawingml/2006/main">
              <a:ext uri="{FF2B5EF4-FFF2-40B4-BE49-F238E27FC236}">
                <a16:creationId xmlns:a16="http://schemas.microsoft.com/office/drawing/2014/main" id="{2541E43A-DA48-4601-9550-F3CDB024E3C9}"/>
              </a:ext>
            </a:extLst>
          </p:cNvPr>
          <p:cNvSpPr>
            <a:spLocks xmlns:a="http://schemas.openxmlformats.org/drawingml/2006/main" noGrp="1"/>
          </p:cNvSpPr>
          <p:nvPr/>
        </p:nvSpPr>
        <p:spPr>
          <a:xfrm xmlns:a="http://schemas.openxmlformats.org/drawingml/2006/main">
            <a:off x="5848350" y="24384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2364A"/>
                </a:solidFill>
                <a:latin typeface="Helvetica Neue"/>
                <a:ea typeface="Helvetica Neue"/>
                <a:cs typeface="Helvetica Neue"/>
              </a:defRPr>
            </a:pPr>
            <a:r>
              <a:rPr sz="1500" b="1" i="0">
                <a:solidFill>
                  <a:srgbClr val="12364A"/>
                </a:solidFill>
                <a:latin typeface="Helvetica Neue"/>
                <a:ea typeface="Helvetica Neue"/>
                <a:cs typeface="Helvetica Neue"/>
              </a:rPr>
              <a:t>Event mechanics</a:t>
            </a:r>
          </a:p>
        </p:txBody>
      </p:sp>
      <p:sp>
        <p:nvSpPr>
          <p:cNvPr id="20" name="">
            <a:extLst xmlns:a="http://schemas.openxmlformats.org/drawingml/2006/main">
              <a:ext uri="{FF2B5EF4-FFF2-40B4-BE49-F238E27FC236}">
                <a16:creationId xmlns:a16="http://schemas.microsoft.com/office/drawing/2014/main" id="{9C166A42-339E-4364-B636-E3A62D637BBF}"/>
              </a:ext>
            </a:extLst>
          </p:cNvPr>
          <p:cNvSpPr>
            <a:spLocks xmlns:a="http://schemas.openxmlformats.org/drawingml/2006/main" noGrp="1"/>
          </p:cNvSpPr>
          <p:nvPr/>
        </p:nvSpPr>
        <p:spPr>
          <a:xfrm xmlns:a="http://schemas.openxmlformats.org/drawingml/2006/main">
            <a:off x="7696200" y="24384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queue, invalidation, free flight, moving plate</a:t>
            </a:r>
          </a:p>
        </p:txBody>
      </p:sp>
      <p:cxnSp>
        <p:nvCxnSpPr>
          <p:cNvPr id="53" name=""/>
          <p:cNvCxnSpPr/>
          <p:nvPr/>
        </p:nvCxnSpPr>
        <p:spPr>
          <a:xfrm xmlns:a="http://schemas.openxmlformats.org/drawingml/2006/main">
            <a:off x="5848350" y="2886075"/>
            <a:ext cx="5467350" cy="0"/>
          </a:xfrm>
          <a:prstGeom xmlns:a="http://schemas.openxmlformats.org/drawingml/2006/main" prst="straightConnector1">
            <a:avLst/>
          </a:prstGeom>
          <a:ln xmlns:a="http://schemas.openxmlformats.org/drawingml/2006/main" w="9525">
            <a:solidFill>
              <a:srgbClr val="C7DCE7"/>
            </a:solidFill>
            <a:prstDash val="solid"/>
          </a:ln>
        </p:spPr>
      </p:cxnSp>
      <p:sp>
        <p:nvSpPr>
          <p:cNvPr id="22" name="">
            <a:extLst xmlns:a="http://schemas.openxmlformats.org/drawingml/2006/main">
              <a:ext uri="{FF2B5EF4-FFF2-40B4-BE49-F238E27FC236}">
                <a16:creationId xmlns:a16="http://schemas.microsoft.com/office/drawing/2014/main" id="{0B24BFDB-990E-422A-B6A0-2EEC5FB58F73}"/>
              </a:ext>
            </a:extLst>
          </p:cNvPr>
          <p:cNvSpPr>
            <a:spLocks xmlns:a="http://schemas.openxmlformats.org/drawingml/2006/main" noGrp="1"/>
          </p:cNvSpPr>
          <p:nvPr/>
        </p:nvSpPr>
        <p:spPr>
          <a:xfrm xmlns:a="http://schemas.openxmlformats.org/drawingml/2006/main">
            <a:off x="5848350" y="30480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2364A"/>
                </a:solidFill>
                <a:latin typeface="Helvetica Neue"/>
                <a:ea typeface="Helvetica Neue"/>
                <a:cs typeface="Helvetica Neue"/>
              </a:defRPr>
            </a:pPr>
            <a:r>
              <a:rPr sz="1500" b="1" i="0">
                <a:solidFill>
                  <a:srgbClr val="12364A"/>
                </a:solidFill>
                <a:latin typeface="Helvetica Neue"/>
                <a:ea typeface="Helvetica Neue"/>
                <a:cs typeface="Helvetica Neue"/>
              </a:rPr>
              <a:t>Scalability</a:t>
            </a:r>
          </a:p>
        </p:txBody>
      </p:sp>
      <p:sp>
        <p:nvSpPr>
          <p:cNvPr id="23" name="">
            <a:extLst xmlns:a="http://schemas.openxmlformats.org/drawingml/2006/main">
              <a:ext uri="{FF2B5EF4-FFF2-40B4-BE49-F238E27FC236}">
                <a16:creationId xmlns:a16="http://schemas.microsoft.com/office/drawing/2014/main" id="{4BCEA747-250F-4A63-8EBE-A0D54E98F5F6}"/>
              </a:ext>
            </a:extLst>
          </p:cNvPr>
          <p:cNvSpPr>
            <a:spLocks xmlns:a="http://schemas.openxmlformats.org/drawingml/2006/main" noGrp="1"/>
          </p:cNvSpPr>
          <p:nvPr/>
        </p:nvSpPr>
        <p:spPr>
          <a:xfrm xmlns:a="http://schemas.openxmlformats.org/drawingml/2006/main">
            <a:off x="7696200" y="30480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876"/>
          </a:bodyPr>
          <a:lstStyle xmlns:a="http://schemas.openxmlformats.org/drawingml/2006/main"/>
          <a:p xmlns:a="http://schemas.openxmlformats.org/drawingml/2006/main">
            <a:pPr algn="l">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delayed states, virtual cells, local rescheduling</a:t>
            </a:r>
          </a:p>
        </p:txBody>
      </p:sp>
      <p:cxnSp>
        <p:nvCxnSpPr>
          <p:cNvPr id="56" name=""/>
          <p:cNvCxnSpPr/>
          <p:nvPr/>
        </p:nvCxnSpPr>
        <p:spPr>
          <a:xfrm xmlns:a="http://schemas.openxmlformats.org/drawingml/2006/main">
            <a:off x="5848350" y="3495675"/>
            <a:ext cx="5467350" cy="0"/>
          </a:xfrm>
          <a:prstGeom xmlns:a="http://schemas.openxmlformats.org/drawingml/2006/main" prst="straightConnector1">
            <a:avLst/>
          </a:prstGeom>
          <a:ln xmlns:a="http://schemas.openxmlformats.org/drawingml/2006/main" w="9525">
            <a:solidFill>
              <a:srgbClr val="C7DCE7"/>
            </a:solidFill>
            <a:prstDash val="solid"/>
          </a:ln>
        </p:spPr>
      </p:cxnSp>
      <p:sp>
        <p:nvSpPr>
          <p:cNvPr id="25" name="">
            <a:extLst xmlns:a="http://schemas.openxmlformats.org/drawingml/2006/main">
              <a:ext uri="{FF2B5EF4-FFF2-40B4-BE49-F238E27FC236}">
                <a16:creationId xmlns:a16="http://schemas.microsoft.com/office/drawing/2014/main" id="{5E9B1409-5DBD-4281-905F-F86DED64F8B0}"/>
              </a:ext>
            </a:extLst>
          </p:cNvPr>
          <p:cNvSpPr>
            <a:spLocks xmlns:a="http://schemas.openxmlformats.org/drawingml/2006/main" noGrp="1"/>
          </p:cNvSpPr>
          <p:nvPr/>
        </p:nvSpPr>
        <p:spPr>
          <a:xfrm xmlns:a="http://schemas.openxmlformats.org/drawingml/2006/main">
            <a:off x="5848350" y="36576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2364A"/>
                </a:solidFill>
                <a:latin typeface="Helvetica Neue"/>
                <a:ea typeface="Helvetica Neue"/>
                <a:cs typeface="Helvetica Neue"/>
              </a:defRPr>
            </a:pPr>
            <a:r>
              <a:rPr sz="1500" b="1" i="0">
                <a:solidFill>
                  <a:srgbClr val="12364A"/>
                </a:solidFill>
                <a:latin typeface="Helvetica Neue"/>
                <a:ea typeface="Helvetica Neue"/>
                <a:cs typeface="Helvetica Neue"/>
              </a:rPr>
              <a:t>Dense behavior</a:t>
            </a:r>
          </a:p>
        </p:txBody>
      </p:sp>
      <p:sp>
        <p:nvSpPr>
          <p:cNvPr id="26" name="">
            <a:extLst xmlns:a="http://schemas.openxmlformats.org/drawingml/2006/main">
              <a:ext uri="{FF2B5EF4-FFF2-40B4-BE49-F238E27FC236}">
                <a16:creationId xmlns:a16="http://schemas.microsoft.com/office/drawing/2014/main" id="{CA35A646-ED3B-427B-B6B6-DBAA2D67CA65}"/>
              </a:ext>
            </a:extLst>
          </p:cNvPr>
          <p:cNvSpPr>
            <a:spLocks xmlns:a="http://schemas.openxmlformats.org/drawingml/2006/main" noGrp="1"/>
          </p:cNvSpPr>
          <p:nvPr/>
        </p:nvSpPr>
        <p:spPr>
          <a:xfrm xmlns:a="http://schemas.openxmlformats.org/drawingml/2006/main">
            <a:off x="7696200" y="36576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collapse regularization, overlap handling</a:t>
            </a:r>
          </a:p>
        </p:txBody>
      </p:sp>
      <p:cxnSp>
        <p:nvCxnSpPr>
          <p:cNvPr id="59" name=""/>
          <p:cNvCxnSpPr/>
          <p:nvPr/>
        </p:nvCxnSpPr>
        <p:spPr>
          <a:xfrm xmlns:a="http://schemas.openxmlformats.org/drawingml/2006/main">
            <a:off x="5848350" y="4105275"/>
            <a:ext cx="5467350" cy="0"/>
          </a:xfrm>
          <a:prstGeom xmlns:a="http://schemas.openxmlformats.org/drawingml/2006/main" prst="straightConnector1">
            <a:avLst/>
          </a:prstGeom>
          <a:ln xmlns:a="http://schemas.openxmlformats.org/drawingml/2006/main" w="9525">
            <a:solidFill>
              <a:srgbClr val="C7DCE7"/>
            </a:solidFill>
            <a:prstDash val="solid"/>
          </a:ln>
        </p:spPr>
      </p:cxnSp>
      <p:sp>
        <p:nvSpPr>
          <p:cNvPr id="28" name="">
            <a:extLst xmlns:a="http://schemas.openxmlformats.org/drawingml/2006/main">
              <a:ext uri="{FF2B5EF4-FFF2-40B4-BE49-F238E27FC236}">
                <a16:creationId xmlns:a16="http://schemas.microsoft.com/office/drawing/2014/main" id="{04064F82-1CC3-48D6-8EED-3289FEEEA8B4}"/>
              </a:ext>
            </a:extLst>
          </p:cNvPr>
          <p:cNvSpPr>
            <a:spLocks xmlns:a="http://schemas.openxmlformats.org/drawingml/2006/main" noGrp="1"/>
          </p:cNvSpPr>
          <p:nvPr/>
        </p:nvSpPr>
        <p:spPr>
          <a:xfrm xmlns:a="http://schemas.openxmlformats.org/drawingml/2006/main">
            <a:off x="5848350" y="42672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2364A"/>
                </a:solidFill>
                <a:latin typeface="Helvetica Neue"/>
                <a:ea typeface="Helvetica Neue"/>
                <a:cs typeface="Helvetica Neue"/>
              </a:defRPr>
            </a:pPr>
            <a:r>
              <a:rPr sz="1500" b="1" i="0">
                <a:solidFill>
                  <a:srgbClr val="12364A"/>
                </a:solidFill>
                <a:latin typeface="Helvetica Neue"/>
                <a:ea typeface="Helvetica Neue"/>
                <a:cs typeface="Helvetica Neue"/>
              </a:rPr>
              <a:t>Tests</a:t>
            </a:r>
          </a:p>
        </p:txBody>
      </p:sp>
      <p:sp>
        <p:nvSpPr>
          <p:cNvPr id="29" name="">
            <a:extLst xmlns:a="http://schemas.openxmlformats.org/drawingml/2006/main">
              <a:ext uri="{FF2B5EF4-FFF2-40B4-BE49-F238E27FC236}">
                <a16:creationId xmlns:a16="http://schemas.microsoft.com/office/drawing/2014/main" id="{FF897D4B-C57A-4A10-BAC1-EE1870BE334F}"/>
              </a:ext>
            </a:extLst>
          </p:cNvPr>
          <p:cNvSpPr>
            <a:spLocks xmlns:a="http://schemas.openxmlformats.org/drawingml/2006/main" noGrp="1"/>
          </p:cNvSpPr>
          <p:nvPr/>
        </p:nvSpPr>
        <p:spPr>
          <a:xfrm xmlns:a="http://schemas.openxmlformats.org/drawingml/2006/main">
            <a:off x="7696200" y="42672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299"/>
          </a:bodyPr>
          <a:lstStyle xmlns:a="http://schemas.openxmlformats.org/drawingml/2006/main"/>
          <a:p xmlns:a="http://schemas.openxmlformats.org/drawingml/2006/main">
            <a:pPr algn="l">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collision response, prediction, sequencing, boundaries</a:t>
            </a:r>
          </a:p>
        </p:txBody>
      </p:sp>
      <p:cxnSp>
        <p:nvCxnSpPr>
          <p:cNvPr id="62" name=""/>
          <p:cNvCxnSpPr/>
          <p:nvPr/>
        </p:nvCxnSpPr>
        <p:spPr>
          <a:xfrm xmlns:a="http://schemas.openxmlformats.org/drawingml/2006/main">
            <a:off x="5848350" y="4714875"/>
            <a:ext cx="5467350" cy="0"/>
          </a:xfrm>
          <a:prstGeom xmlns:a="http://schemas.openxmlformats.org/drawingml/2006/main" prst="straightConnector1">
            <a:avLst/>
          </a:prstGeom>
          <a:ln xmlns:a="http://schemas.openxmlformats.org/drawingml/2006/main" w="9525">
            <a:solidFill>
              <a:srgbClr val="C7DCE7"/>
            </a:solidFill>
            <a:prstDash val="solid"/>
          </a:ln>
        </p:spPr>
      </p:cxnSp>
      <p:sp>
        <p:nvSpPr>
          <p:cNvPr id="31" name="">
            <a:extLst xmlns:a="http://schemas.openxmlformats.org/drawingml/2006/main">
              <a:ext uri="{FF2B5EF4-FFF2-40B4-BE49-F238E27FC236}">
                <a16:creationId xmlns:a16="http://schemas.microsoft.com/office/drawing/2014/main" id="{5D3B7D91-D668-4E64-94BE-77A361BD7A2B}"/>
              </a:ext>
            </a:extLst>
          </p:cNvPr>
          <p:cNvSpPr>
            <a:spLocks xmlns:a="http://schemas.openxmlformats.org/drawingml/2006/main" noGrp="1"/>
          </p:cNvSpPr>
          <p:nvPr/>
        </p:nvSpPr>
        <p:spPr>
          <a:xfrm xmlns:a="http://schemas.openxmlformats.org/drawingml/2006/main">
            <a:off x="5848350" y="48768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1500" b="1" i="0">
                <a:solidFill>
                  <a:srgbClr val="12364A"/>
                </a:solidFill>
                <a:latin typeface="Helvetica Neue"/>
                <a:ea typeface="Helvetica Neue"/>
                <a:cs typeface="Helvetica Neue"/>
              </a:defRPr>
            </a:pPr>
            <a:r>
              <a:rPr sz="1500" b="1" i="0">
                <a:solidFill>
                  <a:srgbClr val="12364A"/>
                </a:solidFill>
                <a:latin typeface="Helvetica Neue"/>
                <a:ea typeface="Helvetica Neue"/>
                <a:cs typeface="Helvetica Neue"/>
              </a:rPr>
              <a:t>Transcript</a:t>
            </a:r>
          </a:p>
        </p:txBody>
      </p:sp>
      <p:sp>
        <p:nvSpPr>
          <p:cNvPr id="32" name="">
            <a:extLst xmlns:a="http://schemas.openxmlformats.org/drawingml/2006/main">
              <a:ext uri="{FF2B5EF4-FFF2-40B4-BE49-F238E27FC236}">
                <a16:creationId xmlns:a16="http://schemas.microsoft.com/office/drawing/2014/main" id="{1235F0CC-8D68-4735-9F72-3C53E19CA153}"/>
              </a:ext>
            </a:extLst>
          </p:cNvPr>
          <p:cNvSpPr>
            <a:spLocks xmlns:a="http://schemas.openxmlformats.org/drawingml/2006/main" noGrp="1"/>
          </p:cNvSpPr>
          <p:nvPr/>
        </p:nvSpPr>
        <p:spPr>
          <a:xfrm xmlns:a="http://schemas.openxmlformats.org/drawingml/2006/main">
            <a:off x="7696200" y="4876800"/>
            <a:ext cx="3619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0299"/>
          </a:bodyPr>
          <a:lstStyle xmlns:a="http://schemas.openxmlformats.org/drawingml/2006/main"/>
          <a:p xmlns:a="http://schemas.openxmlformats.org/drawingml/2006/main">
            <a:pPr algn="l">
              <a:lnSpc>
                <a:spcPct val="102000"/>
              </a:lnSpc>
              <a:buNone/>
              <a:defRPr sz="1425" b="0" i="0">
                <a:solidFill>
                  <a:srgbClr val="52616B"/>
                </a:solidFill>
                <a:latin typeface="Helvetica Neue"/>
                <a:ea typeface="Helvetica Neue"/>
                <a:cs typeface="Helvetica Neue"/>
              </a:defRPr>
            </a:pPr>
            <a:r>
              <a:rPr sz="1425" b="0" i="0">
                <a:solidFill>
                  <a:srgbClr val="52616B"/>
                </a:solidFill>
                <a:latin typeface="Helvetica Neue"/>
                <a:ea typeface="Helvetica Neue"/>
                <a:cs typeface="Helvetica Neue"/>
              </a:rPr>
              <a:t>major decisions, waiting time, retries, subscription stalls</a:t>
            </a:r>
          </a:p>
        </p:txBody>
      </p:sp>
    </p:spTree>
    <p:extLst>
      <p:ext uri="{BB962C8B-B14F-4D97-AF65-F5344CB8AC3E}">
        <p14:creationId xmlns:p14="http://schemas.microsoft.com/office/powerpoint/2010/main" val="38960635"/>
      </p:ext>
    </p:extLst>
  </p:cSld>
</p:sld>
</file>

<file path=ppt/slides/slide23.xml><?xml version="1.0" encoding="utf-8"?>
<p:sld xmlns:p="http://schemas.openxmlformats.org/presentationml/2006/main">
  <p:cSld>
    <p:bg>
      <p:bgPr>
        <a:solidFill xmlns:a="http://schemas.openxmlformats.org/drawingml/2006/main">
          <a:srgbClr val="11111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7A4B968-12DC-4A5D-BB37-96AC2B4BF4A8}"/>
              </a:ext>
            </a:extLst>
          </p:cNvPr>
          <p:cNvSpPr>
            <a:spLocks xmlns:a="http://schemas.openxmlformats.org/drawingml/2006/main" noGrp="1"/>
          </p:cNvSpPr>
          <p:nvPr/>
        </p:nvSpPr>
        <p:spPr>
          <a:xfrm xmlns:a="http://schemas.openxmlformats.org/drawingml/2006/main">
            <a:off x="685800" y="685800"/>
            <a:ext cx="857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915"/>
          </a:bodyPr>
          <a:lstStyle xmlns:a="http://schemas.openxmlformats.org/drawingml/2006/main"/>
          <a:p xmlns:a="http://schemas.openxmlformats.org/drawingml/2006/main">
            <a:pPr algn="l">
              <a:lnSpc>
                <a:spcPct val="102000"/>
              </a:lnSpc>
              <a:buNone/>
              <a:defRPr sz="3750" b="1" i="0">
                <a:solidFill>
                  <a:srgbClr val="FFFFFF"/>
                </a:solidFill>
                <a:latin typeface="Helvetica Neue"/>
                <a:ea typeface="Helvetica Neue"/>
                <a:cs typeface="Helvetica Neue"/>
              </a:defRPr>
            </a:pPr>
            <a:r>
              <a:rPr sz="3750" b="1" i="0">
                <a:solidFill>
                  <a:srgbClr val="FFFFFF"/>
                </a:solidFill>
                <a:latin typeface="Helvetica Neue"/>
                <a:ea typeface="Helvetica Neue"/>
                <a:cs typeface="Helvetica Neue"/>
              </a:rPr>
              <a:t>The benchmark asks two different questions.</a:t>
            </a:r>
          </a:p>
        </p:txBody>
      </p:sp>
      <p:sp>
        <p:nvSpPr>
          <p:cNvPr id="2" name="">
            <a:extLst xmlns:a="http://schemas.openxmlformats.org/drawingml/2006/main">
              <a:ext uri="{FF2B5EF4-FFF2-40B4-BE49-F238E27FC236}">
                <a16:creationId xmlns:a16="http://schemas.microsoft.com/office/drawing/2014/main" id="{71A610FD-A574-4C3D-9BFE-24A1DA69A9D4}"/>
              </a:ext>
            </a:extLst>
          </p:cNvPr>
          <p:cNvSpPr>
            <a:spLocks xmlns:a="http://schemas.openxmlformats.org/drawingml/2006/main" noGrp="1"/>
          </p:cNvSpPr>
          <p:nvPr/>
        </p:nvSpPr>
        <p:spPr>
          <a:xfrm xmlns:a="http://schemas.openxmlformats.org/drawingml/2006/main">
            <a:off x="685800" y="1924050"/>
            <a:ext cx="5048250" cy="2857500"/>
          </a:xfrm>
          <a:prstGeom xmlns:a="http://schemas.openxmlformats.org/drawingml/2006/main" prst="roundRect">
            <a:avLst>
              <a:gd name="adj" fmla="val 2667"/>
            </a:avLst>
          </a:prstGeom>
          <a:solidFill xmlns:a="http://schemas.openxmlformats.org/drawingml/2006/main">
            <a:srgbClr val="1D2C35"/>
          </a:solidFill>
          <a:ln xmlns:a="http://schemas.openxmlformats.org/drawingml/2006/main" w="9525">
            <a:solidFill>
              <a:srgbClr val="466579"/>
            </a:solidFill>
            <a:prstDash val="solid"/>
          </a:ln>
        </p:spPr>
      </p:sp>
      <p:sp>
        <p:nvSpPr>
          <p:cNvPr id="3" name="">
            <a:extLst xmlns:a="http://schemas.openxmlformats.org/drawingml/2006/main">
              <a:ext uri="{FF2B5EF4-FFF2-40B4-BE49-F238E27FC236}">
                <a16:creationId xmlns:a16="http://schemas.microsoft.com/office/drawing/2014/main" id="{64177806-B505-4898-A389-C3C7CF1E6BE4}"/>
              </a:ext>
            </a:extLst>
          </p:cNvPr>
          <p:cNvSpPr>
            <a:spLocks xmlns:a="http://schemas.openxmlformats.org/drawingml/2006/main" noGrp="1"/>
          </p:cNvSpPr>
          <p:nvPr/>
        </p:nvSpPr>
        <p:spPr>
          <a:xfrm xmlns:a="http://schemas.openxmlformats.org/drawingml/2006/main">
            <a:off x="1028700" y="22479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600" b="1" i="0">
                <a:solidFill>
                  <a:srgbClr val="6DCBF4"/>
                </a:solidFill>
                <a:latin typeface="Helvetica Neue"/>
                <a:ea typeface="Helvetica Neue"/>
                <a:cs typeface="Helvetica Neue"/>
              </a:defRPr>
            </a:pPr>
            <a:r>
              <a:rPr sz="3600" b="1" i="0">
                <a:solidFill>
                  <a:srgbClr val="6DCBF4"/>
                </a:solidFill>
                <a:latin typeface="Helvetica Neue"/>
                <a:ea typeface="Helvetica Neue"/>
                <a:cs typeface="Helvetica Neue"/>
              </a:rPr>
              <a:t>1</a:t>
            </a:r>
          </a:p>
        </p:txBody>
      </p:sp>
      <p:sp>
        <p:nvSpPr>
          <p:cNvPr id="4" name="">
            <a:extLst xmlns:a="http://schemas.openxmlformats.org/drawingml/2006/main">
              <a:ext uri="{FF2B5EF4-FFF2-40B4-BE49-F238E27FC236}">
                <a16:creationId xmlns:a16="http://schemas.microsoft.com/office/drawing/2014/main" id="{A9BD3488-DD31-4846-BDA3-AD918AB2E62A}"/>
              </a:ext>
            </a:extLst>
          </p:cNvPr>
          <p:cNvSpPr>
            <a:spLocks xmlns:a="http://schemas.openxmlformats.org/drawingml/2006/main" noGrp="1"/>
          </p:cNvSpPr>
          <p:nvPr/>
        </p:nvSpPr>
        <p:spPr>
          <a:xfrm xmlns:a="http://schemas.openxmlformats.org/drawingml/2006/main">
            <a:off x="1028700" y="3105150"/>
            <a:ext cx="4095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FFFFFF"/>
                </a:solidFill>
                <a:latin typeface="Helvetica Neue"/>
                <a:ea typeface="Helvetica Neue"/>
                <a:cs typeface="Helvetica Neue"/>
              </a:defRPr>
            </a:pPr>
            <a:r>
              <a:rPr sz="2925" b="1" i="0">
                <a:solidFill>
                  <a:srgbClr val="FFFFFF"/>
                </a:solidFill>
                <a:latin typeface="Helvetica Neue"/>
                <a:ea typeface="Helvetica Neue"/>
                <a:cs typeface="Helvetica Neue"/>
              </a:rPr>
              <a:t>Did it reproduce</a:t>
            </a:r>
          </a:p>
          <a:p xmlns:a="http://schemas.openxmlformats.org/drawingml/2006/main">
            <a:pPr algn="l">
              <a:lnSpc>
                <a:spcPct val="100000"/>
              </a:lnSpc>
              <a:buNone/>
              <a:defRPr sz="2925" b="1" i="0">
                <a:solidFill>
                  <a:srgbClr val="FFFFFF"/>
                </a:solidFill>
                <a:latin typeface="Helvetica Neue"/>
                <a:ea typeface="Helvetica Neue"/>
                <a:cs typeface="Helvetica Neue"/>
              </a:defRPr>
            </a:pPr>
            <a:r>
              <a:rPr sz="2925" b="1" i="0">
                <a:solidFill>
                  <a:srgbClr val="FFFFFF"/>
                </a:solidFill>
                <a:latin typeface="Helvetica Neue"/>
                <a:ea typeface="Helvetica Neue"/>
                <a:cs typeface="Helvetica Neue"/>
              </a:rPr>
              <a:t>the patterns?</a:t>
            </a:r>
          </a:p>
        </p:txBody>
      </p:sp>
      <p:sp>
        <p:nvSpPr>
          <p:cNvPr id="5" name="">
            <a:extLst xmlns:a="http://schemas.openxmlformats.org/drawingml/2006/main">
              <a:ext uri="{FF2B5EF4-FFF2-40B4-BE49-F238E27FC236}">
                <a16:creationId xmlns:a16="http://schemas.microsoft.com/office/drawing/2014/main" id="{E3CA2382-3AF0-4D37-A73D-E04CD60897A3}"/>
              </a:ext>
            </a:extLst>
          </p:cNvPr>
          <p:cNvSpPr>
            <a:spLocks xmlns:a="http://schemas.openxmlformats.org/drawingml/2006/main" noGrp="1"/>
          </p:cNvSpPr>
          <p:nvPr/>
        </p:nvSpPr>
        <p:spPr>
          <a:xfrm xmlns:a="http://schemas.openxmlformats.org/drawingml/2006/main">
            <a:off x="6457950" y="1924050"/>
            <a:ext cx="5048250" cy="2857500"/>
          </a:xfrm>
          <a:prstGeom xmlns:a="http://schemas.openxmlformats.org/drawingml/2006/main" prst="roundRect">
            <a:avLst>
              <a:gd name="adj" fmla="val 2667"/>
            </a:avLst>
          </a:prstGeom>
          <a:solidFill xmlns:a="http://schemas.openxmlformats.org/drawingml/2006/main">
            <a:srgbClr val="FCE8DE"/>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9E8AB9F6-FE6E-4BB8-B158-BF218AACD630}"/>
              </a:ext>
            </a:extLst>
          </p:cNvPr>
          <p:cNvSpPr>
            <a:spLocks xmlns:a="http://schemas.openxmlformats.org/drawingml/2006/main" noGrp="1"/>
          </p:cNvSpPr>
          <p:nvPr/>
        </p:nvSpPr>
        <p:spPr>
          <a:xfrm xmlns:a="http://schemas.openxmlformats.org/drawingml/2006/main">
            <a:off x="6800850" y="2247900"/>
            <a:ext cx="571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2000"/>
              </a:lnSpc>
              <a:buNone/>
              <a:defRPr sz="3600" b="1" i="0">
                <a:solidFill>
                  <a:srgbClr val="F57748"/>
                </a:solidFill>
                <a:latin typeface="Helvetica Neue"/>
                <a:ea typeface="Helvetica Neue"/>
                <a:cs typeface="Helvetica Neue"/>
              </a:defRPr>
            </a:pPr>
            <a:r>
              <a:rPr sz="3600" b="1" i="0">
                <a:solidFill>
                  <a:srgbClr val="F57748"/>
                </a:solidFill>
                <a:latin typeface="Helvetica Neue"/>
                <a:ea typeface="Helvetica Neue"/>
                <a:cs typeface="Helvetica Neue"/>
              </a:rPr>
              <a:t>2</a:t>
            </a:r>
          </a:p>
        </p:txBody>
      </p:sp>
      <p:sp>
        <p:nvSpPr>
          <p:cNvPr id="7" name="">
            <a:extLst xmlns:a="http://schemas.openxmlformats.org/drawingml/2006/main">
              <a:ext uri="{FF2B5EF4-FFF2-40B4-BE49-F238E27FC236}">
                <a16:creationId xmlns:a16="http://schemas.microsoft.com/office/drawing/2014/main" id="{7BB458C0-B84E-4C00-8250-F23FA829369E}"/>
              </a:ext>
            </a:extLst>
          </p:cNvPr>
          <p:cNvSpPr>
            <a:spLocks xmlns:a="http://schemas.openxmlformats.org/drawingml/2006/main" noGrp="1"/>
          </p:cNvSpPr>
          <p:nvPr/>
        </p:nvSpPr>
        <p:spPr>
          <a:xfrm xmlns:a="http://schemas.openxmlformats.org/drawingml/2006/main">
            <a:off x="6800850" y="3105150"/>
            <a:ext cx="4095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00000"/>
              </a:lnSpc>
              <a:buNone/>
              <a:defRPr sz="2925" b="1" i="0">
                <a:solidFill>
                  <a:srgbClr val="111111"/>
                </a:solidFill>
                <a:latin typeface="Helvetica Neue"/>
                <a:ea typeface="Helvetica Neue"/>
                <a:cs typeface="Helvetica Neue"/>
              </a:defRPr>
            </a:pPr>
            <a:r>
              <a:rPr sz="2925" b="1" i="0">
                <a:solidFill>
                  <a:srgbClr val="111111"/>
                </a:solidFill>
                <a:latin typeface="Helvetica Neue"/>
                <a:ea typeface="Helvetica Neue"/>
                <a:cs typeface="Helvetica Neue"/>
              </a:rPr>
              <a:t>Did it build</a:t>
            </a:r>
          </a:p>
          <a:p xmlns:a="http://schemas.openxmlformats.org/drawingml/2006/main">
            <a:pPr algn="l">
              <a:lnSpc>
                <a:spcPct val="100000"/>
              </a:lnSpc>
              <a:buNone/>
              <a:defRPr sz="2925" b="1" i="0">
                <a:solidFill>
                  <a:srgbClr val="111111"/>
                </a:solidFill>
                <a:latin typeface="Helvetica Neue"/>
                <a:ea typeface="Helvetica Neue"/>
                <a:cs typeface="Helvetica Neue"/>
              </a:defRPr>
            </a:pPr>
            <a:r>
              <a:rPr sz="2925" b="1" i="0">
                <a:solidFill>
                  <a:srgbClr val="111111"/>
                </a:solidFill>
                <a:latin typeface="Helvetica Neue"/>
                <a:ea typeface="Helvetica Neue"/>
                <a:cs typeface="Helvetica Neue"/>
              </a:rPr>
              <a:t>the right physics?</a:t>
            </a:r>
          </a:p>
        </p:txBody>
      </p:sp>
      <p:sp>
        <p:nvSpPr>
          <p:cNvPr id="8" name="">
            <a:extLst xmlns:a="http://schemas.openxmlformats.org/drawingml/2006/main">
              <a:ext uri="{FF2B5EF4-FFF2-40B4-BE49-F238E27FC236}">
                <a16:creationId xmlns:a16="http://schemas.microsoft.com/office/drawing/2014/main" id="{20848889-0966-463D-95F1-A4B249474DEB}"/>
              </a:ext>
            </a:extLst>
          </p:cNvPr>
          <p:cNvSpPr>
            <a:spLocks xmlns:a="http://schemas.openxmlformats.org/drawingml/2006/main" noGrp="1"/>
          </p:cNvSpPr>
          <p:nvPr/>
        </p:nvSpPr>
        <p:spPr>
          <a:xfrm xmlns:a="http://schemas.openxmlformats.org/drawingml/2006/main">
            <a:off x="1809750" y="5505450"/>
            <a:ext cx="857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02000"/>
              </a:lnSpc>
              <a:buNone/>
              <a:defRPr sz="2325" b="1" i="0">
                <a:solidFill>
                  <a:srgbClr val="6DCBF4"/>
                </a:solidFill>
                <a:latin typeface="Helvetica Neue"/>
                <a:ea typeface="Helvetica Neue"/>
                <a:cs typeface="Helvetica Neue"/>
              </a:defRPr>
            </a:pPr>
            <a:r>
              <a:rPr sz="2325" b="1" i="0">
                <a:solidFill>
                  <a:srgbClr val="6DCBF4"/>
                </a:solidFill>
                <a:latin typeface="Helvetica Neue"/>
                <a:ea typeface="Helvetica Neue"/>
                <a:cs typeface="Helvetica Neue"/>
              </a:rPr>
              <a:t>The interesting results are where those answers disagree.</a:t>
            </a:r>
          </a:p>
        </p:txBody>
      </p:sp>
      <p:sp>
        <p:nvSpPr>
          <p:cNvPr id="9" name="">
            <a:extLst xmlns:a="http://schemas.openxmlformats.org/drawingml/2006/main">
              <a:ext uri="{FF2B5EF4-FFF2-40B4-BE49-F238E27FC236}">
                <a16:creationId xmlns:a16="http://schemas.microsoft.com/office/drawing/2014/main" id="{D5ADA304-2D68-4359-84F9-708FBA914A42}"/>
              </a:ext>
            </a:extLst>
          </p:cNvPr>
          <p:cNvSpPr>
            <a:spLocks xmlns:a="http://schemas.openxmlformats.org/drawingml/2006/main" noGrp="1"/>
          </p:cNvSpPr>
          <p:nvPr/>
        </p:nvSpPr>
        <p:spPr>
          <a:xfrm xmlns:a="http://schemas.openxmlformats.org/drawingml/2006/main">
            <a:off x="11258550" y="61912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lnSpc>
                <a:spcPct val="102000"/>
              </a:lnSpc>
              <a:buNone/>
              <a:defRPr sz="1125" b="0" i="0">
                <a:solidFill>
                  <a:srgbClr val="B9C8D1"/>
                </a:solidFill>
                <a:latin typeface="Helvetica Neue"/>
                <a:ea typeface="Helvetica Neue"/>
                <a:cs typeface="Helvetica Neue"/>
              </a:defRPr>
            </a:pPr>
            <a:r>
              <a:rPr sz="1125" b="0" i="0">
                <a:solidFill>
                  <a:srgbClr val="B9C8D1"/>
                </a:solidFill>
                <a:latin typeface="Helvetica Neue"/>
                <a:ea typeface="Helvetica Neue"/>
                <a:cs typeface="Helvetica Neue"/>
              </a:rPr>
              <a:t>23</a:t>
            </a:r>
          </a:p>
        </p:txBody>
      </p:sp>
    </p:spTree>
    <p:extLst>
      <p:ext uri="{BB962C8B-B14F-4D97-AF65-F5344CB8AC3E}">
        <p14:creationId xmlns:p14="http://schemas.microsoft.com/office/powerpoint/2010/main" val="29790035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2026-07-30T21:55:51.7130000Z</dcterms:created>
  <dcterms:modified xsi:type="dcterms:W3CDTF">2026-07-30T21:55:51.7130000Z</dcterms:modified>
</coreProperties>
</file>